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→ 0:30]  ROMAIN</a:t>
            </a:r>
          </a:p>
          <a:p>
            <a:r>
              <a:t>« Le 21 février 2025, trois personnes ont signé le plus gros vol de l'histoire : un milliard quatre cent soixante millions de dollars. »</a:t>
            </a:r>
          </a:p>
          <a:p>
            <a:r>
              <a:t>(silence, 2 secondes)</a:t>
            </a:r>
          </a:p>
          <a:p>
            <a:r>
              <a:t>« Elles pensaient signer un virement de routine. L'écran leur montrait un virement de routine. »</a:t>
            </a:r>
          </a:p>
          <a:p/>
          <a:p>
            <a:r>
              <a:t>TIMÉO</a:t>
            </a:r>
          </a:p>
          <a:p>
            <a:r>
              <a:t>« Nous sommes Timéo et Romain. Breaker existe pour que ces trois personnes aient eu quelqu'un pour leur dire : attendez. »</a:t>
            </a:r>
          </a:p>
          <a:p/>
          <a:p>
            <a:r>
              <a:t>Source : Bybit, 21/02/2025 (shared/business-probleme.md, fait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→ 1:20]  ROMAIN</a:t>
            </a:r>
          </a:p>
          <a:p>
            <a:r>
              <a:t>« Bybit, c'est trois signataires sur six, trompés par leur propre écran. Drift, en avril 2026 : 280 millions, après des mois où des attaquants ont construit de fausses identités pour approcher les signataires. En 2025, 3,4 milliards volés. Le point commun : ce ne sont plus les contrats qu'on casse, ce sont les gens qu'on trompe au moment de signer. »</a:t>
            </a:r>
          </a:p>
          <a:p>
            <a:r>
              <a:t>(geste : mimer une signature)</a:t>
            </a:r>
          </a:p>
          <a:p/>
          <a:p>
            <a:r>
              <a:t>TIMÉO</a:t>
            </a:r>
          </a:p>
          <a:p>
            <a:r>
              <a:t>« Et le coffre, lui, fait exactement ce qu'on lui demande. Il vérifie les signatures, pas les intentions. Il n'a aucune idée de ce qui est normal pour vous. »</a:t>
            </a:r>
          </a:p>
          <a:p/>
          <a:p>
            <a:r>
              <a:t>ROMAIN</a:t>
            </a:r>
          </a:p>
          <a:p>
            <a:r>
              <a:t>« Conséquence : les grandes plateformes se paient des équipes de sécurité et des outils à 36 000 dollars par an. Les autres, l'immense majorité, n'ont rien, à aucun prix.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[1:20 → 2:00]  ROMAIN</a:t>
            </a:r>
          </a:p>
          <a:p>
            <a:r>
              <a:t>« Les autres, ce sont les équipes de protocoles, les DAO, les startups et les fonds crypto : une trésorerie de un à dix millions dans un coffre multi-signatures, le plus souvent un Safe, et zéro personne dont c'est le métier. Il y en a au moins 675 à 895 sur les chaînes compatibles Ethereum. Sur Avalanche, où nous sommes nés, entre 32 et 121. Ces chiffres viennent de l'API DeFiLlama lue hier et de DeepDAO ; les calculs sont dans le dépôt. »</a:t>
            </a:r>
          </a:p>
          <a:p>
            <a:r>
              <a:t>(passer la main : « Timéo, qu'est-ce qu'on leur apporte ? »)</a:t>
            </a:r>
          </a:p>
          <a:p/>
          <a:p>
            <a:r>
              <a:t>Si question sur la méthode : comptage par seuil de TVL, hypothèse H1 (protocole &gt; 10 M$ ⇒ trésorerie ≥ 1 M$), script reproductible dans shared/business-marche.md §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[2:00 → 3:00]  TIMÉO</a:t>
            </a:r>
          </a:p>
          <a:p>
            <a:r>
              <a:t>« Breaker n'est pas un coffre. C'est une garde qui se greffe sur le coffre que vous avez déjà, et qui fait trois choses.</a:t>
            </a:r>
          </a:p>
          <a:p>
            <a:r>
              <a:t>Un : elle regarde chaque paiement avec ce qu'elle a appris de votre historique. Ce bénéficiaire est-il nouveau ? Ce montant est-il normal ? Pourquoi trois paiements en dix minutes ? Pourquoi “urgent” ? Elle vérifie aussi l'adresse sur le Web et sur les listes de sanctions.</a:t>
            </a:r>
          </a:p>
          <a:p>
            <a:r>
              <a:t>Deux : elle explique, en français, à des gens qui ne sont pas experts : “premier paiement à cette adresse, montant quatre fois supérieur à vos habitudes”.</a:t>
            </a:r>
          </a:p>
          <a:p>
            <a:r>
              <a:t>Trois : elle freine. Une signature de plus, ou une attente. Jamais un blocage définitif : l'unanimité de vos signataires lève tout.</a:t>
            </a:r>
          </a:p>
          <a:p>
            <a:r>
              <a:t>Et parce que l'attaque vise la personne, chaque signataire a une clé d'identité, gardée à part, pour révoquer seul sa clé volée ; et une clé de contrainte, qui dit oui à l'écran mais gèle en silence si on le force. »</a:t>
            </a:r>
          </a:p>
          <a:p/>
          <a:p>
            <a:r>
              <a:t>Si question « vous êtes un module de Safe ? » : « Le multisig de la démo tient lieu du Safe du client ; le portage en Guard + Module de Safe est en feuille de route, 6 à 8 semaines.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[3:00 → 3:50]  TIMÉO</a:t>
            </a:r>
          </a:p>
          <a:p>
            <a:r>
              <a:t>« Tout ça tourne sur Avalanche Fuji, et vous allez le voir. »</a:t>
            </a:r>
          </a:p>
          <a:p>
            <a:r>
              <a:t>→ LANCER LA VIDÉO (2 à 3 min) ou la démo live. Pendant la vidéo, Timéo commente ; Romain surveille le chrono.</a:t>
            </a:r>
          </a:p>
          <a:p>
            <a:r>
              <a:t>« Les chiffres, mesurés une seule fois sur un jeu de fraudes que Romain a préparé à l'aveugle : 95 % des fraudes freinées ou arrêtées, 91 % des montants frauduleux mis en attente, 5,1 % de paiements légitimes retardés, tous de gros premiers paiements. Sur Fuji : 280 500 tentés, zéro sorti, signalement en 5 secondes, 0,002 dollar de gas par alerte. L'oracle Web : 100 % sur 35 adresses, 7 injections déjouées. Le contrat : zéro détection grave à l'analyse statique, 50 tests, 7 000 appels aléatoires sans qu'une seule promesse soit violée. »</a:t>
            </a:r>
          </a:p>
          <a:p/>
          <a:p>
            <a:r>
              <a:t>ROMAIN (une phrase, pour l'honnêteté)</a:t>
            </a:r>
          </a:p>
          <a:p>
            <a:r>
              <a:t>« Données synthétiques, contrat pas encore audité par un tiers : on le dit avant qu'on nous le demande. »</a:t>
            </a:r>
          </a:p>
          <a:p/>
          <a:p>
            <a:r>
              <a:t>Si le chrono dépasse 3:50 ici : couper la phrase sur l'oracle.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[3:50 → 4:20]  ROMAIN</a:t>
            </a:r>
          </a:p>
          <a:p>
            <a:r>
              <a:t>« Safe vient de lancer Safe Pro : 669 euros par mois pour des règles que vous écrivez vous-même. Nous, nous détectons ce que vous n'avez pas prévu, et nous l'expliquons.</a:t>
            </a:r>
          </a:p>
          <a:p>
            <a:r>
              <a:t>Observation gratuite 30 jours : rien ne change à vos paiements. Puis 149, 449 ou 990 euros par mois selon la trésorerie, sans engagement.</a:t>
            </a:r>
          </a:p>
          <a:p>
            <a:r>
              <a:t>449 euros, c'est 5 % de la perte annuelle que vous évitez, calculée avec les taux d'incidents de TRM et notre efficacité mesurée. »</a:t>
            </a:r>
          </a:p>
          <a:p/>
          <a:p>
            <a:r>
              <a:t>Différence en une phrase si on nous la demande : « Vous avez déjà le coffre. Il vous manque quelqu'un qui regarde chaque paiement et vous dit, en français, quand quelque chose ne colle pas.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[4:20 → 4:45]  ROMAIN</a:t>
            </a:r>
          </a:p>
          <a:p>
            <a:r>
              <a:t>« Première année : 62 organisations présentées par l'écosystème Avalanche, la moitié en observation, 3 à 6 clients payants selon les taux de conversion du SaaS B2B. L'audit externe avant le premier euro. Puis le même code sur les autres chaînes compatibles : point mort à 17 clients, entre fin 2027 et mi-2028, plus tôt avec un seul client Premium. »</a:t>
            </a:r>
          </a:p>
          <a:p/>
          <a:p>
            <a:r>
              <a:t>Si on a droit à 4 min seulement : sauter cette slide, les chiffres sont en annexe.</a:t>
            </a:r>
          </a:p>
          <a:p>
            <a:r>
              <a:t>Si « pourquoi si peu ? » : « Parce qu'on ne prend que ce que l'entonnoir sourcé donne. L'année 1 sert aux références et aux données réelles.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[4:45 → 5:00]  TIMÉO</a:t>
            </a:r>
          </a:p>
          <a:p>
            <a:r>
              <a:t>« Ce qu'on ne cache pas : données synthétiques, contrat pas encore audité, le multisig de la démo tient lieu du Safe du client. Ce qu'il nous reste : le greffon Safe, l'audit, et surtout de vraies données. »</a:t>
            </a:r>
          </a:p>
          <a:p/>
          <a:p>
            <a:r>
              <a:t>ROMAIN</a:t>
            </a:r>
          </a:p>
          <a:p>
            <a:r>
              <a:t>« Dès ce mois-ci, dix organisations en observation gratuite. Breaker : vos fonds, vos signataires, votre dernier mot. Merci. »</a:t>
            </a:r>
          </a:p>
          <a:p>
            <a:r>
              <a:t>(regarder le jury, s'arrêter ; les annexes A1 à A4 servent aux questions)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ROMAIN répond aux questions de conformité ; TIMÉO complète sur la preuve technique (événements on-chain, hash de preuve).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TIMÉO présente le playbook ; les seuils sont ceux de ia-1/score/regles.py (SEUIL_STEP_UP 0,30 ; SEUIL_HOLD 0,75).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TIMÉO. Ne jamais dire « audité » sans « par nous-mêmes », ni « aucune vulnérabilité » (dire : aucune détectée par ces méthodes). Pas de montant d'audit comme si on avait un devis.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ROMAIN. Si un chiffre est contesté : donner la source, et dire ce qui est hypothèse (H1 à H11, nommées dans les documents).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265615" y="-822960"/>
            <a:ext cx="3291840" cy="3679115"/>
          </a:xfrm>
          <a:custGeom>
            <a:avLst/>
            <a:gdLst/>
            <a:ahLst/>
            <a:cxnLst/>
            <a:rect l="l" t="t" r="r" b="b"/>
            <a:pathLst>
              <a:path w="3291840" h="3679115">
                <a:moveTo>
                  <a:pt x="0" y="0"/>
                </a:moveTo>
                <a:lnTo>
                  <a:pt x="2304288" y="0"/>
                </a:lnTo>
                <a:lnTo>
                  <a:pt x="3291840" y="956569"/>
                </a:lnTo>
                <a:lnTo>
                  <a:pt x="3291840" y="3679115"/>
                </a:lnTo>
                <a:lnTo>
                  <a:pt x="987552" y="3679115"/>
                </a:lnTo>
                <a:lnTo>
                  <a:pt x="0" y="2722545"/>
                </a:lnTo>
                <a:close/>
              </a:path>
            </a:pathLst>
          </a:custGeom>
          <a:solidFill>
            <a:srgbClr val="0B17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65615" y="-528631"/>
            <a:ext cx="3291840" cy="3090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800" b="1">
                <a:solidFill>
                  <a:srgbClr val="0B1728"/>
                </a:solidFill>
                <a:latin typeface="Manrope"/>
              </a:rPr>
              <a:t>B</a:t>
            </a:r>
          </a:p>
        </p:txBody>
      </p:sp>
      <p:sp>
        <p:nvSpPr>
          <p:cNvPr id="5" name="Freeform 4"/>
          <p:cNvSpPr/>
          <p:nvPr/>
        </p:nvSpPr>
        <p:spPr>
          <a:xfrm>
            <a:off x="731520" y="6291072"/>
            <a:ext cx="237744" cy="265713"/>
          </a:xfrm>
          <a:custGeom>
            <a:avLst/>
            <a:gdLst/>
            <a:ahLst/>
            <a:cxnLst/>
            <a:rect l="l" t="t" r="r" b="b"/>
            <a:pathLst>
              <a:path w="237744" h="265713">
                <a:moveTo>
                  <a:pt x="0" y="0"/>
                </a:moveTo>
                <a:lnTo>
                  <a:pt x="166420" y="0"/>
                </a:lnTo>
                <a:lnTo>
                  <a:pt x="237744" y="69085"/>
                </a:lnTo>
                <a:lnTo>
                  <a:pt x="237744" y="265713"/>
                </a:lnTo>
                <a:lnTo>
                  <a:pt x="71323" y="265713"/>
                </a:lnTo>
                <a:lnTo>
                  <a:pt x="0" y="196627"/>
                </a:lnTo>
                <a:close/>
              </a:path>
            </a:pathLst>
          </a:custGeom>
          <a:solidFill>
            <a:srgbClr val="C7F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12329"/>
            <a:ext cx="237744" cy="2231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142008"/>
                </a:solidFill>
                <a:latin typeface="Manrope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" y="624535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6F9FC"/>
                </a:solidFill>
                <a:latin typeface="Manrope"/>
              </a:rPr>
              <a:t>breaker</a:t>
            </a:r>
            <a:r>
              <a:rPr sz="1300" b="1">
                <a:solidFill>
                  <a:srgbClr val="C7FA70"/>
                </a:solidFill>
                <a:latin typeface="Manrope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6975" y="6254496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7F8B9B"/>
                </a:solidFill>
                <a:latin typeface="DM Sans"/>
              </a:rPr>
              <a:t>1 /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7FA70"/>
                </a:solidFill>
                <a:latin typeface="DM Sans"/>
              </a:rPr>
              <a:t>BREAKER  </a:t>
            </a:r>
            <a:r>
              <a:rPr sz="1100" b="0">
                <a:solidFill>
                  <a:srgbClr val="A9B4C2"/>
                </a:solidFill>
                <a:latin typeface="DM Sans"/>
              </a:rPr>
              <a:t>Secure Horizons · Track 1 Fintech Security · axe 2 SOC antifraude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88575" y="45720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101C2E"/>
          </a:solidFill>
          <a:ln w="9525">
            <a:solidFill>
              <a:srgbClr val="263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8575" y="457200"/>
            <a:ext cx="13716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C7FA70"/>
                </a:solidFill>
                <a:latin typeface="DM Sans"/>
              </a:rPr>
              <a:t>ROMAIN</a:t>
            </a:r>
          </a:p>
        </p:txBody>
      </p:sp>
      <p:sp>
        <p:nvSpPr>
          <p:cNvPr id="12" name="Freeform 11"/>
          <p:cNvSpPr/>
          <p:nvPr/>
        </p:nvSpPr>
        <p:spPr>
          <a:xfrm>
            <a:off x="731520" y="1371600"/>
            <a:ext cx="822960" cy="919778"/>
          </a:xfrm>
          <a:custGeom>
            <a:avLst/>
            <a:gdLst/>
            <a:ahLst/>
            <a:cxnLst/>
            <a:rect l="l" t="t" r="r" b="b"/>
            <a:pathLst>
              <a:path w="822960" h="919778">
                <a:moveTo>
                  <a:pt x="0" y="0"/>
                </a:moveTo>
                <a:lnTo>
                  <a:pt x="576072" y="0"/>
                </a:lnTo>
                <a:lnTo>
                  <a:pt x="822960" y="239142"/>
                </a:lnTo>
                <a:lnTo>
                  <a:pt x="822960" y="919778"/>
                </a:lnTo>
                <a:lnTo>
                  <a:pt x="246888" y="919778"/>
                </a:lnTo>
                <a:lnTo>
                  <a:pt x="0" y="680635"/>
                </a:lnTo>
                <a:close/>
              </a:path>
            </a:pathLst>
          </a:custGeom>
          <a:solidFill>
            <a:srgbClr val="C7F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445182"/>
            <a:ext cx="822960" cy="77261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142008"/>
                </a:solidFill>
                <a:latin typeface="Manrope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157276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6F9FC"/>
                </a:solidFill>
                <a:latin typeface="Manrope"/>
              </a:rPr>
              <a:t>breaker</a:t>
            </a:r>
            <a:r>
              <a:rPr sz="3000" b="1">
                <a:solidFill>
                  <a:srgbClr val="C7FA70"/>
                </a:solidFill>
                <a:latin typeface="Manrope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42316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>
                <a:solidFill>
                  <a:srgbClr val="F6F9FC"/>
                </a:solidFill>
                <a:latin typeface="Manrope"/>
              </a:rPr>
              <a:t>Le 21 février 2025, trois personnes ont signé le plus gros vol de l'histoire.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A9B4C2"/>
                </a:solidFill>
                <a:latin typeface="DM Sans"/>
              </a:rPr>
              <a:t>Elles pensaient signer un virement de routine. L'écran leur montrait un virement de routine. </a:t>
            </a:r>
            <a:r>
              <a:rPr sz="1800" b="1">
                <a:solidFill>
                  <a:srgbClr val="F6F9FC"/>
                </a:solidFill>
                <a:latin typeface="DM Sans"/>
              </a:rPr>
              <a:t>1,46 milliard de dollars.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C7FA70"/>
                </a:solidFill>
                <a:latin typeface="Manrope"/>
              </a:rPr>
              <a:t>Une signature ne suffit pas à faire confiance.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265615" y="-822960"/>
            <a:ext cx="3291840" cy="3679115"/>
          </a:xfrm>
          <a:custGeom>
            <a:avLst/>
            <a:gdLst/>
            <a:ahLst/>
            <a:cxnLst/>
            <a:rect l="l" t="t" r="r" b="b"/>
            <a:pathLst>
              <a:path w="3291840" h="3679115">
                <a:moveTo>
                  <a:pt x="0" y="0"/>
                </a:moveTo>
                <a:lnTo>
                  <a:pt x="2304288" y="0"/>
                </a:lnTo>
                <a:lnTo>
                  <a:pt x="3291840" y="956569"/>
                </a:lnTo>
                <a:lnTo>
                  <a:pt x="3291840" y="3679115"/>
                </a:lnTo>
                <a:lnTo>
                  <a:pt x="987552" y="3679115"/>
                </a:lnTo>
                <a:lnTo>
                  <a:pt x="0" y="2722545"/>
                </a:lnTo>
                <a:close/>
              </a:path>
            </a:pathLst>
          </a:custGeom>
          <a:solidFill>
            <a:srgbClr val="0B17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65615" y="-528631"/>
            <a:ext cx="3291840" cy="3090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800" b="1">
                <a:solidFill>
                  <a:srgbClr val="0B1728"/>
                </a:solidFill>
                <a:latin typeface="Manrope"/>
              </a:rPr>
              <a:t>B</a:t>
            </a:r>
          </a:p>
        </p:txBody>
      </p:sp>
      <p:sp>
        <p:nvSpPr>
          <p:cNvPr id="5" name="Freeform 4"/>
          <p:cNvSpPr/>
          <p:nvPr/>
        </p:nvSpPr>
        <p:spPr>
          <a:xfrm>
            <a:off x="731520" y="6291072"/>
            <a:ext cx="237744" cy="265713"/>
          </a:xfrm>
          <a:custGeom>
            <a:avLst/>
            <a:gdLst/>
            <a:ahLst/>
            <a:cxnLst/>
            <a:rect l="l" t="t" r="r" b="b"/>
            <a:pathLst>
              <a:path w="237744" h="265713">
                <a:moveTo>
                  <a:pt x="0" y="0"/>
                </a:moveTo>
                <a:lnTo>
                  <a:pt x="166420" y="0"/>
                </a:lnTo>
                <a:lnTo>
                  <a:pt x="237744" y="69085"/>
                </a:lnTo>
                <a:lnTo>
                  <a:pt x="237744" y="265713"/>
                </a:lnTo>
                <a:lnTo>
                  <a:pt x="71323" y="265713"/>
                </a:lnTo>
                <a:lnTo>
                  <a:pt x="0" y="196627"/>
                </a:lnTo>
                <a:close/>
              </a:path>
            </a:pathLst>
          </a:custGeom>
          <a:solidFill>
            <a:srgbClr val="C7F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12329"/>
            <a:ext cx="237744" cy="2231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142008"/>
                </a:solidFill>
                <a:latin typeface="Manrope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" y="624535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6F9FC"/>
                </a:solidFill>
                <a:latin typeface="Manrope"/>
              </a:rPr>
              <a:t>breaker</a:t>
            </a:r>
            <a:r>
              <a:rPr sz="1300" b="1">
                <a:solidFill>
                  <a:srgbClr val="C7FA70"/>
                </a:solidFill>
                <a:latin typeface="Manrope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6975" y="6254496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7F8B9B"/>
                </a:solidFill>
                <a:latin typeface="DM Sans"/>
              </a:rPr>
              <a:t>2 /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7FA70"/>
                </a:solidFill>
                <a:latin typeface="DM Sans"/>
              </a:rPr>
              <a:t>PROBLÈME  </a:t>
            </a:r>
            <a:r>
              <a:rPr sz="1100" b="0">
                <a:solidFill>
                  <a:srgbClr val="A9B4C2"/>
                </a:solidFill>
                <a:latin typeface="DM Sans"/>
              </a:rPr>
              <a:t>ce ne sont plus les contrats qu'on casse, ce sont les gens qu'on trompe au moment de signer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88575" y="45720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101C2E"/>
          </a:solidFill>
          <a:ln w="9525">
            <a:solidFill>
              <a:srgbClr val="263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8575" y="457200"/>
            <a:ext cx="13716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C7FA70"/>
                </a:solidFill>
                <a:latin typeface="DM Sans"/>
              </a:rPr>
              <a:t>ROMAIN · TIMÉO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960120"/>
            <a:ext cx="935705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6F9FC"/>
                </a:solidFill>
                <a:latin typeface="Manrope"/>
              </a:rPr>
              <a:t>Les clés étaient valides. Les signataires, trompés.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514600"/>
            <a:ext cx="3442106" cy="1600200"/>
          </a:xfrm>
          <a:prstGeom prst="roundRect">
            <a:avLst>
              <a:gd name="adj" fmla="val 8000"/>
            </a:avLst>
          </a:prstGeom>
          <a:solidFill>
            <a:srgbClr val="101C2E"/>
          </a:solidFill>
          <a:ln w="9525">
            <a:solidFill>
              <a:srgbClr val="263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2514600"/>
            <a:ext cx="54864" cy="1600200"/>
          </a:xfrm>
          <a:prstGeom prst="rect">
            <a:avLst/>
          </a:prstGeom>
          <a:solidFill>
            <a:srgbClr val="FFC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715768"/>
            <a:ext cx="298490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C481"/>
                </a:solidFill>
                <a:latin typeface="Manrope"/>
              </a:rPr>
              <a:t>1,46 Md$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374136"/>
            <a:ext cx="298490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B4C2"/>
                </a:solidFill>
                <a:latin typeface="DM Sans"/>
              </a:rPr>
              <a:t>Bybit, février 2025 : 3 signataires sur 6 valident une transaction que leur interface leur montre falsifiée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4794" y="2514600"/>
            <a:ext cx="3442106" cy="1600200"/>
          </a:xfrm>
          <a:prstGeom prst="roundRect">
            <a:avLst>
              <a:gd name="adj" fmla="val 8000"/>
            </a:avLst>
          </a:prstGeom>
          <a:solidFill>
            <a:srgbClr val="101C2E"/>
          </a:solidFill>
          <a:ln w="9525">
            <a:solidFill>
              <a:srgbClr val="263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4794" y="2514600"/>
            <a:ext cx="54864" cy="1600200"/>
          </a:xfrm>
          <a:prstGeom prst="rect">
            <a:avLst/>
          </a:prstGeom>
          <a:solidFill>
            <a:srgbClr val="FFC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49114" y="2715768"/>
            <a:ext cx="298490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C481"/>
                </a:solidFill>
                <a:latin typeface="Manrope"/>
              </a:rPr>
              <a:t>≈ 280 M$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9114" y="3374136"/>
            <a:ext cx="298490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B4C2"/>
                </a:solidFill>
                <a:latin typeface="DM Sans"/>
              </a:rPr>
              <a:t>Drift, avril 2026 : des mois de fausses identités pour approcher les signataires, puis le multisig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8068" y="2514600"/>
            <a:ext cx="3442106" cy="1600200"/>
          </a:xfrm>
          <a:prstGeom prst="roundRect">
            <a:avLst>
              <a:gd name="adj" fmla="val 8000"/>
            </a:avLst>
          </a:prstGeom>
          <a:solidFill>
            <a:srgbClr val="101C2E"/>
          </a:solidFill>
          <a:ln w="9525">
            <a:solidFill>
              <a:srgbClr val="263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18068" y="2514600"/>
            <a:ext cx="54864" cy="1600200"/>
          </a:xfrm>
          <a:prstGeom prst="rect">
            <a:avLst/>
          </a:prstGeom>
          <a:solidFill>
            <a:srgbClr val="FFC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2388" y="2715768"/>
            <a:ext cx="298490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C481"/>
                </a:solidFill>
                <a:latin typeface="Manrope"/>
              </a:rPr>
              <a:t>3,4 Md$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2388" y="3374136"/>
            <a:ext cx="298490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B4C2"/>
                </a:solidFill>
                <a:latin typeface="DM Sans"/>
              </a:rPr>
              <a:t>volés en 2025 (Chainalysis). Médiane d'un incident significatif : 1,3 M$ (TRM)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434840"/>
            <a:ext cx="1072865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6F9FC"/>
                </a:solidFill>
                <a:latin typeface="DM Sans"/>
              </a:rPr>
              <a:t>Le coffre fait exactement ce qu'on lui demande. </a:t>
            </a:r>
            <a:r>
              <a:rPr sz="1700" b="0">
                <a:solidFill>
                  <a:srgbClr val="A9B4C2"/>
                </a:solidFill>
                <a:latin typeface="DM Sans"/>
              </a:rPr>
              <a:t>Il n'a aucune idée de ce qui est normal pour vous. Les grandes plateformes se paient des équipes et des outils dépositaires à partir de 36 000 $ par an. Les autres n'ont rien, à aucun prix.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897880"/>
            <a:ext cx="10728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F8B9B"/>
                </a:solidFill>
                <a:latin typeface="DM Sans"/>
              </a:rPr>
              <a:t>shared/business-probleme.md · TRM Labs 2025 · fireblocks.com/pricing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265615" y="-822960"/>
            <a:ext cx="3291840" cy="3679115"/>
          </a:xfrm>
          <a:custGeom>
            <a:avLst/>
            <a:gdLst/>
            <a:ahLst/>
            <a:cxnLst/>
            <a:rect l="l" t="t" r="r" b="b"/>
            <a:pathLst>
              <a:path w="3291840" h="3679115">
                <a:moveTo>
                  <a:pt x="0" y="0"/>
                </a:moveTo>
                <a:lnTo>
                  <a:pt x="2304288" y="0"/>
                </a:lnTo>
                <a:lnTo>
                  <a:pt x="3291840" y="956569"/>
                </a:lnTo>
                <a:lnTo>
                  <a:pt x="3291840" y="3679115"/>
                </a:lnTo>
                <a:lnTo>
                  <a:pt x="987552" y="3679115"/>
                </a:lnTo>
                <a:lnTo>
                  <a:pt x="0" y="2722545"/>
                </a:lnTo>
                <a:close/>
              </a:path>
            </a:pathLst>
          </a:custGeom>
          <a:solidFill>
            <a:srgbClr val="0B17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65615" y="-528631"/>
            <a:ext cx="3291840" cy="3090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800" b="1">
                <a:solidFill>
                  <a:srgbClr val="0B1728"/>
                </a:solidFill>
                <a:latin typeface="Manrope"/>
              </a:rPr>
              <a:t>B</a:t>
            </a:r>
          </a:p>
        </p:txBody>
      </p:sp>
      <p:sp>
        <p:nvSpPr>
          <p:cNvPr id="5" name="Freeform 4"/>
          <p:cNvSpPr/>
          <p:nvPr/>
        </p:nvSpPr>
        <p:spPr>
          <a:xfrm>
            <a:off x="731520" y="6291072"/>
            <a:ext cx="237744" cy="265713"/>
          </a:xfrm>
          <a:custGeom>
            <a:avLst/>
            <a:gdLst/>
            <a:ahLst/>
            <a:cxnLst/>
            <a:rect l="l" t="t" r="r" b="b"/>
            <a:pathLst>
              <a:path w="237744" h="265713">
                <a:moveTo>
                  <a:pt x="0" y="0"/>
                </a:moveTo>
                <a:lnTo>
                  <a:pt x="166420" y="0"/>
                </a:lnTo>
                <a:lnTo>
                  <a:pt x="237744" y="69085"/>
                </a:lnTo>
                <a:lnTo>
                  <a:pt x="237744" y="265713"/>
                </a:lnTo>
                <a:lnTo>
                  <a:pt x="71323" y="265713"/>
                </a:lnTo>
                <a:lnTo>
                  <a:pt x="0" y="196627"/>
                </a:lnTo>
                <a:close/>
              </a:path>
            </a:pathLst>
          </a:custGeom>
          <a:solidFill>
            <a:srgbClr val="C7F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12329"/>
            <a:ext cx="237744" cy="2231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142008"/>
                </a:solidFill>
                <a:latin typeface="Manrope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" y="624535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6F9FC"/>
                </a:solidFill>
                <a:latin typeface="Manrope"/>
              </a:rPr>
              <a:t>breaker</a:t>
            </a:r>
            <a:r>
              <a:rPr sz="1300" b="1">
                <a:solidFill>
                  <a:srgbClr val="C7FA70"/>
                </a:solidFill>
                <a:latin typeface="Manrope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6975" y="6254496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7F8B9B"/>
                </a:solidFill>
                <a:latin typeface="DM Sans"/>
              </a:rPr>
              <a:t>3 /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7FA70"/>
                </a:solidFill>
                <a:latin typeface="DM Sans"/>
              </a:rPr>
              <a:t>CIBLE  </a:t>
            </a:r>
            <a:r>
              <a:rPr sz="1100" b="0">
                <a:solidFill>
                  <a:srgbClr val="A9B4C2"/>
                </a:solidFill>
                <a:latin typeface="DM Sans"/>
              </a:rPr>
              <a:t>les organisations qui ont une trésorerie et pas d'équipe sécurité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88575" y="45720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101C2E"/>
          </a:solidFill>
          <a:ln w="9525">
            <a:solidFill>
              <a:srgbClr val="263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8575" y="457200"/>
            <a:ext cx="13716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C7FA70"/>
                </a:solidFill>
                <a:latin typeface="DM Sans"/>
              </a:rPr>
              <a:t>ROMAIN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960120"/>
            <a:ext cx="935705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6F9FC"/>
                </a:solidFill>
                <a:latin typeface="Manrope"/>
              </a:rPr>
              <a:t>Pour les équipes compactes aux trésoreries importantes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423160"/>
            <a:ext cx="2531287" cy="1691640"/>
          </a:xfrm>
          <a:prstGeom prst="roundRect">
            <a:avLst>
              <a:gd name="adj" fmla="val 8000"/>
            </a:avLst>
          </a:prstGeom>
          <a:solidFill>
            <a:srgbClr val="101C2E"/>
          </a:solidFill>
          <a:ln w="9525">
            <a:solidFill>
              <a:srgbClr val="263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2423160"/>
            <a:ext cx="54864" cy="1691640"/>
          </a:xfrm>
          <a:prstGeom prst="rect">
            <a:avLst/>
          </a:prstGeom>
          <a:solidFill>
            <a:srgbClr val="F6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624328"/>
            <a:ext cx="20740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6F9FC"/>
                </a:solidFill>
                <a:latin typeface="Manrope"/>
              </a:rPr>
              <a:t>675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282696"/>
            <a:ext cx="207408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B4C2"/>
                </a:solidFill>
                <a:latin typeface="DM Sans"/>
              </a:rPr>
              <a:t>protocoles avec plus de 10 M$ d'actifs gérés, toutes chaînes (API DeFiLlama, 11/10/2026)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63975" y="2423160"/>
            <a:ext cx="2531287" cy="1691640"/>
          </a:xfrm>
          <a:prstGeom prst="roundRect">
            <a:avLst>
              <a:gd name="adj" fmla="val 8000"/>
            </a:avLst>
          </a:prstGeom>
          <a:solidFill>
            <a:srgbClr val="101C2E"/>
          </a:solidFill>
          <a:ln w="9525">
            <a:solidFill>
              <a:srgbClr val="263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63975" y="2423160"/>
            <a:ext cx="54864" cy="1691640"/>
          </a:xfrm>
          <a:prstGeom prst="rect">
            <a:avLst/>
          </a:prstGeom>
          <a:solidFill>
            <a:srgbClr val="F6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38295" y="2624328"/>
            <a:ext cx="20740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6F9FC"/>
                </a:solidFill>
                <a:latin typeface="Manrope"/>
              </a:rPr>
              <a:t>≈ 220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38295" y="3282696"/>
            <a:ext cx="207408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B4C2"/>
                </a:solidFill>
                <a:latin typeface="DM Sans"/>
              </a:rPr>
              <a:t>DAO avec plus de 1 M$ de trésorerie (DeepDAO, T1 2026)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6430" y="2423160"/>
            <a:ext cx="2531287" cy="1691640"/>
          </a:xfrm>
          <a:prstGeom prst="roundRect">
            <a:avLst>
              <a:gd name="adj" fmla="val 8000"/>
            </a:avLst>
          </a:prstGeom>
          <a:solidFill>
            <a:srgbClr val="101C2E"/>
          </a:solidFill>
          <a:ln w="9525">
            <a:solidFill>
              <a:srgbClr val="263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6430" y="2423160"/>
            <a:ext cx="54864" cy="1691640"/>
          </a:xfrm>
          <a:prstGeom prst="rect">
            <a:avLst/>
          </a:prstGeom>
          <a:solidFill>
            <a:srgbClr val="C7F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0750" y="2624328"/>
            <a:ext cx="20740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C7FA70"/>
                </a:solidFill>
                <a:latin typeface="Manrope"/>
              </a:rPr>
              <a:t>32 – 121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0750" y="3282696"/>
            <a:ext cx="207408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B4C2"/>
                </a:solidFill>
                <a:latin typeface="DM Sans"/>
              </a:rPr>
              <a:t>organisations adressables sur Avalanche : 22 protocoles &gt; 10 M$, &gt; 50 L1, 10 équipes sur Safe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28885" y="2423160"/>
            <a:ext cx="2531287" cy="1691640"/>
          </a:xfrm>
          <a:prstGeom prst="roundRect">
            <a:avLst>
              <a:gd name="adj" fmla="val 8000"/>
            </a:avLst>
          </a:prstGeom>
          <a:solidFill>
            <a:srgbClr val="101C2E"/>
          </a:solidFill>
          <a:ln w="9525">
            <a:solidFill>
              <a:srgbClr val="263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28885" y="2423160"/>
            <a:ext cx="54864" cy="1691640"/>
          </a:xfrm>
          <a:prstGeom prst="rect">
            <a:avLst/>
          </a:prstGeom>
          <a:solidFill>
            <a:srgbClr val="F6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03205" y="2624328"/>
            <a:ext cx="20740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6F9FC"/>
                </a:solidFill>
                <a:latin typeface="Manrope"/>
              </a:rPr>
              <a:t>675 – 895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03205" y="3282696"/>
            <a:ext cx="207408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B4C2"/>
                </a:solidFill>
                <a:latin typeface="DM Sans"/>
              </a:rPr>
              <a:t>sur les chaînes EVM, borne basse : fonds et fondations exclus, faute de source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434840"/>
            <a:ext cx="1072865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6F9FC"/>
                </a:solidFill>
                <a:latin typeface="DM Sans"/>
              </a:rPr>
              <a:t>Protocoles, DAO, startups et fonds crypto : 1 à 10 M$ dans un Safe, zéro personne dont c'est le métier. </a:t>
            </a:r>
            <a:r>
              <a:rPr sz="1600" b="0">
                <a:solidFill>
                  <a:srgbClr val="A9B4C2"/>
                </a:solidFill>
                <a:latin typeface="DM Sans"/>
              </a:rPr>
              <a:t>Tous ont déjà un coffre : Safe sécurise 35 Md$ sur 61 millions de comptes. Aucun ne déplacera sa trésorerie pour un essai.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897880"/>
            <a:ext cx="10728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F8B9B"/>
                </a:solidFill>
                <a:latin typeface="DM Sans"/>
              </a:rPr>
              <a:t>shared/business-marche.md D1–D5 · Safe Foundation, rapport T1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265615" y="-822960"/>
            <a:ext cx="3291840" cy="3679115"/>
          </a:xfrm>
          <a:custGeom>
            <a:avLst/>
            <a:gdLst/>
            <a:ahLst/>
            <a:cxnLst/>
            <a:rect l="l" t="t" r="r" b="b"/>
            <a:pathLst>
              <a:path w="3291840" h="3679115">
                <a:moveTo>
                  <a:pt x="0" y="0"/>
                </a:moveTo>
                <a:lnTo>
                  <a:pt x="2304288" y="0"/>
                </a:lnTo>
                <a:lnTo>
                  <a:pt x="3291840" y="956569"/>
                </a:lnTo>
                <a:lnTo>
                  <a:pt x="3291840" y="3679115"/>
                </a:lnTo>
                <a:lnTo>
                  <a:pt x="987552" y="3679115"/>
                </a:lnTo>
                <a:lnTo>
                  <a:pt x="0" y="2722545"/>
                </a:lnTo>
                <a:close/>
              </a:path>
            </a:pathLst>
          </a:custGeom>
          <a:solidFill>
            <a:srgbClr val="0B17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65615" y="-528631"/>
            <a:ext cx="3291840" cy="3090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800" b="1">
                <a:solidFill>
                  <a:srgbClr val="0B1728"/>
                </a:solidFill>
                <a:latin typeface="Manrope"/>
              </a:rPr>
              <a:t>B</a:t>
            </a:r>
          </a:p>
        </p:txBody>
      </p:sp>
      <p:sp>
        <p:nvSpPr>
          <p:cNvPr id="5" name="Freeform 4"/>
          <p:cNvSpPr/>
          <p:nvPr/>
        </p:nvSpPr>
        <p:spPr>
          <a:xfrm>
            <a:off x="731520" y="6291072"/>
            <a:ext cx="237744" cy="265713"/>
          </a:xfrm>
          <a:custGeom>
            <a:avLst/>
            <a:gdLst/>
            <a:ahLst/>
            <a:cxnLst/>
            <a:rect l="l" t="t" r="r" b="b"/>
            <a:pathLst>
              <a:path w="237744" h="265713">
                <a:moveTo>
                  <a:pt x="0" y="0"/>
                </a:moveTo>
                <a:lnTo>
                  <a:pt x="166420" y="0"/>
                </a:lnTo>
                <a:lnTo>
                  <a:pt x="237744" y="69085"/>
                </a:lnTo>
                <a:lnTo>
                  <a:pt x="237744" y="265713"/>
                </a:lnTo>
                <a:lnTo>
                  <a:pt x="71323" y="265713"/>
                </a:lnTo>
                <a:lnTo>
                  <a:pt x="0" y="196627"/>
                </a:lnTo>
                <a:close/>
              </a:path>
            </a:pathLst>
          </a:custGeom>
          <a:solidFill>
            <a:srgbClr val="C7F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12329"/>
            <a:ext cx="237744" cy="2231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142008"/>
                </a:solidFill>
                <a:latin typeface="Manrope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" y="624535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6F9FC"/>
                </a:solidFill>
                <a:latin typeface="Manrope"/>
              </a:rPr>
              <a:t>breaker</a:t>
            </a:r>
            <a:r>
              <a:rPr sz="1300" b="1">
                <a:solidFill>
                  <a:srgbClr val="C7FA70"/>
                </a:solidFill>
                <a:latin typeface="Manrope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6975" y="6254496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7F8B9B"/>
                </a:solidFill>
                <a:latin typeface="DM Sans"/>
              </a:rPr>
              <a:t>4 /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7FA70"/>
                </a:solidFill>
                <a:latin typeface="DM Sans"/>
              </a:rPr>
              <a:t>SOLUTION  </a:t>
            </a:r>
            <a:r>
              <a:rPr sz="1100" b="0">
                <a:solidFill>
                  <a:srgbClr val="A9B4C2"/>
                </a:solidFill>
                <a:latin typeface="DM Sans"/>
              </a:rPr>
              <a:t>Breaker n'est pas un coffre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88575" y="45720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101C2E"/>
          </a:solidFill>
          <a:ln w="9525">
            <a:solidFill>
              <a:srgbClr val="263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8575" y="457200"/>
            <a:ext cx="13716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C7FA70"/>
                </a:solidFill>
                <a:latin typeface="DM Sans"/>
              </a:rPr>
              <a:t>TIMÉO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960120"/>
            <a:ext cx="935705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>
                <a:solidFill>
                  <a:srgbClr val="F6F9FC"/>
                </a:solidFill>
                <a:latin typeface="Manrope"/>
              </a:rPr>
              <a:t>Vous avez déjà le coffre. Il vous manque quelqu'un qui regarde.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286000"/>
            <a:ext cx="2208961" cy="1554480"/>
          </a:xfrm>
          <a:prstGeom prst="roundRect">
            <a:avLst>
              <a:gd name="adj" fmla="val 8000"/>
            </a:avLst>
          </a:prstGeom>
          <a:solidFill>
            <a:srgbClr val="101C2E"/>
          </a:solidFill>
          <a:ln w="9525">
            <a:solidFill>
              <a:srgbClr val="263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68880"/>
            <a:ext cx="184320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6F9FC"/>
                </a:solidFill>
                <a:latin typeface="Manrope"/>
              </a:rPr>
              <a:t>Votre Safe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184320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A9B4C2"/>
                </a:solidFill>
                <a:latin typeface="DM Sans"/>
              </a:rPr>
              <a:t>vos signataires, votre adresse, votre historique : rien ne bouge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50209" y="2834640"/>
            <a:ext cx="411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>
                <a:solidFill>
                  <a:srgbClr val="C7FA70"/>
                </a:solidFill>
                <a:latin typeface="DM San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71417" y="2286000"/>
            <a:ext cx="2208961" cy="1554480"/>
          </a:xfrm>
          <a:prstGeom prst="roundRect">
            <a:avLst>
              <a:gd name="adj" fmla="val 8000"/>
            </a:avLst>
          </a:prstGeom>
          <a:solidFill>
            <a:srgbClr val="101C2E"/>
          </a:solidFill>
          <a:ln w="9525">
            <a:solidFill>
              <a:srgbClr val="C7F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71417" y="2286000"/>
            <a:ext cx="54864" cy="1554480"/>
          </a:xfrm>
          <a:prstGeom prst="rect">
            <a:avLst/>
          </a:prstGeom>
          <a:solidFill>
            <a:srgbClr val="C7F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00017" y="2468880"/>
            <a:ext cx="184320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6F9FC"/>
                </a:solidFill>
                <a:latin typeface="Manrope"/>
              </a:rPr>
              <a:t>Guard Breaker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00017" y="2907792"/>
            <a:ext cx="184320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A9B4C2"/>
                </a:solidFill>
                <a:latin typeface="DM Sans"/>
              </a:rPr>
              <a:t>appelé avant chaque paiement : signature en plus, attente, gel, probation des clés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90106" y="2834640"/>
            <a:ext cx="411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>
                <a:solidFill>
                  <a:srgbClr val="C7FA70"/>
                </a:solidFill>
                <a:latin typeface="DM Sans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11314" y="2286000"/>
            <a:ext cx="2208961" cy="1554480"/>
          </a:xfrm>
          <a:prstGeom prst="roundRect">
            <a:avLst>
              <a:gd name="adj" fmla="val 8000"/>
            </a:avLst>
          </a:prstGeom>
          <a:solidFill>
            <a:srgbClr val="101C2E"/>
          </a:solidFill>
          <a:ln w="9525">
            <a:solidFill>
              <a:srgbClr val="C7F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11314" y="2286000"/>
            <a:ext cx="54864" cy="1554480"/>
          </a:xfrm>
          <a:prstGeom prst="rect">
            <a:avLst/>
          </a:prstGeom>
          <a:solidFill>
            <a:srgbClr val="C7F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9914" y="2468880"/>
            <a:ext cx="184320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6F9FC"/>
                </a:solidFill>
                <a:latin typeface="Manrope"/>
              </a:rPr>
              <a:t>Moteur Breaker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39914" y="2907792"/>
            <a:ext cx="184320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A9B4C2"/>
                </a:solidFill>
                <a:latin typeface="DM Sans"/>
              </a:rPr>
              <a:t>règles sur votre historique · modèle d'anomalie · oracle Web · listes OFAC · explication en français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0003" y="2834640"/>
            <a:ext cx="411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>
                <a:solidFill>
                  <a:srgbClr val="C7FA70"/>
                </a:solidFill>
                <a:latin typeface="DM Sans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51211" y="2286000"/>
            <a:ext cx="2208961" cy="1554480"/>
          </a:xfrm>
          <a:prstGeom prst="roundRect">
            <a:avLst>
              <a:gd name="adj" fmla="val 8000"/>
            </a:avLst>
          </a:prstGeom>
          <a:solidFill>
            <a:srgbClr val="101C2E"/>
          </a:solidFill>
          <a:ln w="9525">
            <a:solidFill>
              <a:srgbClr val="263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79811" y="2468880"/>
            <a:ext cx="184320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6F9FC"/>
                </a:solidFill>
                <a:latin typeface="Manrope"/>
              </a:rPr>
              <a:t>Vos signataires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79811" y="2907792"/>
            <a:ext cx="184320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A9B4C2"/>
                </a:solidFill>
                <a:latin typeface="DM Sans"/>
              </a:rPr>
              <a:t>décident, toujours. L'unanimité lève tout.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023360"/>
            <a:ext cx="45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C7FA70"/>
                </a:solidFill>
                <a:latin typeface="Manrope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4069080"/>
            <a:ext cx="290565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6F9FC"/>
                </a:solidFill>
                <a:latin typeface="Manrope"/>
              </a:rPr>
              <a:t>Regarde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4434840"/>
            <a:ext cx="290565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A9B4C2"/>
                </a:solidFill>
                <a:latin typeface="DM Sans"/>
              </a:rPr>
              <a:t>Bénéficiaire nouveau ? Montant 4× vos habitudes ? Trois paiements en dix minutes ? Adresse sosie, fonds souillés, sanctions 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68698" y="4023360"/>
            <a:ext cx="45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A8BFFF"/>
                </a:solidFill>
                <a:latin typeface="Manrope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71618" y="4069080"/>
            <a:ext cx="290565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6F9FC"/>
                </a:solidFill>
                <a:latin typeface="Manrope"/>
              </a:rPr>
              <a:t>Explique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71618" y="4434840"/>
            <a:ext cx="290565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A9B4C2"/>
                </a:solidFill>
                <a:latin typeface="DM Sans"/>
              </a:rPr>
              <a:t>En français, pour des non-experts : « premier paiement à cette adresse, montant quatre fois supérieur à vos habitudes ».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5876" y="4023360"/>
            <a:ext cx="45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C481"/>
                </a:solidFill>
                <a:latin typeface="Manrope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8796" y="4069080"/>
            <a:ext cx="290565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6F9FC"/>
                </a:solidFill>
                <a:latin typeface="Manrope"/>
              </a:rPr>
              <a:t>Freine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8796" y="4434840"/>
            <a:ext cx="290565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A9B4C2"/>
                </a:solidFill>
                <a:latin typeface="DM Sans"/>
              </a:rPr>
              <a:t>Une signature de plus, ou une attente. Jamais un blocage définitif : le pire bug possible est un faux ralentissement.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349240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6F9FC"/>
                </a:solidFill>
                <a:latin typeface="DM Sans"/>
              </a:rPr>
              <a:t>Et protège la personne : </a:t>
            </a:r>
            <a:r>
              <a:rPr sz="1350" b="0">
                <a:solidFill>
                  <a:srgbClr val="A9B4C2"/>
                </a:solidFill>
                <a:latin typeface="DM Sans"/>
              </a:rPr>
              <a:t>clé d'identité pour révoquer seul sa clé volée · clé de contrainte qui dit « oui » à l'écran et gèle en silence · probation des clés neuves.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897880"/>
            <a:ext cx="10728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F8B9B"/>
                </a:solidFill>
                <a:latin typeface="DM Sans"/>
              </a:rPr>
              <a:t>shared/ce-que-breaker-est.md · ia-1/score/regles.py · ia-2/contracts/TreasuryGuard.sol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265615" y="-822960"/>
            <a:ext cx="3291840" cy="3679115"/>
          </a:xfrm>
          <a:custGeom>
            <a:avLst/>
            <a:gdLst/>
            <a:ahLst/>
            <a:cxnLst/>
            <a:rect l="l" t="t" r="r" b="b"/>
            <a:pathLst>
              <a:path w="3291840" h="3679115">
                <a:moveTo>
                  <a:pt x="0" y="0"/>
                </a:moveTo>
                <a:lnTo>
                  <a:pt x="2304288" y="0"/>
                </a:lnTo>
                <a:lnTo>
                  <a:pt x="3291840" y="956569"/>
                </a:lnTo>
                <a:lnTo>
                  <a:pt x="3291840" y="3679115"/>
                </a:lnTo>
                <a:lnTo>
                  <a:pt x="987552" y="3679115"/>
                </a:lnTo>
                <a:lnTo>
                  <a:pt x="0" y="2722545"/>
                </a:lnTo>
                <a:close/>
              </a:path>
            </a:pathLst>
          </a:custGeom>
          <a:solidFill>
            <a:srgbClr val="0B17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65615" y="-528631"/>
            <a:ext cx="3291840" cy="3090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800" b="1">
                <a:solidFill>
                  <a:srgbClr val="0B1728"/>
                </a:solidFill>
                <a:latin typeface="Manrope"/>
              </a:rPr>
              <a:t>B</a:t>
            </a:r>
          </a:p>
        </p:txBody>
      </p:sp>
      <p:sp>
        <p:nvSpPr>
          <p:cNvPr id="5" name="Freeform 4"/>
          <p:cNvSpPr/>
          <p:nvPr/>
        </p:nvSpPr>
        <p:spPr>
          <a:xfrm>
            <a:off x="731520" y="6291072"/>
            <a:ext cx="237744" cy="265713"/>
          </a:xfrm>
          <a:custGeom>
            <a:avLst/>
            <a:gdLst/>
            <a:ahLst/>
            <a:cxnLst/>
            <a:rect l="l" t="t" r="r" b="b"/>
            <a:pathLst>
              <a:path w="237744" h="265713">
                <a:moveTo>
                  <a:pt x="0" y="0"/>
                </a:moveTo>
                <a:lnTo>
                  <a:pt x="166420" y="0"/>
                </a:lnTo>
                <a:lnTo>
                  <a:pt x="237744" y="69085"/>
                </a:lnTo>
                <a:lnTo>
                  <a:pt x="237744" y="265713"/>
                </a:lnTo>
                <a:lnTo>
                  <a:pt x="71323" y="265713"/>
                </a:lnTo>
                <a:lnTo>
                  <a:pt x="0" y="196627"/>
                </a:lnTo>
                <a:close/>
              </a:path>
            </a:pathLst>
          </a:custGeom>
          <a:solidFill>
            <a:srgbClr val="C7F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12329"/>
            <a:ext cx="237744" cy="2231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142008"/>
                </a:solidFill>
                <a:latin typeface="Manrope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" y="624535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6F9FC"/>
                </a:solidFill>
                <a:latin typeface="Manrope"/>
              </a:rPr>
              <a:t>breaker</a:t>
            </a:r>
            <a:r>
              <a:rPr sz="1300" b="1">
                <a:solidFill>
                  <a:srgbClr val="C7FA70"/>
                </a:solidFill>
                <a:latin typeface="Manrope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6975" y="6254496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7F8B9B"/>
                </a:solidFill>
                <a:latin typeface="DM Sans"/>
              </a:rPr>
              <a:t>5 /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7FA70"/>
                </a:solidFill>
                <a:latin typeface="DM Sans"/>
              </a:rPr>
              <a:t>DÉMO &amp; PREUVES  </a:t>
            </a:r>
            <a:r>
              <a:rPr sz="1100" b="0">
                <a:solidFill>
                  <a:srgbClr val="A9B4C2"/>
                </a:solidFill>
                <a:latin typeface="DM Sans"/>
              </a:rPr>
              <a:t>mesuré, avant d'être affirmé : une seule fois, sur un jeu préparé à l'aveugle par l'autre membre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88575" y="45720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101C2E"/>
          </a:solidFill>
          <a:ln w="9525">
            <a:solidFill>
              <a:srgbClr val="263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8575" y="457200"/>
            <a:ext cx="13716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C7FA70"/>
                </a:solidFill>
                <a:latin typeface="DM Sans"/>
              </a:rPr>
              <a:t>TIMÉO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960120"/>
            <a:ext cx="935705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>
                <a:solidFill>
                  <a:srgbClr val="F6F9FC"/>
                </a:solidFill>
                <a:latin typeface="Manrope"/>
              </a:rPr>
              <a:t>Sur Avalanche Fuji : 280 500 tentés, zéro sorti.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103120"/>
            <a:ext cx="2531287" cy="1645920"/>
          </a:xfrm>
          <a:prstGeom prst="roundRect">
            <a:avLst>
              <a:gd name="adj" fmla="val 8000"/>
            </a:avLst>
          </a:prstGeom>
          <a:solidFill>
            <a:srgbClr val="101C2E"/>
          </a:solidFill>
          <a:ln w="9525">
            <a:solidFill>
              <a:srgbClr val="263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2103120"/>
            <a:ext cx="54864" cy="1645920"/>
          </a:xfrm>
          <a:prstGeom prst="rect">
            <a:avLst/>
          </a:prstGeom>
          <a:solidFill>
            <a:srgbClr val="C7F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304288"/>
            <a:ext cx="20740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C7FA70"/>
                </a:solidFill>
                <a:latin typeface="Manrope"/>
              </a:rPr>
              <a:t>95 %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962656"/>
            <a:ext cx="20740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B4C2"/>
                </a:solidFill>
                <a:latin typeface="DM Sans"/>
              </a:rPr>
              <a:t>des fraudes freinées ou arrêtées, formes jamais vues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63975" y="2103120"/>
            <a:ext cx="2531287" cy="1645920"/>
          </a:xfrm>
          <a:prstGeom prst="roundRect">
            <a:avLst>
              <a:gd name="adj" fmla="val 8000"/>
            </a:avLst>
          </a:prstGeom>
          <a:solidFill>
            <a:srgbClr val="101C2E"/>
          </a:solidFill>
          <a:ln w="9525">
            <a:solidFill>
              <a:srgbClr val="263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63975" y="2103120"/>
            <a:ext cx="54864" cy="1645920"/>
          </a:xfrm>
          <a:prstGeom prst="rect">
            <a:avLst/>
          </a:prstGeom>
          <a:solidFill>
            <a:srgbClr val="C7F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38295" y="2304288"/>
            <a:ext cx="20740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C7FA70"/>
                </a:solidFill>
                <a:latin typeface="Manrope"/>
              </a:rPr>
              <a:t>91 %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38295" y="2962656"/>
            <a:ext cx="20740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B4C2"/>
                </a:solidFill>
                <a:latin typeface="DM Sans"/>
              </a:rPr>
              <a:t>des montants frauduleux mis en attente (1,12 M sur 1,23 M)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6430" y="2103120"/>
            <a:ext cx="2531287" cy="1645920"/>
          </a:xfrm>
          <a:prstGeom prst="roundRect">
            <a:avLst>
              <a:gd name="adj" fmla="val 8000"/>
            </a:avLst>
          </a:prstGeom>
          <a:solidFill>
            <a:srgbClr val="101C2E"/>
          </a:solidFill>
          <a:ln w="9525">
            <a:solidFill>
              <a:srgbClr val="263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6430" y="2103120"/>
            <a:ext cx="54864" cy="1645920"/>
          </a:xfrm>
          <a:prstGeom prst="rect">
            <a:avLst/>
          </a:prstGeom>
          <a:solidFill>
            <a:srgbClr val="FFC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0750" y="2304288"/>
            <a:ext cx="20740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C481"/>
                </a:solidFill>
                <a:latin typeface="Manrope"/>
              </a:rPr>
              <a:t>5,1 %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0750" y="2962656"/>
            <a:ext cx="20740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B4C2"/>
                </a:solidFill>
                <a:latin typeface="DM Sans"/>
              </a:rPr>
              <a:t>de paiements légitimes retardés : gros premiers paiements ; 0 % sur les récurrents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28885" y="2103120"/>
            <a:ext cx="2531287" cy="1645920"/>
          </a:xfrm>
          <a:prstGeom prst="roundRect">
            <a:avLst>
              <a:gd name="adj" fmla="val 8000"/>
            </a:avLst>
          </a:prstGeom>
          <a:solidFill>
            <a:srgbClr val="101C2E"/>
          </a:solidFill>
          <a:ln w="9525">
            <a:solidFill>
              <a:srgbClr val="263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28885" y="2103120"/>
            <a:ext cx="54864" cy="1645920"/>
          </a:xfrm>
          <a:prstGeom prst="rect">
            <a:avLst/>
          </a:prstGeom>
          <a:solidFill>
            <a:srgbClr val="A8B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03205" y="2304288"/>
            <a:ext cx="20740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A8BFFF"/>
                </a:solidFill>
                <a:latin typeface="Manrope"/>
              </a:rPr>
              <a:t>5 – 6 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03205" y="2962656"/>
            <a:ext cx="20740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B4C2"/>
                </a:solidFill>
                <a:latin typeface="DM Sans"/>
              </a:rPr>
              <a:t>pour signaler, sur 30 s d'examen · 0,002 $ de gas par alerte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3977639"/>
            <a:ext cx="3442106" cy="1463040"/>
          </a:xfrm>
          <a:prstGeom prst="roundRect">
            <a:avLst>
              <a:gd name="adj" fmla="val 8000"/>
            </a:avLst>
          </a:prstGeom>
          <a:solidFill>
            <a:srgbClr val="101C2E"/>
          </a:solidFill>
          <a:ln w="9525">
            <a:solidFill>
              <a:srgbClr val="263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1520" y="3977639"/>
            <a:ext cx="54864" cy="1463040"/>
          </a:xfrm>
          <a:prstGeom prst="rect">
            <a:avLst/>
          </a:prstGeom>
          <a:solidFill>
            <a:srgbClr val="F6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4178807"/>
            <a:ext cx="298490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6F9FC"/>
                </a:solidFill>
                <a:latin typeface="Manrope"/>
              </a:rPr>
              <a:t>100 %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837175"/>
            <a:ext cx="298490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B4C2"/>
                </a:solidFill>
                <a:latin typeface="DM Sans"/>
              </a:rPr>
              <a:t>oracle Web : précision et rappel sur 35 adresses · 7 injections déjouées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74794" y="3977639"/>
            <a:ext cx="3442106" cy="1463040"/>
          </a:xfrm>
          <a:prstGeom prst="roundRect">
            <a:avLst>
              <a:gd name="adj" fmla="val 8000"/>
            </a:avLst>
          </a:prstGeom>
          <a:solidFill>
            <a:srgbClr val="101C2E"/>
          </a:solidFill>
          <a:ln w="9525">
            <a:solidFill>
              <a:srgbClr val="263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74794" y="3977639"/>
            <a:ext cx="54864" cy="1463040"/>
          </a:xfrm>
          <a:prstGeom prst="rect">
            <a:avLst/>
          </a:prstGeom>
          <a:solidFill>
            <a:srgbClr val="F6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49114" y="4178807"/>
            <a:ext cx="298490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6F9FC"/>
                </a:solidFill>
                <a:latin typeface="Manrope"/>
              </a:rPr>
              <a:t>0 · 50 · 7 000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49114" y="4837175"/>
            <a:ext cx="298490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B4C2"/>
                </a:solidFill>
                <a:latin typeface="DM Sans"/>
              </a:rPr>
              <a:t>détection grave (Slither) · tests · appels aléatoires, 0 invariant violé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18068" y="3977639"/>
            <a:ext cx="3442106" cy="1463040"/>
          </a:xfrm>
          <a:prstGeom prst="roundRect">
            <a:avLst>
              <a:gd name="adj" fmla="val 8000"/>
            </a:avLst>
          </a:prstGeom>
          <a:solidFill>
            <a:srgbClr val="101C2E"/>
          </a:solidFill>
          <a:ln w="9525">
            <a:solidFill>
              <a:srgbClr val="263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18068" y="3977639"/>
            <a:ext cx="54864" cy="1463040"/>
          </a:xfrm>
          <a:prstGeom prst="rect">
            <a:avLst/>
          </a:prstGeom>
          <a:solidFill>
            <a:srgbClr val="FFC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92388" y="4178807"/>
            <a:ext cx="298490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FC481"/>
                </a:solidFill>
                <a:latin typeface="Manrope"/>
              </a:rPr>
              <a:t>synthétique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92388" y="4837175"/>
            <a:ext cx="298490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B4C2"/>
                </a:solidFill>
                <a:latin typeface="DM Sans"/>
              </a:rPr>
              <a:t>données fabriquées par nous · contrat pas encore audité par un tiers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5897880"/>
            <a:ext cx="10728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F8B9B"/>
                </a:solidFill>
                <a:latin typeface="DM Sans"/>
              </a:rPr>
              <a:t>shared/mesures.md § 1 · shared/audit-contrat.md · explorateur Fuji : adresses dans ia-2/deployments/fuji.json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265615" y="-822960"/>
            <a:ext cx="3291840" cy="3679115"/>
          </a:xfrm>
          <a:custGeom>
            <a:avLst/>
            <a:gdLst/>
            <a:ahLst/>
            <a:cxnLst/>
            <a:rect l="l" t="t" r="r" b="b"/>
            <a:pathLst>
              <a:path w="3291840" h="3679115">
                <a:moveTo>
                  <a:pt x="0" y="0"/>
                </a:moveTo>
                <a:lnTo>
                  <a:pt x="2304288" y="0"/>
                </a:lnTo>
                <a:lnTo>
                  <a:pt x="3291840" y="956569"/>
                </a:lnTo>
                <a:lnTo>
                  <a:pt x="3291840" y="3679115"/>
                </a:lnTo>
                <a:lnTo>
                  <a:pt x="987552" y="3679115"/>
                </a:lnTo>
                <a:lnTo>
                  <a:pt x="0" y="2722545"/>
                </a:lnTo>
                <a:close/>
              </a:path>
            </a:pathLst>
          </a:custGeom>
          <a:solidFill>
            <a:srgbClr val="0B17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65615" y="-528631"/>
            <a:ext cx="3291840" cy="3090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800" b="1">
                <a:solidFill>
                  <a:srgbClr val="0B1728"/>
                </a:solidFill>
                <a:latin typeface="Manrope"/>
              </a:rPr>
              <a:t>B</a:t>
            </a:r>
          </a:p>
        </p:txBody>
      </p:sp>
      <p:sp>
        <p:nvSpPr>
          <p:cNvPr id="5" name="Freeform 4"/>
          <p:cNvSpPr/>
          <p:nvPr/>
        </p:nvSpPr>
        <p:spPr>
          <a:xfrm>
            <a:off x="731520" y="6291072"/>
            <a:ext cx="237744" cy="265713"/>
          </a:xfrm>
          <a:custGeom>
            <a:avLst/>
            <a:gdLst/>
            <a:ahLst/>
            <a:cxnLst/>
            <a:rect l="l" t="t" r="r" b="b"/>
            <a:pathLst>
              <a:path w="237744" h="265713">
                <a:moveTo>
                  <a:pt x="0" y="0"/>
                </a:moveTo>
                <a:lnTo>
                  <a:pt x="166420" y="0"/>
                </a:lnTo>
                <a:lnTo>
                  <a:pt x="237744" y="69085"/>
                </a:lnTo>
                <a:lnTo>
                  <a:pt x="237744" y="265713"/>
                </a:lnTo>
                <a:lnTo>
                  <a:pt x="71323" y="265713"/>
                </a:lnTo>
                <a:lnTo>
                  <a:pt x="0" y="196627"/>
                </a:lnTo>
                <a:close/>
              </a:path>
            </a:pathLst>
          </a:custGeom>
          <a:solidFill>
            <a:srgbClr val="C7F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12329"/>
            <a:ext cx="237744" cy="2231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142008"/>
                </a:solidFill>
                <a:latin typeface="Manrope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" y="624535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6F9FC"/>
                </a:solidFill>
                <a:latin typeface="Manrope"/>
              </a:rPr>
              <a:t>breaker</a:t>
            </a:r>
            <a:r>
              <a:rPr sz="1300" b="1">
                <a:solidFill>
                  <a:srgbClr val="C7FA70"/>
                </a:solidFill>
                <a:latin typeface="Manrope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6975" y="6254496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7F8B9B"/>
                </a:solidFill>
                <a:latin typeface="DM Sans"/>
              </a:rPr>
              <a:t>6 /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7FA70"/>
                </a:solidFill>
                <a:latin typeface="DM Sans"/>
              </a:rPr>
              <a:t>OFFRE  </a:t>
            </a:r>
            <a:r>
              <a:rPr sz="1100" b="0">
                <a:solidFill>
                  <a:srgbClr val="A9B4C2"/>
                </a:solidFill>
                <a:latin typeface="DM Sans"/>
              </a:rPr>
              <a:t>Safe Pro vend des règles que vous écrivez ; nous détectons ce que vous n'avez pas prévu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88575" y="45720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101C2E"/>
          </a:solidFill>
          <a:ln w="9525">
            <a:solidFill>
              <a:srgbClr val="263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8575" y="457200"/>
            <a:ext cx="13716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C7FA70"/>
                </a:solidFill>
                <a:latin typeface="DM Sans"/>
              </a:rPr>
              <a:t>ROMAIN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960120"/>
            <a:ext cx="935705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6F9FC"/>
                </a:solidFill>
                <a:latin typeface="Manrope"/>
              </a:rPr>
              <a:t>Un prix affiché, selon la taille de votre trésorerie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240280"/>
            <a:ext cx="2545003" cy="1828800"/>
          </a:xfrm>
          <a:prstGeom prst="roundRect">
            <a:avLst>
              <a:gd name="adj" fmla="val 8000"/>
            </a:avLst>
          </a:prstGeom>
          <a:solidFill>
            <a:srgbClr val="101C2E"/>
          </a:solidFill>
          <a:ln w="9525">
            <a:solidFill>
              <a:srgbClr val="263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441448"/>
            <a:ext cx="20878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9B4C2"/>
                </a:solidFill>
                <a:latin typeface="DM Sans"/>
              </a:rPr>
              <a:t>Observation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788920"/>
            <a:ext cx="208780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6F9FC"/>
                </a:solidFill>
                <a:latin typeface="Manrope"/>
              </a:rPr>
              <a:t>0 €</a:t>
            </a:r>
            <a:r>
              <a:rPr sz="1200" b="0">
                <a:solidFill>
                  <a:srgbClr val="7F8B9B"/>
                </a:solidFill>
                <a:latin typeface="DM Sans"/>
              </a:rPr>
              <a:t>  30 jours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429000"/>
            <a:ext cx="208780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A9B4C2"/>
                </a:solidFill>
                <a:latin typeface="DM Sans"/>
              </a:rPr>
              <a:t>détection et explications en lecture seule, rapport de fin d'observation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59403" y="2240280"/>
            <a:ext cx="2545003" cy="1828800"/>
          </a:xfrm>
          <a:prstGeom prst="roundRect">
            <a:avLst>
              <a:gd name="adj" fmla="val 8000"/>
            </a:avLst>
          </a:prstGeom>
          <a:solidFill>
            <a:srgbClr val="101C2E"/>
          </a:solidFill>
          <a:ln w="9525">
            <a:solidFill>
              <a:srgbClr val="263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33723" y="2441448"/>
            <a:ext cx="20878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9B4C2"/>
                </a:solidFill>
                <a:latin typeface="DM Sans"/>
              </a:rPr>
              <a:t>Essentiel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33723" y="2788920"/>
            <a:ext cx="208780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6F9FC"/>
                </a:solidFill>
                <a:latin typeface="Manrope"/>
              </a:rPr>
              <a:t>149 €</a:t>
            </a:r>
            <a:r>
              <a:rPr sz="1200" b="0">
                <a:solidFill>
                  <a:srgbClr val="7F8B9B"/>
                </a:solidFill>
                <a:latin typeface="DM Sans"/>
              </a:rPr>
              <a:t>  / mois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33723" y="3429000"/>
            <a:ext cx="208780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A9B4C2"/>
                </a:solidFill>
                <a:latin typeface="DM Sans"/>
              </a:rPr>
              <a:t>&lt; 1 M$ · friction, explications, listes publiques, notifications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6" y="2240280"/>
            <a:ext cx="2545003" cy="1828800"/>
          </a:xfrm>
          <a:prstGeom prst="roundRect">
            <a:avLst>
              <a:gd name="adj" fmla="val 8000"/>
            </a:avLst>
          </a:prstGeom>
          <a:solidFill>
            <a:srgbClr val="101C2E"/>
          </a:solidFill>
          <a:ln w="9525">
            <a:solidFill>
              <a:srgbClr val="C7F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61606" y="2441448"/>
            <a:ext cx="20878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C7FA70"/>
                </a:solidFill>
                <a:latin typeface="DM Sans"/>
              </a:rPr>
              <a:t>Standard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1606" y="2788920"/>
            <a:ext cx="208780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6F9FC"/>
                </a:solidFill>
                <a:latin typeface="Manrope"/>
              </a:rPr>
              <a:t>449 €</a:t>
            </a:r>
            <a:r>
              <a:rPr sz="1200" b="0">
                <a:solidFill>
                  <a:srgbClr val="7F8B9B"/>
                </a:solidFill>
                <a:latin typeface="DM Sans"/>
              </a:rPr>
              <a:t>  / mois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1606" y="3429000"/>
            <a:ext cx="208780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A9B4C2"/>
                </a:solidFill>
                <a:latin typeface="DM Sans"/>
              </a:rPr>
              <a:t>1 à 10 M$ · + oracle Web, traçage, sosies, clé d'identité, rapport mensuel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15169" y="2240280"/>
            <a:ext cx="2545003" cy="1828800"/>
          </a:xfrm>
          <a:prstGeom prst="roundRect">
            <a:avLst>
              <a:gd name="adj" fmla="val 8000"/>
            </a:avLst>
          </a:prstGeom>
          <a:solidFill>
            <a:srgbClr val="101C2E"/>
          </a:solidFill>
          <a:ln w="9525">
            <a:solidFill>
              <a:srgbClr val="263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89489" y="2441448"/>
            <a:ext cx="20878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9B4C2"/>
                </a:solidFill>
                <a:latin typeface="DM Sans"/>
              </a:rPr>
              <a:t>Premium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489" y="2788920"/>
            <a:ext cx="208780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6F9FC"/>
                </a:solidFill>
                <a:latin typeface="Manrope"/>
              </a:rPr>
              <a:t>990 €</a:t>
            </a:r>
            <a:r>
              <a:rPr sz="1200" b="0">
                <a:solidFill>
                  <a:srgbClr val="7F8B9B"/>
                </a:solidFill>
                <a:latin typeface="DM Sans"/>
              </a:rPr>
              <a:t>  / mois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489" y="3429000"/>
            <a:ext cx="208780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A9B4C2"/>
                </a:solidFill>
                <a:latin typeface="DM Sans"/>
              </a:rPr>
              <a:t>&gt; 10 M$ · + mode cosignataire, réglages sur mesure, support · Entreprise sur devis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315968"/>
            <a:ext cx="27889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7F8B9B"/>
                </a:solidFill>
                <a:latin typeface="DM Sans"/>
              </a:rPr>
              <a:t>Pourquoi 449 €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4315968"/>
            <a:ext cx="766541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7F8B9B"/>
                </a:solidFill>
                <a:latin typeface="DM Sans"/>
              </a:rPr>
              <a:t/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4575144"/>
            <a:ext cx="10728655" cy="6000"/>
          </a:xfrm>
          <a:prstGeom prst="rect">
            <a:avLst/>
          </a:prstGeom>
          <a:solidFill>
            <a:srgbClr val="263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645152"/>
            <a:ext cx="27889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F6F9FC"/>
                </a:solidFill>
                <a:latin typeface="DM Sans"/>
              </a:rPr>
              <a:t>Perte annuelle évitée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4645152"/>
            <a:ext cx="766541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E7EDF4"/>
                </a:solidFill>
                <a:latin typeface="DM Sans"/>
              </a:rPr>
              <a:t>9,5 % d'incidents (TRM ÷ population) × 1,3 M$ médiane × 91 % d'efficacité ≈ 112 k$/an  (22 k$ à périmètre restreint)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4904328"/>
            <a:ext cx="10728655" cy="6000"/>
          </a:xfrm>
          <a:prstGeom prst="rect">
            <a:avLst/>
          </a:prstGeom>
          <a:solidFill>
            <a:srgbClr val="263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4974336"/>
            <a:ext cx="27889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F6F9FC"/>
                </a:solidFill>
                <a:latin typeface="DM Sans"/>
              </a:rPr>
              <a:t>Prix / valeur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0" y="4974336"/>
            <a:ext cx="766541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E7EDF4"/>
                </a:solidFill>
                <a:latin typeface="DM Sans"/>
              </a:rPr>
              <a:t>5 400 €/an = 5 % de la perte évitée (règle : ≤ 10 %)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" y="5233512"/>
            <a:ext cx="10728655" cy="6000"/>
          </a:xfrm>
          <a:prstGeom prst="rect">
            <a:avLst/>
          </a:prstGeom>
          <a:solidFill>
            <a:srgbClr val="263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5303520"/>
            <a:ext cx="27889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F6F9FC"/>
                </a:solidFill>
                <a:latin typeface="DM Sans"/>
              </a:rPr>
              <a:t>Repère du client · coût marginal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0" y="5303520"/>
            <a:ext cx="766541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E7EDF4"/>
                </a:solidFill>
                <a:latin typeface="DM Sans"/>
              </a:rPr>
              <a:t>Safe Pro Business 669 €/mois (règles à écrire) · Fireblocks 999 $/mois (dépositaire) · coût marginal ≈ 1,2 $/client/mois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" y="5562696"/>
            <a:ext cx="10728655" cy="6000"/>
          </a:xfrm>
          <a:prstGeom prst="rect">
            <a:avLst/>
          </a:prstGeom>
          <a:solidFill>
            <a:srgbClr val="263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5897880"/>
            <a:ext cx="10728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F8B9B"/>
                </a:solidFill>
                <a:latin typeface="DM Sans"/>
              </a:rPr>
              <a:t>shared/business-prix.md · shared/business-safe-et-differenciation.md · safe.global/pricing (8/10/2026)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265615" y="-822960"/>
            <a:ext cx="3291840" cy="3679115"/>
          </a:xfrm>
          <a:custGeom>
            <a:avLst/>
            <a:gdLst/>
            <a:ahLst/>
            <a:cxnLst/>
            <a:rect l="l" t="t" r="r" b="b"/>
            <a:pathLst>
              <a:path w="3291840" h="3679115">
                <a:moveTo>
                  <a:pt x="0" y="0"/>
                </a:moveTo>
                <a:lnTo>
                  <a:pt x="2304288" y="0"/>
                </a:lnTo>
                <a:lnTo>
                  <a:pt x="3291840" y="956569"/>
                </a:lnTo>
                <a:lnTo>
                  <a:pt x="3291840" y="3679115"/>
                </a:lnTo>
                <a:lnTo>
                  <a:pt x="987552" y="3679115"/>
                </a:lnTo>
                <a:lnTo>
                  <a:pt x="0" y="2722545"/>
                </a:lnTo>
                <a:close/>
              </a:path>
            </a:pathLst>
          </a:custGeom>
          <a:solidFill>
            <a:srgbClr val="0B17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65615" y="-528631"/>
            <a:ext cx="3291840" cy="3090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800" b="1">
                <a:solidFill>
                  <a:srgbClr val="0B1728"/>
                </a:solidFill>
                <a:latin typeface="Manrope"/>
              </a:rPr>
              <a:t>B</a:t>
            </a:r>
          </a:p>
        </p:txBody>
      </p:sp>
      <p:sp>
        <p:nvSpPr>
          <p:cNvPr id="5" name="Freeform 4"/>
          <p:cNvSpPr/>
          <p:nvPr/>
        </p:nvSpPr>
        <p:spPr>
          <a:xfrm>
            <a:off x="731520" y="6291072"/>
            <a:ext cx="237744" cy="265713"/>
          </a:xfrm>
          <a:custGeom>
            <a:avLst/>
            <a:gdLst/>
            <a:ahLst/>
            <a:cxnLst/>
            <a:rect l="l" t="t" r="r" b="b"/>
            <a:pathLst>
              <a:path w="237744" h="265713">
                <a:moveTo>
                  <a:pt x="0" y="0"/>
                </a:moveTo>
                <a:lnTo>
                  <a:pt x="166420" y="0"/>
                </a:lnTo>
                <a:lnTo>
                  <a:pt x="237744" y="69085"/>
                </a:lnTo>
                <a:lnTo>
                  <a:pt x="237744" y="265713"/>
                </a:lnTo>
                <a:lnTo>
                  <a:pt x="71323" y="265713"/>
                </a:lnTo>
                <a:lnTo>
                  <a:pt x="0" y="196627"/>
                </a:lnTo>
                <a:close/>
              </a:path>
            </a:pathLst>
          </a:custGeom>
          <a:solidFill>
            <a:srgbClr val="C7F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12329"/>
            <a:ext cx="237744" cy="2231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142008"/>
                </a:solidFill>
                <a:latin typeface="Manrope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" y="624535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6F9FC"/>
                </a:solidFill>
                <a:latin typeface="Manrope"/>
              </a:rPr>
              <a:t>breaker</a:t>
            </a:r>
            <a:r>
              <a:rPr sz="1300" b="1">
                <a:solidFill>
                  <a:srgbClr val="C7FA70"/>
                </a:solidFill>
                <a:latin typeface="Manrope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6975" y="6254496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7F8B9B"/>
                </a:solidFill>
                <a:latin typeface="DM Sans"/>
              </a:rPr>
              <a:t>7 /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7FA70"/>
                </a:solidFill>
                <a:latin typeface="DM Sans"/>
              </a:rPr>
              <a:t>MISE SUR LE MARCHÉ  </a:t>
            </a:r>
            <a:r>
              <a:rPr sz="1100" b="0">
                <a:solidFill>
                  <a:srgbClr val="A9B4C2"/>
                </a:solidFill>
                <a:latin typeface="DM Sans"/>
              </a:rPr>
              <a:t>aucun pourcentage de part de marché : un entonnoir, chaque étape sourcée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88575" y="45720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101C2E"/>
          </a:solidFill>
          <a:ln w="9525">
            <a:solidFill>
              <a:srgbClr val="263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8575" y="457200"/>
            <a:ext cx="13716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C7FA70"/>
                </a:solidFill>
                <a:latin typeface="DM Sans"/>
              </a:rPr>
              <a:t>ROMAIN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960120"/>
            <a:ext cx="935705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>
                <a:solidFill>
                  <a:srgbClr val="F6F9FC"/>
                </a:solidFill>
                <a:latin typeface="Manrope"/>
              </a:rPr>
              <a:t>Première année : 62 organisations présentées, 3 à 6 clients payants.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194560"/>
            <a:ext cx="3155594" cy="1371600"/>
          </a:xfrm>
          <a:prstGeom prst="roundRect">
            <a:avLst>
              <a:gd name="adj" fmla="val 8000"/>
            </a:avLst>
          </a:prstGeom>
          <a:solidFill>
            <a:srgbClr val="101C2E"/>
          </a:solidFill>
          <a:ln w="9525">
            <a:solidFill>
              <a:srgbClr val="263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377440"/>
            <a:ext cx="278983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6F9FC"/>
                </a:solidFill>
                <a:latin typeface="Manrope"/>
              </a:rPr>
              <a:t>62 contactables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816352"/>
            <a:ext cx="278983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A9B4C2"/>
                </a:solidFill>
                <a:latin typeface="DM Sans"/>
              </a:rPr>
              <a:t>Retro9000 30 + équipes de L1 10 + protocoles &gt; 10 M$ sur Avalanche 22, présentées par l'écosystème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96842" y="2651760"/>
            <a:ext cx="411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>
                <a:solidFill>
                  <a:srgbClr val="C7FA70"/>
                </a:solidFill>
                <a:latin typeface="DM San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18050" y="2194560"/>
            <a:ext cx="3155594" cy="1371600"/>
          </a:xfrm>
          <a:prstGeom prst="roundRect">
            <a:avLst>
              <a:gd name="adj" fmla="val 8000"/>
            </a:avLst>
          </a:prstGeom>
          <a:solidFill>
            <a:srgbClr val="101C2E"/>
          </a:solidFill>
          <a:ln w="9525">
            <a:solidFill>
              <a:srgbClr val="263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46650" y="2377440"/>
            <a:ext cx="278983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6F9FC"/>
                </a:solidFill>
                <a:latin typeface="Manrope"/>
              </a:rPr>
              <a:t>31 en observation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46650" y="2816352"/>
            <a:ext cx="278983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A9B4C2"/>
                </a:solidFill>
                <a:latin typeface="DM Sans"/>
              </a:rPr>
              <a:t>× 50 % : hypothèse H4, la seule non sourcée, mesurée dès octobre (± 12 points)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83372" y="2651760"/>
            <a:ext cx="411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>
                <a:solidFill>
                  <a:srgbClr val="C7FA70"/>
                </a:solidFill>
                <a:latin typeface="DM Sans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04580" y="2194560"/>
            <a:ext cx="3155594" cy="1371600"/>
          </a:xfrm>
          <a:prstGeom prst="roundRect">
            <a:avLst>
              <a:gd name="adj" fmla="val 8000"/>
            </a:avLst>
          </a:prstGeom>
          <a:solidFill>
            <a:srgbClr val="101C2E"/>
          </a:solidFill>
          <a:ln w="9525">
            <a:solidFill>
              <a:srgbClr val="C7F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04580" y="2194560"/>
            <a:ext cx="54864" cy="1371600"/>
          </a:xfrm>
          <a:prstGeom prst="rect">
            <a:avLst/>
          </a:prstGeom>
          <a:solidFill>
            <a:srgbClr val="C7F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33180" y="2377440"/>
            <a:ext cx="278983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6F9FC"/>
                </a:solidFill>
                <a:latin typeface="Manrope"/>
              </a:rPr>
              <a:t>3 à 6 payants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33180" y="2816352"/>
            <a:ext cx="278983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A9B4C2"/>
                </a:solidFill>
                <a:latin typeface="DM Sans"/>
              </a:rPr>
              <a:t>× 8,9 – 18,5 % : conversion essai → payant du SaaS B2B sans carte bancaire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813047"/>
            <a:ext cx="2240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7F8B9B"/>
                </a:solidFill>
                <a:latin typeface="DM Sans"/>
              </a:rPr>
              <a:t>Quand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3813047"/>
            <a:ext cx="82140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7F8B9B"/>
                </a:solidFill>
                <a:latin typeface="DM Sans"/>
              </a:rPr>
              <a:t>Jalon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4053935"/>
            <a:ext cx="10728655" cy="6000"/>
          </a:xfrm>
          <a:prstGeom prst="rect">
            <a:avLst/>
          </a:prstGeom>
          <a:solidFill>
            <a:srgbClr val="263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123943"/>
            <a:ext cx="2240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F6F9FC"/>
                </a:solidFill>
                <a:latin typeface="DM Sans"/>
              </a:rPr>
              <a:t>oct.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08960" y="4123943"/>
            <a:ext cx="82140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E7EDF4"/>
                </a:solidFill>
                <a:latin typeface="DM Sans"/>
              </a:rPr>
              <a:t>dépôt public · ≥ 10 organisations en observation · dossier subvention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4364831"/>
            <a:ext cx="10728655" cy="6000"/>
          </a:xfrm>
          <a:prstGeom prst="rect">
            <a:avLst/>
          </a:prstGeom>
          <a:solidFill>
            <a:srgbClr val="263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434839"/>
            <a:ext cx="2240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F6F9FC"/>
                </a:solidFill>
                <a:latin typeface="DM Sans"/>
              </a:rPr>
              <a:t>nov. – déc.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08960" y="4434839"/>
            <a:ext cx="82140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E7EDF4"/>
                </a:solidFill>
                <a:latin typeface="DM Sans"/>
              </a:rPr>
              <a:t>portage en Guard + Module de Safe · mesure de H4 · faux positifs réels &lt; 5 %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675727"/>
            <a:ext cx="10728655" cy="6000"/>
          </a:xfrm>
          <a:prstGeom prst="rect">
            <a:avLst/>
          </a:prstGeom>
          <a:solidFill>
            <a:srgbClr val="263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745735"/>
            <a:ext cx="2240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F6F9FC"/>
                </a:solidFill>
                <a:latin typeface="DM Sans"/>
              </a:rPr>
              <a:t>janv. 2027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08960" y="4745735"/>
            <a:ext cx="82140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E7EDF4"/>
                </a:solidFill>
                <a:latin typeface="DM Sans"/>
              </a:rPr>
              <a:t>contrat gelé, audit externe, puis premiers clients payants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4986623"/>
            <a:ext cx="10728655" cy="6000"/>
          </a:xfrm>
          <a:prstGeom prst="rect">
            <a:avLst/>
          </a:prstGeom>
          <a:solidFill>
            <a:srgbClr val="263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056631"/>
            <a:ext cx="2240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F6F9FC"/>
                </a:solidFill>
                <a:latin typeface="DM Sans"/>
              </a:rPr>
              <a:t>mars 2027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5056631"/>
            <a:ext cx="82140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E7EDF4"/>
                </a:solidFill>
                <a:latin typeface="DM Sans"/>
              </a:rPr>
              <a:t>même code sur une 2e chaîne EVM : marché × 6 à 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5297519"/>
            <a:ext cx="10728655" cy="6000"/>
          </a:xfrm>
          <a:prstGeom prst="rect">
            <a:avLst/>
          </a:prstGeom>
          <a:solidFill>
            <a:srgbClr val="263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5367527"/>
            <a:ext cx="2240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F6F9FC"/>
                </a:solidFill>
                <a:latin typeface="DM Sans"/>
              </a:rPr>
              <a:t>fin 2027 – mi-2028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08960" y="5367527"/>
            <a:ext cx="82140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E7EDF4"/>
                </a:solidFill>
                <a:latin typeface="DM Sans"/>
              </a:rPr>
              <a:t>point mort : 17 clients Standard (7 300 €/mois de coûts fixes) ; plus tôt avec un client Premium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1520" y="5608415"/>
            <a:ext cx="10728655" cy="6000"/>
          </a:xfrm>
          <a:prstGeom prst="rect">
            <a:avLst/>
          </a:prstGeom>
          <a:solidFill>
            <a:srgbClr val="263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5897880"/>
            <a:ext cx="10728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F8B9B"/>
                </a:solidFill>
                <a:latin typeface="DM Sans"/>
              </a:rPr>
              <a:t>shared/business-marche.md § 3 · shared/business-mise-sur-le-marche.md § 3 et 3 bis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265615" y="-822960"/>
            <a:ext cx="3291840" cy="3679115"/>
          </a:xfrm>
          <a:custGeom>
            <a:avLst/>
            <a:gdLst/>
            <a:ahLst/>
            <a:cxnLst/>
            <a:rect l="l" t="t" r="r" b="b"/>
            <a:pathLst>
              <a:path w="3291840" h="3679115">
                <a:moveTo>
                  <a:pt x="0" y="0"/>
                </a:moveTo>
                <a:lnTo>
                  <a:pt x="2304288" y="0"/>
                </a:lnTo>
                <a:lnTo>
                  <a:pt x="3291840" y="956569"/>
                </a:lnTo>
                <a:lnTo>
                  <a:pt x="3291840" y="3679115"/>
                </a:lnTo>
                <a:lnTo>
                  <a:pt x="987552" y="3679115"/>
                </a:lnTo>
                <a:lnTo>
                  <a:pt x="0" y="2722545"/>
                </a:lnTo>
                <a:close/>
              </a:path>
            </a:pathLst>
          </a:custGeom>
          <a:solidFill>
            <a:srgbClr val="0B17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65615" y="-528631"/>
            <a:ext cx="3291840" cy="3090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800" b="1">
                <a:solidFill>
                  <a:srgbClr val="0B1728"/>
                </a:solidFill>
                <a:latin typeface="Manrope"/>
              </a:rPr>
              <a:t>B</a:t>
            </a:r>
          </a:p>
        </p:txBody>
      </p:sp>
      <p:sp>
        <p:nvSpPr>
          <p:cNvPr id="5" name="Freeform 4"/>
          <p:cNvSpPr/>
          <p:nvPr/>
        </p:nvSpPr>
        <p:spPr>
          <a:xfrm>
            <a:off x="731520" y="6291072"/>
            <a:ext cx="237744" cy="265713"/>
          </a:xfrm>
          <a:custGeom>
            <a:avLst/>
            <a:gdLst/>
            <a:ahLst/>
            <a:cxnLst/>
            <a:rect l="l" t="t" r="r" b="b"/>
            <a:pathLst>
              <a:path w="237744" h="265713">
                <a:moveTo>
                  <a:pt x="0" y="0"/>
                </a:moveTo>
                <a:lnTo>
                  <a:pt x="166420" y="0"/>
                </a:lnTo>
                <a:lnTo>
                  <a:pt x="237744" y="69085"/>
                </a:lnTo>
                <a:lnTo>
                  <a:pt x="237744" y="265713"/>
                </a:lnTo>
                <a:lnTo>
                  <a:pt x="71323" y="265713"/>
                </a:lnTo>
                <a:lnTo>
                  <a:pt x="0" y="196627"/>
                </a:lnTo>
                <a:close/>
              </a:path>
            </a:pathLst>
          </a:custGeom>
          <a:solidFill>
            <a:srgbClr val="C7F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12329"/>
            <a:ext cx="237744" cy="2231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142008"/>
                </a:solidFill>
                <a:latin typeface="Manrope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" y="624535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6F9FC"/>
                </a:solidFill>
                <a:latin typeface="Manrope"/>
              </a:rPr>
              <a:t>breaker</a:t>
            </a:r>
            <a:r>
              <a:rPr sz="1300" b="1">
                <a:solidFill>
                  <a:srgbClr val="C7FA70"/>
                </a:solidFill>
                <a:latin typeface="Manrope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6975" y="6254496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7F8B9B"/>
                </a:solidFill>
                <a:latin typeface="DM Sans"/>
              </a:rPr>
              <a:t>8 /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7FA70"/>
                </a:solidFill>
                <a:latin typeface="DM Sans"/>
              </a:rPr>
              <a:t>ÉQUIPE · LIMITES · SUITE  </a:t>
            </a:r>
            <a:r>
              <a:rPr sz="1100" b="0">
                <a:solidFill>
                  <a:srgbClr val="A9B4C2"/>
                </a:solidFill>
                <a:latin typeface="DM Sans"/>
              </a:rPr>
              <a:t>36 heures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88575" y="45720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101C2E"/>
          </a:solidFill>
          <a:ln w="9525">
            <a:solidFill>
              <a:srgbClr val="263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8575" y="457200"/>
            <a:ext cx="13716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C7FA70"/>
                </a:solidFill>
                <a:latin typeface="DM Sans"/>
              </a:rPr>
              <a:t>TIMÉO · ROMAIN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960120"/>
            <a:ext cx="935705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6F9FC"/>
                </a:solidFill>
                <a:latin typeface="Manrope"/>
              </a:rPr>
              <a:t>Conçu pour être vérifié, pas pour être cru.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286000"/>
            <a:ext cx="51814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C481"/>
                </a:solidFill>
                <a:latin typeface="DM Sans"/>
              </a:rPr>
              <a:t>Ce qu'on ne cache pas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697480"/>
            <a:ext cx="5181447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E7EDF4"/>
                </a:solidFill>
                <a:latin typeface="DM Sans"/>
              </a:rPr>
              <a:t>•  Données synthétiques : une organisation fictive, trois mois de trafic.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E7EDF4"/>
                </a:solidFill>
                <a:latin typeface="DM Sans"/>
              </a:rPr>
              <a:t>•  Contrat non audité par un tiers ; réseau de test.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E7EDF4"/>
                </a:solidFill>
                <a:latin typeface="DM Sans"/>
              </a:rPr>
              <a:t>•  Le multisig de la démo tient lieu du Safe du client : le greffon reste à écrire.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E7EDF4"/>
                </a:solidFill>
                <a:latin typeface="DM Sans"/>
              </a:rPr>
              <a:t>•  Aucun client interrogé, aucun prix validé par le marché.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286000"/>
            <a:ext cx="51814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C7FA70"/>
                </a:solidFill>
                <a:latin typeface="DM Sans"/>
              </a:rPr>
              <a:t>Les 90 prochains jours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8727" y="2697480"/>
            <a:ext cx="5181447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E7EDF4"/>
                </a:solidFill>
                <a:latin typeface="DM Sans"/>
              </a:rPr>
              <a:t>•  Dès ce mois-ci : 10 organisations en observation gratuite, présentées par l'écosystème Avalanche.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E7EDF4"/>
                </a:solidFill>
                <a:latin typeface="DM Sans"/>
              </a:rPr>
              <a:t>•  Portage en Guard + Module de Safe · notifications · rejeu de Bybit et Drift sur données réelles.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E7EDF4"/>
                </a:solidFill>
                <a:latin typeface="DM Sans"/>
              </a:rPr>
              <a:t>•  Audit externe financé par subvention, avant le premier euro.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983480"/>
            <a:ext cx="73152" cy="685800"/>
          </a:xfrm>
          <a:prstGeom prst="rect">
            <a:avLst/>
          </a:prstGeom>
          <a:solidFill>
            <a:srgbClr val="C7F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937760"/>
            <a:ext cx="107286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6F9FC"/>
                </a:solidFill>
                <a:latin typeface="Manrope"/>
              </a:rPr>
              <a:t>Vos fonds. Vos signataires. Votre dernier mot.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623560"/>
            <a:ext cx="107286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F8B9B"/>
                </a:solidFill>
                <a:latin typeface="DM Sans"/>
              </a:rPr>
              <a:t>Romain, business · Timéo, technique · github.com/veryromain/hackathon-ia-cyber-romain-timeo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265615" y="-822960"/>
            <a:ext cx="3291840" cy="3679115"/>
          </a:xfrm>
          <a:custGeom>
            <a:avLst/>
            <a:gdLst/>
            <a:ahLst/>
            <a:cxnLst/>
            <a:rect l="l" t="t" r="r" b="b"/>
            <a:pathLst>
              <a:path w="3291840" h="3679115">
                <a:moveTo>
                  <a:pt x="0" y="0"/>
                </a:moveTo>
                <a:lnTo>
                  <a:pt x="2304288" y="0"/>
                </a:lnTo>
                <a:lnTo>
                  <a:pt x="3291840" y="956569"/>
                </a:lnTo>
                <a:lnTo>
                  <a:pt x="3291840" y="3679115"/>
                </a:lnTo>
                <a:lnTo>
                  <a:pt x="987552" y="3679115"/>
                </a:lnTo>
                <a:lnTo>
                  <a:pt x="0" y="2722545"/>
                </a:lnTo>
                <a:close/>
              </a:path>
            </a:pathLst>
          </a:custGeom>
          <a:solidFill>
            <a:srgbClr val="0B17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65615" y="-528631"/>
            <a:ext cx="3291840" cy="3090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800" b="1">
                <a:solidFill>
                  <a:srgbClr val="0B1728"/>
                </a:solidFill>
                <a:latin typeface="Manrope"/>
              </a:rPr>
              <a:t>B</a:t>
            </a:r>
          </a:p>
        </p:txBody>
      </p:sp>
      <p:sp>
        <p:nvSpPr>
          <p:cNvPr id="5" name="Freeform 4"/>
          <p:cNvSpPr/>
          <p:nvPr/>
        </p:nvSpPr>
        <p:spPr>
          <a:xfrm>
            <a:off x="731520" y="6291072"/>
            <a:ext cx="237744" cy="265713"/>
          </a:xfrm>
          <a:custGeom>
            <a:avLst/>
            <a:gdLst/>
            <a:ahLst/>
            <a:cxnLst/>
            <a:rect l="l" t="t" r="r" b="b"/>
            <a:pathLst>
              <a:path w="237744" h="265713">
                <a:moveTo>
                  <a:pt x="0" y="0"/>
                </a:moveTo>
                <a:lnTo>
                  <a:pt x="166420" y="0"/>
                </a:lnTo>
                <a:lnTo>
                  <a:pt x="237744" y="69085"/>
                </a:lnTo>
                <a:lnTo>
                  <a:pt x="237744" y="265713"/>
                </a:lnTo>
                <a:lnTo>
                  <a:pt x="71323" y="265713"/>
                </a:lnTo>
                <a:lnTo>
                  <a:pt x="0" y="196627"/>
                </a:lnTo>
                <a:close/>
              </a:path>
            </a:pathLst>
          </a:custGeom>
          <a:solidFill>
            <a:srgbClr val="C7F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12329"/>
            <a:ext cx="237744" cy="2231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142008"/>
                </a:solidFill>
                <a:latin typeface="Manrope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" y="624535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6F9FC"/>
                </a:solidFill>
                <a:latin typeface="Manrope"/>
              </a:rPr>
              <a:t>breaker</a:t>
            </a:r>
            <a:r>
              <a:rPr sz="1300" b="1">
                <a:solidFill>
                  <a:srgbClr val="C7FA70"/>
                </a:solidFill>
                <a:latin typeface="Manrope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6975" y="6254496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7F8B9B"/>
                </a:solidFill>
                <a:latin typeface="DM Sans"/>
              </a:rPr>
              <a:t>annexe A1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C481"/>
                </a:solidFill>
                <a:latin typeface="DM Sans"/>
              </a:rPr>
              <a:t>ANNEXE A1 · CONFORMITÉ  </a:t>
            </a:r>
            <a:r>
              <a:rPr sz="1100" b="0">
                <a:solidFill>
                  <a:srgbClr val="A9B4C2"/>
                </a:solidFill>
                <a:latin typeface="DM Sans"/>
              </a:rPr>
              <a:t>DORA, MiCA, LCB-FT, AI Act, et comment un auditeur vérifie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88575" y="45720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101C2E"/>
          </a:solidFill>
          <a:ln w="9525">
            <a:solidFill>
              <a:srgbClr val="263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8575" y="457200"/>
            <a:ext cx="13716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C7FA70"/>
                </a:solidFill>
                <a:latin typeface="DM Sans"/>
              </a:rPr>
              <a:t>ROMAIN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960120"/>
            <a:ext cx="935705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800" b="1">
                <a:solidFill>
                  <a:srgbClr val="F6F9FC"/>
                </a:solidFill>
                <a:latin typeface="Manrope"/>
              </a:rPr>
              <a:t>Nous ne détenons jamais de fonds. Chaque décision est sur la chaîne, avec ses raisons.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67128"/>
            <a:ext cx="132588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7F8B9B"/>
                </a:solidFill>
                <a:latin typeface="DM Sans"/>
              </a:rPr>
              <a:t>Cadre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167128"/>
            <a:ext cx="61722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7F8B9B"/>
                </a:solidFill>
                <a:latin typeface="DM Sans"/>
              </a:rPr>
              <a:t>Ce que ça implique pour Breaker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167128"/>
            <a:ext cx="281909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7F8B9B"/>
                </a:solidFill>
                <a:latin typeface="DM Sans"/>
              </a:rPr>
              <a:t>Preuve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700624"/>
            <a:ext cx="10728655" cy="6000"/>
          </a:xfrm>
          <a:prstGeom prst="rect">
            <a:avLst/>
          </a:prstGeom>
          <a:solidFill>
            <a:srgbClr val="263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770632"/>
            <a:ext cx="132588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6F9FC"/>
                </a:solidFill>
                <a:latin typeface="DM Sans"/>
              </a:rPr>
              <a:t>MiCA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2770632"/>
            <a:ext cx="61722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E7EDF4"/>
                </a:solidFill>
                <a:latin typeface="DM Sans"/>
              </a:rPr>
              <a:t>Aucune fonction ne peut transférer sans les signatures humaines du client : hors garde d'actifs. Nous sommes éditeur d'un outil, pas dépositaire.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2770632"/>
            <a:ext cx="281909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E7EDF4"/>
                </a:solidFill>
                <a:latin typeface="DM Sans"/>
              </a:rPr>
              <a:t>seul safeTransfer dans execute, quorum requis ; invariant I1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304128"/>
            <a:ext cx="10728655" cy="6000"/>
          </a:xfrm>
          <a:prstGeom prst="rect">
            <a:avLst/>
          </a:prstGeom>
          <a:solidFill>
            <a:srgbClr val="263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374136"/>
            <a:ext cx="132588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6F9FC"/>
                </a:solidFill>
                <a:latin typeface="DM Sans"/>
              </a:rPr>
              <a:t>DORA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3374136"/>
            <a:ext cx="61722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E7EDF4"/>
                </a:solidFill>
                <a:latin typeface="DM Sans"/>
              </a:rPr>
              <a:t>Pour un client régulé, Breaker est un prestataire tiers de services TIC (à confirmer, mentor KPMG). Le rapport d'incident pré-rempli aide à classer et déclarer dans les délais (règl. délégué 2025/301).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3374136"/>
            <a:ext cx="281909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E7EDF4"/>
                </a:solidFill>
                <a:latin typeface="DM Sans"/>
              </a:rPr>
              <a:t>ia-1/score/rapport.py · shared/dora-notes.md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3907632"/>
            <a:ext cx="10728655" cy="6000"/>
          </a:xfrm>
          <a:prstGeom prst="rect">
            <a:avLst/>
          </a:prstGeom>
          <a:solidFill>
            <a:srgbClr val="263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977640"/>
            <a:ext cx="132588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6F9FC"/>
                </a:solidFill>
                <a:latin typeface="DM Sans"/>
              </a:rPr>
              <a:t>LCB-FT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3977640"/>
            <a:ext cx="61722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E7EDF4"/>
                </a:solidFill>
                <a:latin typeface="DM Sans"/>
              </a:rPr>
              <a:t>Listes OFAC et ScamSniffer consultées ; refus pur des adresses sanctionnées activable par le client dans son contrat : ce n'est pas nous qui bloquons.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977640"/>
            <a:ext cx="281909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E7EDF4"/>
                </a:solidFill>
                <a:latin typeface="DM Sans"/>
              </a:rPr>
              <a:t>ia-1/oracle/sources_publiques.py · code FLAGGED_ADDRESS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511136"/>
            <a:ext cx="10728655" cy="6000"/>
          </a:xfrm>
          <a:prstGeom prst="rect">
            <a:avLst/>
          </a:prstGeom>
          <a:solidFill>
            <a:srgbClr val="263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581144"/>
            <a:ext cx="132588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6F9FC"/>
                </a:solidFill>
                <a:latin typeface="DM Sans"/>
              </a:rPr>
              <a:t>AI Act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4581144"/>
            <a:ext cx="61722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E7EDF4"/>
                </a:solidFill>
                <a:latin typeface="DM Sans"/>
              </a:rPr>
              <a:t>Le modèle de langage n'explique que : il ne décide rien. Règles lisibles, chaque alerte cite ses codes ; garde-fous contre l'injection ; validation humaine toujours.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4581144"/>
            <a:ext cx="281909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E7EDF4"/>
                </a:solidFill>
                <a:latin typeface="DM Sans"/>
              </a:rPr>
              <a:t>ia-1/score/explication.py · regles.py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5114640"/>
            <a:ext cx="10728655" cy="6000"/>
          </a:xfrm>
          <a:prstGeom prst="rect">
            <a:avLst/>
          </a:prstGeom>
          <a:solidFill>
            <a:srgbClr val="263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184648"/>
            <a:ext cx="132588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6F9FC"/>
                </a:solidFill>
                <a:latin typeface="DM Sans"/>
              </a:rPr>
              <a:t>Auditabilité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94560" y="5184648"/>
            <a:ext cx="61722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E7EDF4"/>
                </a:solidFill>
                <a:latin typeface="DM Sans"/>
              </a:rPr>
              <a:t>Chaque signalement est un événement on-chain avec ses raisons ; l'oracle ne retient une accusation que s'il retrouve la citation exacte et en inscrit le hash. Tout se rejoue depuis le dépôt.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5184648"/>
            <a:ext cx="281909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E7EDF4"/>
                </a:solidFill>
                <a:latin typeface="DM Sans"/>
              </a:rPr>
              <a:t>RiskRegistry · evidence_hash · scenario_*.js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5718144"/>
            <a:ext cx="10728655" cy="6000"/>
          </a:xfrm>
          <a:prstGeom prst="rect">
            <a:avLst/>
          </a:prstGeom>
          <a:solidFill>
            <a:srgbClr val="263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265615" y="-822960"/>
            <a:ext cx="3291840" cy="3679115"/>
          </a:xfrm>
          <a:custGeom>
            <a:avLst/>
            <a:gdLst/>
            <a:ahLst/>
            <a:cxnLst/>
            <a:rect l="l" t="t" r="r" b="b"/>
            <a:pathLst>
              <a:path w="3291840" h="3679115">
                <a:moveTo>
                  <a:pt x="0" y="0"/>
                </a:moveTo>
                <a:lnTo>
                  <a:pt x="2304288" y="0"/>
                </a:lnTo>
                <a:lnTo>
                  <a:pt x="3291840" y="956569"/>
                </a:lnTo>
                <a:lnTo>
                  <a:pt x="3291840" y="3679115"/>
                </a:lnTo>
                <a:lnTo>
                  <a:pt x="987552" y="3679115"/>
                </a:lnTo>
                <a:lnTo>
                  <a:pt x="0" y="2722545"/>
                </a:lnTo>
                <a:close/>
              </a:path>
            </a:pathLst>
          </a:custGeom>
          <a:solidFill>
            <a:srgbClr val="0B17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65615" y="-528631"/>
            <a:ext cx="3291840" cy="3090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800" b="1">
                <a:solidFill>
                  <a:srgbClr val="0B1728"/>
                </a:solidFill>
                <a:latin typeface="Manrope"/>
              </a:rPr>
              <a:t>B</a:t>
            </a:r>
          </a:p>
        </p:txBody>
      </p:sp>
      <p:sp>
        <p:nvSpPr>
          <p:cNvPr id="5" name="Freeform 4"/>
          <p:cNvSpPr/>
          <p:nvPr/>
        </p:nvSpPr>
        <p:spPr>
          <a:xfrm>
            <a:off x="731520" y="6291072"/>
            <a:ext cx="237744" cy="265713"/>
          </a:xfrm>
          <a:custGeom>
            <a:avLst/>
            <a:gdLst/>
            <a:ahLst/>
            <a:cxnLst/>
            <a:rect l="l" t="t" r="r" b="b"/>
            <a:pathLst>
              <a:path w="237744" h="265713">
                <a:moveTo>
                  <a:pt x="0" y="0"/>
                </a:moveTo>
                <a:lnTo>
                  <a:pt x="166420" y="0"/>
                </a:lnTo>
                <a:lnTo>
                  <a:pt x="237744" y="69085"/>
                </a:lnTo>
                <a:lnTo>
                  <a:pt x="237744" y="265713"/>
                </a:lnTo>
                <a:lnTo>
                  <a:pt x="71323" y="265713"/>
                </a:lnTo>
                <a:lnTo>
                  <a:pt x="0" y="196627"/>
                </a:lnTo>
                <a:close/>
              </a:path>
            </a:pathLst>
          </a:custGeom>
          <a:solidFill>
            <a:srgbClr val="C7F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12329"/>
            <a:ext cx="237744" cy="2231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142008"/>
                </a:solidFill>
                <a:latin typeface="Manrope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" y="624535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6F9FC"/>
                </a:solidFill>
                <a:latin typeface="Manrope"/>
              </a:rPr>
              <a:t>breaker</a:t>
            </a:r>
            <a:r>
              <a:rPr sz="1300" b="1">
                <a:solidFill>
                  <a:srgbClr val="C7FA70"/>
                </a:solidFill>
                <a:latin typeface="Manrope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6975" y="6254496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7F8B9B"/>
                </a:solidFill>
                <a:latin typeface="DM Sans"/>
              </a:rPr>
              <a:t>annexe A2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C481"/>
                </a:solidFill>
                <a:latin typeface="DM Sans"/>
              </a:rPr>
              <a:t>ANNEXE A2 · PLAYBOOK DE RÉPONSE  </a:t>
            </a:r>
            <a:r>
              <a:rPr sz="1100" b="0">
                <a:solidFill>
                  <a:srgbClr val="A9B4C2"/>
                </a:solidFill>
                <a:latin typeface="DM Sans"/>
              </a:rPr>
              <a:t>qui est alerté, ce qui est automatique, ce qui reste humain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88575" y="45720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101C2E"/>
          </a:solidFill>
          <a:ln w="9525">
            <a:solidFill>
              <a:srgbClr val="263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8575" y="457200"/>
            <a:ext cx="13716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C7FA70"/>
                </a:solidFill>
                <a:latin typeface="DM Sans"/>
              </a:rPr>
              <a:t>TIMÉO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960120"/>
            <a:ext cx="935705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800" b="1">
                <a:solidFill>
                  <a:srgbClr val="F6F9FC"/>
                </a:solidFill>
                <a:latin typeface="Manrope"/>
              </a:rPr>
              <a:t>Automatique : regarder, expliquer, freiner. Humain : décider, toujours.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67128"/>
            <a:ext cx="16002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7F8B9B"/>
                </a:solidFill>
                <a:latin typeface="DM Sans"/>
              </a:rPr>
              <a:t>Niveau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2167128"/>
            <a:ext cx="2331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7F8B9B"/>
                </a:solidFill>
                <a:latin typeface="DM Sans"/>
              </a:rPr>
              <a:t>Déclencheur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167128"/>
            <a:ext cx="25146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7F8B9B"/>
                </a:solidFill>
                <a:latin typeface="DM Sans"/>
              </a:rPr>
              <a:t>Automatique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167128"/>
            <a:ext cx="20574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7F8B9B"/>
                </a:solidFill>
                <a:latin typeface="DM Sans"/>
              </a:rPr>
              <a:t>Humain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0" y="2167128"/>
            <a:ext cx="15389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7F8B9B"/>
                </a:solidFill>
                <a:latin typeface="DM Sans"/>
              </a:rPr>
              <a:t>Alerté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810352"/>
            <a:ext cx="10728655" cy="6000"/>
          </a:xfrm>
          <a:prstGeom prst="rect">
            <a:avLst/>
          </a:prstGeom>
          <a:solidFill>
            <a:srgbClr val="263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880360"/>
            <a:ext cx="16002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>
                <a:solidFill>
                  <a:srgbClr val="F6F9FC"/>
                </a:solidFill>
                <a:latin typeface="DM Sans"/>
              </a:rPr>
              <a:t>Aucun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2880360"/>
            <a:ext cx="2331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7EDF4"/>
                </a:solidFill>
                <a:latin typeface="DM Sans"/>
              </a:rPr>
              <a:t>bénéficiaire connu, montant habituel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2880360"/>
            <a:ext cx="25146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7EDF4"/>
                </a:solidFill>
                <a:latin typeface="DM Sans"/>
              </a:rPr>
              <a:t>journalisé : score et raisons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880360"/>
            <a:ext cx="20574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7EDF4"/>
                </a:solidFill>
                <a:latin typeface="DM Sans"/>
              </a:rPr>
              <a:t>signatures normales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2880360"/>
            <a:ext cx="15389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7EDF4"/>
                </a:solidFill>
                <a:latin typeface="DM Sans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3523584"/>
            <a:ext cx="10728655" cy="6000"/>
          </a:xfrm>
          <a:prstGeom prst="rect">
            <a:avLst/>
          </a:prstGeom>
          <a:solidFill>
            <a:srgbClr val="263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593592"/>
            <a:ext cx="16002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>
                <a:solidFill>
                  <a:srgbClr val="F6F9FC"/>
                </a:solidFill>
                <a:latin typeface="DM Sans"/>
              </a:rPr>
              <a:t>Signature en plus (≥ 0,30)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0" y="3593592"/>
            <a:ext cx="2331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7EDF4"/>
                </a:solidFill>
                <a:latin typeface="DM Sans"/>
              </a:rPr>
              <a:t>nouveau bénéficiaire, montant inhabituel, « urgent », hors heures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3593592"/>
            <a:ext cx="25146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7EDF4"/>
                </a:solidFill>
                <a:latin typeface="DM Sans"/>
              </a:rPr>
              <a:t>exige une signature de plus ; explication en français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3593592"/>
            <a:ext cx="20574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7EDF4"/>
                </a:solidFill>
                <a:latin typeface="DM Sans"/>
              </a:rPr>
              <a:t>un signataire supplémentaire relit « ce que vous signez 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0" y="3593592"/>
            <a:ext cx="15389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7EDF4"/>
                </a:solidFill>
                <a:latin typeface="DM Sans"/>
              </a:rPr>
              <a:t>tous les signataires (tableau de bord, e-mail / Telegram)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4236816"/>
            <a:ext cx="10728655" cy="6000"/>
          </a:xfrm>
          <a:prstGeom prst="rect">
            <a:avLst/>
          </a:prstGeom>
          <a:solidFill>
            <a:srgbClr val="263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306824"/>
            <a:ext cx="16002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>
                <a:solidFill>
                  <a:srgbClr val="F6F9FC"/>
                </a:solidFill>
                <a:latin typeface="DM Sans"/>
              </a:rPr>
              <a:t>Mise en attente (≥ 0,75)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80" y="4306824"/>
            <a:ext cx="2331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7EDF4"/>
                </a:solidFill>
                <a:latin typeface="DM Sans"/>
              </a:rPr>
              <a:t>rafale, adresse signalée, fonds souillés, sosie, nouveau signataire qui pousse un gros paiement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37760" y="4306824"/>
            <a:ext cx="25146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7EDF4"/>
                </a:solidFill>
                <a:latin typeface="DM Sans"/>
              </a:rPr>
              <a:t>attente (180 s en démo, 24 h en réel) + signature en plus ; rapport d'incident pré-rempli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4306824"/>
            <a:ext cx="20574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7EDF4"/>
                </a:solidFill>
                <a:latin typeface="DM Sans"/>
              </a:rPr>
              <a:t>vérifier, annuler, ou lever à l'unanimité ; juger vraie / fausse alerte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4306824"/>
            <a:ext cx="15389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7EDF4"/>
                </a:solidFill>
                <a:latin typeface="DM Sans"/>
              </a:rPr>
              <a:t>tous les signataires + responsable désigné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4950048"/>
            <a:ext cx="10728655" cy="6000"/>
          </a:xfrm>
          <a:prstGeom prst="rect">
            <a:avLst/>
          </a:prstGeom>
          <a:solidFill>
            <a:srgbClr val="263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020056"/>
            <a:ext cx="16002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>
                <a:solidFill>
                  <a:srgbClr val="F6F9FC"/>
                </a:solidFill>
                <a:latin typeface="DM Sans"/>
              </a:rPr>
              <a:t>Gel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8880" y="5020056"/>
            <a:ext cx="2331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7EDF4"/>
                </a:solidFill>
                <a:latin typeface="DM Sans"/>
              </a:rPr>
              <a:t>clé compromise, signature sous contrainte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37760" y="5020056"/>
            <a:ext cx="25146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7EDF4"/>
                </a:solidFill>
                <a:latin typeface="DM Sans"/>
              </a:rPr>
              <a:t>clé d'identité : révocation immédiate par la victime seule ; clé de contrainte : gel silencieux, alerte privée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89520" y="5020056"/>
            <a:ext cx="20574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7EDF4"/>
                </a:solidFill>
                <a:latin typeface="DM Sans"/>
              </a:rPr>
              <a:t>remplacer la clé, dégeler à la majorité des clés saines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5020056"/>
            <a:ext cx="15389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7EDF4"/>
                </a:solidFill>
                <a:latin typeface="DM Sans"/>
              </a:rPr>
              <a:t>canal privé aux autres signataires, jamais on-chain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1520" y="5663280"/>
            <a:ext cx="10728655" cy="6000"/>
          </a:xfrm>
          <a:prstGeom prst="rect">
            <a:avLst/>
          </a:prstGeom>
          <a:solidFill>
            <a:srgbClr val="263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265615" y="-822960"/>
            <a:ext cx="3291840" cy="3679115"/>
          </a:xfrm>
          <a:custGeom>
            <a:avLst/>
            <a:gdLst/>
            <a:ahLst/>
            <a:cxnLst/>
            <a:rect l="l" t="t" r="r" b="b"/>
            <a:pathLst>
              <a:path w="3291840" h="3679115">
                <a:moveTo>
                  <a:pt x="0" y="0"/>
                </a:moveTo>
                <a:lnTo>
                  <a:pt x="2304288" y="0"/>
                </a:lnTo>
                <a:lnTo>
                  <a:pt x="3291840" y="956569"/>
                </a:lnTo>
                <a:lnTo>
                  <a:pt x="3291840" y="3679115"/>
                </a:lnTo>
                <a:lnTo>
                  <a:pt x="987552" y="3679115"/>
                </a:lnTo>
                <a:lnTo>
                  <a:pt x="0" y="2722545"/>
                </a:lnTo>
                <a:close/>
              </a:path>
            </a:pathLst>
          </a:custGeom>
          <a:solidFill>
            <a:srgbClr val="0B17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65615" y="-528631"/>
            <a:ext cx="3291840" cy="3090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800" b="1">
                <a:solidFill>
                  <a:srgbClr val="0B1728"/>
                </a:solidFill>
                <a:latin typeface="Manrope"/>
              </a:rPr>
              <a:t>B</a:t>
            </a:r>
          </a:p>
        </p:txBody>
      </p:sp>
      <p:sp>
        <p:nvSpPr>
          <p:cNvPr id="5" name="Freeform 4"/>
          <p:cNvSpPr/>
          <p:nvPr/>
        </p:nvSpPr>
        <p:spPr>
          <a:xfrm>
            <a:off x="731520" y="6291072"/>
            <a:ext cx="237744" cy="265713"/>
          </a:xfrm>
          <a:custGeom>
            <a:avLst/>
            <a:gdLst/>
            <a:ahLst/>
            <a:cxnLst/>
            <a:rect l="l" t="t" r="r" b="b"/>
            <a:pathLst>
              <a:path w="237744" h="265713">
                <a:moveTo>
                  <a:pt x="0" y="0"/>
                </a:moveTo>
                <a:lnTo>
                  <a:pt x="166420" y="0"/>
                </a:lnTo>
                <a:lnTo>
                  <a:pt x="237744" y="69085"/>
                </a:lnTo>
                <a:lnTo>
                  <a:pt x="237744" y="265713"/>
                </a:lnTo>
                <a:lnTo>
                  <a:pt x="71323" y="265713"/>
                </a:lnTo>
                <a:lnTo>
                  <a:pt x="0" y="196627"/>
                </a:lnTo>
                <a:close/>
              </a:path>
            </a:pathLst>
          </a:custGeom>
          <a:solidFill>
            <a:srgbClr val="C7F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12329"/>
            <a:ext cx="237744" cy="2231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142008"/>
                </a:solidFill>
                <a:latin typeface="Manrope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" y="624535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6F9FC"/>
                </a:solidFill>
                <a:latin typeface="Manrope"/>
              </a:rPr>
              <a:t>breaker</a:t>
            </a:r>
            <a:r>
              <a:rPr sz="1300" b="1">
                <a:solidFill>
                  <a:srgbClr val="C7FA70"/>
                </a:solidFill>
                <a:latin typeface="Manrope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6975" y="6254496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7F8B9B"/>
                </a:solidFill>
                <a:latin typeface="DM Sans"/>
              </a:rPr>
              <a:t>annexe A3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C481"/>
                </a:solidFill>
                <a:latin typeface="DM Sans"/>
              </a:rPr>
              <a:t>ANNEXE A3 · SÉCURITÉ DU CONTRAT  </a:t>
            </a:r>
            <a:r>
              <a:rPr sz="1100" b="0">
                <a:solidFill>
                  <a:srgbClr val="A9B4C2"/>
                </a:solidFill>
                <a:latin typeface="DM Sans"/>
              </a:rPr>
              <a:t>chaque phrase est vérifiable en une commande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88575" y="45720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101C2E"/>
          </a:solidFill>
          <a:ln w="9525">
            <a:solidFill>
              <a:srgbClr val="263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8575" y="457200"/>
            <a:ext cx="13716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C7FA70"/>
                </a:solidFill>
                <a:latin typeface="DM Sans"/>
              </a:rPr>
              <a:t>TIMÉO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960120"/>
            <a:ext cx="935705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800" b="1">
                <a:solidFill>
                  <a:srgbClr val="F6F9FC"/>
                </a:solidFill>
                <a:latin typeface="Manrope"/>
              </a:rPr>
              <a:t>Pas encore audité par un tiers. Voici ce qu'on a fait à la place, et ce que ça vaut.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194560"/>
            <a:ext cx="2531287" cy="1463040"/>
          </a:xfrm>
          <a:prstGeom prst="roundRect">
            <a:avLst>
              <a:gd name="adj" fmla="val 8000"/>
            </a:avLst>
          </a:prstGeom>
          <a:solidFill>
            <a:srgbClr val="101C2E"/>
          </a:solidFill>
          <a:ln w="9525">
            <a:solidFill>
              <a:srgbClr val="263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2194560"/>
            <a:ext cx="54864" cy="1463040"/>
          </a:xfrm>
          <a:prstGeom prst="rect">
            <a:avLst/>
          </a:prstGeom>
          <a:solidFill>
            <a:srgbClr val="C7F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395728"/>
            <a:ext cx="20740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C7FA70"/>
                </a:solidFill>
                <a:latin typeface="Manrope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054096"/>
            <a:ext cx="207408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B4C2"/>
                </a:solidFill>
                <a:latin typeface="DM Sans"/>
              </a:rPr>
              <a:t>détection haute ou moyenne (Slither 0.11, solc 0.8.24)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63975" y="2194560"/>
            <a:ext cx="2531287" cy="1463040"/>
          </a:xfrm>
          <a:prstGeom prst="roundRect">
            <a:avLst>
              <a:gd name="adj" fmla="val 8000"/>
            </a:avLst>
          </a:prstGeom>
          <a:solidFill>
            <a:srgbClr val="101C2E"/>
          </a:solidFill>
          <a:ln w="9525">
            <a:solidFill>
              <a:srgbClr val="263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63975" y="2194560"/>
            <a:ext cx="54864" cy="1463040"/>
          </a:xfrm>
          <a:prstGeom prst="rect">
            <a:avLst/>
          </a:prstGeom>
          <a:solidFill>
            <a:srgbClr val="F6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38295" y="2395728"/>
            <a:ext cx="20740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6F9FC"/>
                </a:solidFill>
                <a:latin typeface="Manrope"/>
              </a:rPr>
              <a:t>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38295" y="3054096"/>
            <a:ext cx="207408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B4C2"/>
                </a:solidFill>
                <a:latin typeface="DM Sans"/>
              </a:rPr>
              <a:t>tests unitaires (npx hardhat test)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6430" y="2194560"/>
            <a:ext cx="2531287" cy="1463040"/>
          </a:xfrm>
          <a:prstGeom prst="roundRect">
            <a:avLst>
              <a:gd name="adj" fmla="val 8000"/>
            </a:avLst>
          </a:prstGeom>
          <a:solidFill>
            <a:srgbClr val="101C2E"/>
          </a:solidFill>
          <a:ln w="9525">
            <a:solidFill>
              <a:srgbClr val="263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6430" y="2194560"/>
            <a:ext cx="54864" cy="1463040"/>
          </a:xfrm>
          <a:prstGeom prst="rect">
            <a:avLst/>
          </a:prstGeom>
          <a:solidFill>
            <a:srgbClr val="F6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0750" y="2395728"/>
            <a:ext cx="20740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6F9FC"/>
                </a:solidFill>
                <a:latin typeface="Manrope"/>
              </a:rPr>
              <a:t>6 926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0750" y="3054096"/>
            <a:ext cx="207408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B4C2"/>
                </a:solidFill>
                <a:latin typeface="DM Sans"/>
              </a:rPr>
              <a:t>appels aléatoires, 300 séquences, 8 types d'acteurs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28885" y="2194560"/>
            <a:ext cx="2531287" cy="1463040"/>
          </a:xfrm>
          <a:prstGeom prst="roundRect">
            <a:avLst>
              <a:gd name="adj" fmla="val 8000"/>
            </a:avLst>
          </a:prstGeom>
          <a:solidFill>
            <a:srgbClr val="101C2E"/>
          </a:solidFill>
          <a:ln w="9525">
            <a:solidFill>
              <a:srgbClr val="263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28885" y="2194560"/>
            <a:ext cx="54864" cy="1463040"/>
          </a:xfrm>
          <a:prstGeom prst="rect">
            <a:avLst/>
          </a:prstGeom>
          <a:solidFill>
            <a:srgbClr val="C7F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03205" y="2395728"/>
            <a:ext cx="20740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C7FA70"/>
                </a:solidFill>
                <a:latin typeface="Manrope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03205" y="3054096"/>
            <a:ext cx="207408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B4C2"/>
                </a:solidFill>
                <a:latin typeface="DM Sans"/>
              </a:rPr>
              <a:t>invariant violé sur les 6 promesses du contrat (I1–I6)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931920"/>
            <a:ext cx="1072865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E7EDF4"/>
                </a:solidFill>
                <a:latin typeface="DM Sans"/>
              </a:rPr>
              <a:t>•  L'architecture borne le risque : aucune fonction, pas même la nôtre, ne transfère sans les signatures du client. Le pire bug possible est un faux ralentissement.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E7EDF4"/>
                </a:solidFill>
                <a:latin typeface="DM Sans"/>
              </a:rPr>
              <a:t>•  Code public, licence MIT, commandes dans shared/audit-contrat.md.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E7EDF4"/>
                </a:solidFill>
                <a:latin typeface="DM Sans"/>
              </a:rPr>
              <a:t>•  Audit externe avant le premier client payant ; surface d'environ 500 lignes, sans garde de fonds.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265615" y="-822960"/>
            <a:ext cx="3291840" cy="3679115"/>
          </a:xfrm>
          <a:custGeom>
            <a:avLst/>
            <a:gdLst/>
            <a:ahLst/>
            <a:cxnLst/>
            <a:rect l="l" t="t" r="r" b="b"/>
            <a:pathLst>
              <a:path w="3291840" h="3679115">
                <a:moveTo>
                  <a:pt x="0" y="0"/>
                </a:moveTo>
                <a:lnTo>
                  <a:pt x="2304288" y="0"/>
                </a:lnTo>
                <a:lnTo>
                  <a:pt x="3291840" y="956569"/>
                </a:lnTo>
                <a:lnTo>
                  <a:pt x="3291840" y="3679115"/>
                </a:lnTo>
                <a:lnTo>
                  <a:pt x="987552" y="3679115"/>
                </a:lnTo>
                <a:lnTo>
                  <a:pt x="0" y="2722545"/>
                </a:lnTo>
                <a:close/>
              </a:path>
            </a:pathLst>
          </a:custGeom>
          <a:solidFill>
            <a:srgbClr val="0B17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65615" y="-528631"/>
            <a:ext cx="3291840" cy="3090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800" b="1">
                <a:solidFill>
                  <a:srgbClr val="0B1728"/>
                </a:solidFill>
                <a:latin typeface="Manrope"/>
              </a:rPr>
              <a:t>B</a:t>
            </a:r>
          </a:p>
        </p:txBody>
      </p:sp>
      <p:sp>
        <p:nvSpPr>
          <p:cNvPr id="5" name="Freeform 4"/>
          <p:cNvSpPr/>
          <p:nvPr/>
        </p:nvSpPr>
        <p:spPr>
          <a:xfrm>
            <a:off x="731520" y="6291072"/>
            <a:ext cx="237744" cy="265713"/>
          </a:xfrm>
          <a:custGeom>
            <a:avLst/>
            <a:gdLst/>
            <a:ahLst/>
            <a:cxnLst/>
            <a:rect l="l" t="t" r="r" b="b"/>
            <a:pathLst>
              <a:path w="237744" h="265713">
                <a:moveTo>
                  <a:pt x="0" y="0"/>
                </a:moveTo>
                <a:lnTo>
                  <a:pt x="166420" y="0"/>
                </a:lnTo>
                <a:lnTo>
                  <a:pt x="237744" y="69085"/>
                </a:lnTo>
                <a:lnTo>
                  <a:pt x="237744" y="265713"/>
                </a:lnTo>
                <a:lnTo>
                  <a:pt x="71323" y="265713"/>
                </a:lnTo>
                <a:lnTo>
                  <a:pt x="0" y="196627"/>
                </a:lnTo>
                <a:close/>
              </a:path>
            </a:pathLst>
          </a:custGeom>
          <a:solidFill>
            <a:srgbClr val="C7F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12329"/>
            <a:ext cx="237744" cy="2231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142008"/>
                </a:solidFill>
                <a:latin typeface="Manrope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" y="624535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6F9FC"/>
                </a:solidFill>
                <a:latin typeface="Manrope"/>
              </a:rPr>
              <a:t>breaker</a:t>
            </a:r>
            <a:r>
              <a:rPr sz="1300" b="1">
                <a:solidFill>
                  <a:srgbClr val="C7FA70"/>
                </a:solidFill>
                <a:latin typeface="Manrope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6975" y="6254496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7F8B9B"/>
                </a:solidFill>
                <a:latin typeface="DM Sans"/>
              </a:rPr>
              <a:t>annexe A4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C481"/>
                </a:solidFill>
                <a:latin typeface="DM Sans"/>
              </a:rPr>
              <a:t>ANNEXE A4 · LES CHIFFRES ET LEURS SOURCES  </a:t>
            </a:r>
            <a:r>
              <a:rPr sz="1100" b="0">
                <a:solidFill>
                  <a:srgbClr val="A9B4C2"/>
                </a:solidFill>
                <a:latin typeface="DM Sans"/>
              </a:rPr>
              <a:t>rien d'arbitraire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88575" y="45720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101C2E"/>
          </a:solidFill>
          <a:ln w="9525">
            <a:solidFill>
              <a:srgbClr val="2633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8575" y="457200"/>
            <a:ext cx="13716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C7FA70"/>
                </a:solidFill>
                <a:latin typeface="DM Sans"/>
              </a:rPr>
              <a:t>ROMAIN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960120"/>
            <a:ext cx="935705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800" b="1">
                <a:solidFill>
                  <a:srgbClr val="F6F9FC"/>
                </a:solidFill>
                <a:latin typeface="Manrope"/>
              </a:rPr>
              <a:t>Chaque nombre dit à l'oral a une source externe ou un calcul explicite.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67128"/>
            <a:ext cx="2971800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7F8B9B"/>
                </a:solidFill>
                <a:latin typeface="DM Sans"/>
              </a:rPr>
              <a:t>Chiffre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167128"/>
            <a:ext cx="7482535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7F8B9B"/>
                </a:solidFill>
                <a:latin typeface="DM Sans"/>
              </a:rPr>
              <a:t>Source ou calcul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435448"/>
            <a:ext cx="10728655" cy="6000"/>
          </a:xfrm>
          <a:prstGeom prst="rect">
            <a:avLst/>
          </a:prstGeom>
          <a:solidFill>
            <a:srgbClr val="263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505456"/>
            <a:ext cx="2971800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6F9FC"/>
                </a:solidFill>
                <a:latin typeface="DM Sans"/>
              </a:rPr>
              <a:t>8 694 · 1 359 · 675 protocoles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2505456"/>
            <a:ext cx="7482535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E7EDF4"/>
                </a:solidFill>
                <a:latin typeface="DM Sans"/>
              </a:rPr>
              <a:t>API DeFiLlama api.llama.fi/protocols, lue le 11/10/2026 ; seuils TVL &gt; 0, &gt; 1 M$, &gt; 10 M$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773776"/>
            <a:ext cx="10728655" cy="6000"/>
          </a:xfrm>
          <a:prstGeom prst="rect">
            <a:avLst/>
          </a:prstGeom>
          <a:solidFill>
            <a:srgbClr val="263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843784"/>
            <a:ext cx="2971800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6F9FC"/>
                </a:solidFill>
                <a:latin typeface="DM Sans"/>
              </a:rPr>
              <a:t>561 · 71 · 22 sur Avalanche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2843784"/>
            <a:ext cx="7482535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E7EDF4"/>
                </a:solidFill>
                <a:latin typeface="DM Sans"/>
              </a:rPr>
              <a:t>même API, champ chainTvls.Avalanche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112104"/>
            <a:ext cx="10728655" cy="6000"/>
          </a:xfrm>
          <a:prstGeom prst="rect">
            <a:avLst/>
          </a:prstGeom>
          <a:solidFill>
            <a:srgbClr val="263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182112"/>
            <a:ext cx="2971800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6F9FC"/>
                </a:solidFill>
                <a:latin typeface="DM Sans"/>
              </a:rPr>
              <a:t>≈ 220 DAO &gt; 1 M$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3182112"/>
            <a:ext cx="7482535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E7EDF4"/>
                </a:solidFill>
                <a:latin typeface="DM Sans"/>
              </a:rPr>
              <a:t>DeepDAO (T1 2026), via DAO Times / eco.com ; à confirmer sur deepdao.io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3450432"/>
            <a:ext cx="10728655" cy="6000"/>
          </a:xfrm>
          <a:prstGeom prst="rect">
            <a:avLst/>
          </a:prstGeom>
          <a:solidFill>
            <a:srgbClr val="263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520440"/>
            <a:ext cx="2971800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6F9FC"/>
                </a:solidFill>
                <a:latin typeface="DM Sans"/>
              </a:rPr>
              <a:t>35,25 Md$ · 61 M comptes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3520440"/>
            <a:ext cx="7482535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E7EDF4"/>
                </a:solidFill>
                <a:latin typeface="DM Sans"/>
              </a:rPr>
              <a:t>Safe Foundation, rapport T1 2026 (23/04/2026)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3788760"/>
            <a:ext cx="10728655" cy="6000"/>
          </a:xfrm>
          <a:prstGeom prst="rect">
            <a:avLst/>
          </a:prstGeom>
          <a:solidFill>
            <a:srgbClr val="263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858768"/>
            <a:ext cx="2971800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6F9FC"/>
                </a:solidFill>
                <a:latin typeface="DM Sans"/>
              </a:rPr>
              <a:t>189 € · 669 € · 999 $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3858768"/>
            <a:ext cx="7482535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E7EDF4"/>
                </a:solidFill>
                <a:latin typeface="DM Sans"/>
              </a:rPr>
              <a:t>safe.global/pricing (Safe Pro, 8/10/2026) · fireblocks.com/pricing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4127088"/>
            <a:ext cx="10728655" cy="6000"/>
          </a:xfrm>
          <a:prstGeom prst="rect">
            <a:avLst/>
          </a:prstGeom>
          <a:solidFill>
            <a:srgbClr val="263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197096"/>
            <a:ext cx="2971800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6F9FC"/>
                </a:solidFill>
                <a:latin typeface="DM Sans"/>
              </a:rPr>
              <a:t>≈ 150 incidents · 1,3 M$ médiane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0" y="4197096"/>
            <a:ext cx="7482535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E7EDF4"/>
                </a:solidFill>
                <a:latin typeface="DM Sans"/>
              </a:rPr>
              <a:t>TRM Labs 2025 ; CertiK : &gt; 700 incidents, médiane 104 k$ (périmètre plus large)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465416"/>
            <a:ext cx="10728655" cy="6000"/>
          </a:xfrm>
          <a:prstGeom prst="rect">
            <a:avLst/>
          </a:prstGeom>
          <a:solidFill>
            <a:srgbClr val="263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535424"/>
            <a:ext cx="2971800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6F9FC"/>
                </a:solidFill>
                <a:latin typeface="DM Sans"/>
              </a:rPr>
              <a:t>8,9 % – 18,5 %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40480" y="4535424"/>
            <a:ext cx="7482535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E7EDF4"/>
                </a:solidFill>
                <a:latin typeface="DM Sans"/>
              </a:rPr>
              <a:t>conversion essai → payant SaaS B2B sans carte : ChartMogul (200 produits), First Page Sage (86 entreprises)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4803744"/>
            <a:ext cx="10728655" cy="6000"/>
          </a:xfrm>
          <a:prstGeom prst="rect">
            <a:avLst/>
          </a:prstGeom>
          <a:solidFill>
            <a:srgbClr val="263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873752"/>
            <a:ext cx="2971800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6F9FC"/>
                </a:solidFill>
                <a:latin typeface="DM Sans"/>
              </a:rPr>
              <a:t>95 % · 91 % · 5,1 %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4873752"/>
            <a:ext cx="7482535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E7EDF4"/>
                </a:solidFill>
                <a:latin typeface="DM Sans"/>
              </a:rPr>
              <a:t>jeu final préparé à l'aveugle, 40 fraudes, 234 paiements légitimes (shared/mesures.md)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5142072"/>
            <a:ext cx="10728655" cy="6000"/>
          </a:xfrm>
          <a:prstGeom prst="rect">
            <a:avLst/>
          </a:prstGeom>
          <a:solidFill>
            <a:srgbClr val="263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5212080"/>
            <a:ext cx="2971800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6F9FC"/>
                </a:solidFill>
                <a:latin typeface="DM Sans"/>
              </a:rPr>
              <a:t>0,002 $ · 1,2 $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40480" y="5212080"/>
            <a:ext cx="7482535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E7EDF4"/>
                </a:solidFill>
                <a:latin typeface="DM Sans"/>
              </a:rPr>
              <a:t>gas mesuré sur Fuji (shared/frais-gas.md) · Bedrock Opus 4.8 à 5 $ / 25 $ par million de tokens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1520" y="5480400"/>
            <a:ext cx="10728655" cy="6000"/>
          </a:xfrm>
          <a:prstGeom prst="rect">
            <a:avLst/>
          </a:prstGeom>
          <a:solidFill>
            <a:srgbClr val="263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