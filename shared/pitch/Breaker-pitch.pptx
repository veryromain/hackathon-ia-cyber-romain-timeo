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ROMAIN</a:t>
            </a:r>
          </a:p>
          <a:p>
            <a:r>
              <a:t>« Le 21 février 2025, trois personnes ont signé le plus gros vol de l'histoire : un milliard quatre cent soixante millions de dollars. »</a:t>
            </a:r>
          </a:p>
          <a:p>
            <a:r>
              <a:t>(silence, 2 secondes)</a:t>
            </a:r>
          </a:p>
          <a:p>
            <a:r>
              <a:t>« Elles pensaient signer un virement de routine. L'écran leur montrait un virement de routine. »</a:t>
            </a:r>
          </a:p>
          <a:p/>
          <a:p>
            <a:r>
              <a:t>TIMÉO</a:t>
            </a:r>
          </a:p>
          <a:p>
            <a:r>
              <a:t>« Nous sommes Timéo et Romain. Breaker existe pour que ces trois personnes aient eu quelqu'un pour leur dire : attendez. »</a:t>
            </a:r>
          </a:p>
          <a:p/>
          <a:p>
            <a:r>
              <a:t>Source : Bybit, 21/02/2025 (shared/business-probleme.md, fait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1:20]  ROMAIN</a:t>
            </a:r>
          </a:p>
          <a:p>
            <a:r>
              <a:t>« Bybit, c'est trois signataires sur six, trompés par leur propre écran. Drift, en avril 2026 : 280 millions, après des mois où des attaquants ont construit de fausses identités pour approcher les signataires. En 2025, 3,4 milliards volés. Le point commun : ce ne sont plus les contrats qu'on casse, ce sont les gens qu'on trompe au moment de signer. »</a:t>
            </a:r>
          </a:p>
          <a:p>
            <a:r>
              <a:t>(geste : mimer une signature)</a:t>
            </a:r>
          </a:p>
          <a:p/>
          <a:p>
            <a:r>
              <a:t>TIMÉO</a:t>
            </a:r>
          </a:p>
          <a:p>
            <a:r>
              <a:t>« Et le coffre, lui, fait exactement ce qu'on lui demande. Il vérifie les signatures, pas les intentions. Il n'a aucune idée de ce qui est normal pour vous. »</a:t>
            </a:r>
          </a:p>
          <a:p/>
          <a:p>
            <a:r>
              <a:t>ROMAIN</a:t>
            </a:r>
          </a:p>
          <a:p>
            <a:r>
              <a:t>« Conséquence : les grandes plateformes se paient des équipes de sécurité et des outils à 36 000 dollars par an. Les autres, l'immense majorité, n'ont rien, à aucun prix.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2:00]  ROMAIN</a:t>
            </a:r>
          </a:p>
          <a:p>
            <a:r>
              <a:t>« Les autres, ce sont les équipes de protocoles, les DAO, les startups et les fonds crypto : une trésorerie de plus d'un million dans un coffre multi-signatures, le plus souvent un Safe, et zéro personne dont c'est le métier. Il y en a au moins 1 359 à 1 579 sur les chaînes compatibles Ethereum. Sur Avalanche, où nous sommes nés, entre 81 et 121. Ces chiffres viennent de l'API DeFiLlama lue hier et de DeepDAO ; les calculs sont dans le dépôt. »</a:t>
            </a:r>
          </a:p>
          <a:p>
            <a:r>
              <a:t>(passer la main : « Timéo, qu'est-ce qu'on leur apporte ? »)</a:t>
            </a:r>
          </a:p>
          <a:p/>
          <a:p>
            <a:r>
              <a:t>Si question sur la méthode : comptage par seuil de TVL, hypothèse H1 révisée le 11/10 (protocole &gt; 1 M$ d'actifs ⇒ trésorerie ≥ 1 M$ ; borne prudente &gt; 10 M$ : 675 protocoles, 22 sur Avalanche), script reproductible dans shared/business-marche.md §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TIMÉO</a:t>
            </a:r>
          </a:p>
          <a:p>
            <a:r>
              <a:t>« Breaker n'est pas un coffre. C'est une garde qui se greffe sur le coffre que vous avez déjà, et qui fait trois choses.</a:t>
            </a:r>
          </a:p>
          <a:p>
            <a:r>
              <a:t>Un : elle regarde chaque paiement avec ce qu'elle a appris de votre historique. Ce bénéficiaire est-il nouveau ? Ce montant est-il normal ? Pourquoi trois paiements en dix minutes ? Pourquoi “urgent” ? Elle vérifie aussi l'adresse sur le Web et sur les listes de sanctions.</a:t>
            </a:r>
          </a:p>
          <a:p>
            <a:r>
              <a:t>Deux : elle explique, en français, à des gens qui ne sont pas experts : “premier paiement à cette adresse, montant quatre fois supérieur à vos habitudes”.</a:t>
            </a:r>
          </a:p>
          <a:p>
            <a:r>
              <a:t>Trois : elle freine. Une signature de plus, ou une mise en attente : un délai pendant lequel rien ne part, même avec toutes les signatures. Jamais un blocage définitif : l'unanimité de vos signataires lève tout. Et si vous voulez qu'elle puisse dire non à votre place, c'est le niveau Premium, le mode Cosignataire : un agent prend un siège de signataire et refuse de signer un paiement à risque ; vos signataires gardent une dérogation après délai.</a:t>
            </a:r>
          </a:p>
          <a:p>
            <a:r>
              <a:t>Et parce que l'attaque vise la personne, chaque signataire a une clé d'identité froide : une seconde clé, gardée hors ligne, pour révoquer seul sa clé volée, sans quorum, même coffre gelé ; et une clé de contrainte, qui dit oui à l'écran mais gèle en silence si on le force. Démontré sur Fuji : clé volée, 80 000 approuvés 2 sur 2 par le voleur, révoquée par la victime en une transaction, zéro sorti. »</a:t>
            </a:r>
          </a:p>
          <a:p/>
          <a:p>
            <a:r>
              <a:t>Si question « vous êtes un module de Safe ? » : « Le multisig de la démo tient lieu du Safe du client ; le portage en Guard + Module de Safe est en feuille de route, 6 à 8 semaines.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3:50]  TIMÉO</a:t>
            </a:r>
          </a:p>
          <a:p>
            <a:r>
              <a:t>« Tout ça tourne sur Avalanche Fuji, et vous allez le voir. »</a:t>
            </a:r>
          </a:p>
          <a:p>
            <a:r>
              <a:t>→ LANCER LA VIDÉO (2 à 3 min) ou la démo live. Pendant la vidéo, Timéo commente ; Romain surveille le chrono.</a:t>
            </a:r>
          </a:p>
          <a:p>
            <a:r>
              <a:t>« Les chiffres, mesurés une seule fois sur un jeu de fraudes que Romain a préparé à l'aveugle : 95 % des fraudes freinées ou mises en attente, 91 % des montants frauduleux mis en attente, 5,1 % de paiements légitimes retardés, tous de gros premiers paiements à un nouveau bénéficiaire, zéro sur les prestataires habituels. Sur Fuji : 280 500 tentés, zéro sorti, signalement en 5 secondes, 0,002 dollar de gas par alerte. L'oracle Web : 100 % sur 35 adresses, 7 injections déjouées. Le contrat : zéro détection grave à l'analyse statique, 50 tests, 7 000 appels aléatoires sans qu'une seule promesse soit violée. »</a:t>
            </a:r>
          </a:p>
          <a:p/>
          <a:p>
            <a:r>
              <a:t>ROMAIN (une phrase, pour l'honnêteté)</a:t>
            </a:r>
          </a:p>
          <a:p>
            <a:r>
              <a:t>« Données synthétiques, contrat pas encore audité par un tiers : on le dit avant qu'on nous le demande. »</a:t>
            </a:r>
          </a:p>
          <a:p/>
          <a:p>
            <a:r>
              <a:t>Si le chrono dépasse 3:50 ici : couper la phrase sur l'oracle.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 4:15]  ROMAIN · 25 s, 60 mots</a:t>
            </a:r>
          </a:p>
          <a:p>
            <a:r>
              <a:t>« Safe Pro, 669 euros par mois : des règles que VOUS écrivez. Nous, on détecte ce que vous n'aviez PAS prévu.</a:t>
            </a:r>
          </a:p>
          <a:p>
            <a:r>
              <a:t>Trente jours gratuits. Puis vous choisissez le pouvoir que vous nous déléguez : UNE PERSONNE de plus, 149 euros. DU TEMPS, 449. UN REFUS, 990.</a:t>
            </a:r>
          </a:p>
          <a:p>
            <a:r>
              <a:t>449 euros, c'est 5 % de la perte que vous évitez chaque année. »</a:t>
            </a:r>
          </a:p>
          <a:p/>
          <a:p>
            <a:r>
              <a:t>SEULEMENT SI ON DEMANDE :</a:t>
            </a:r>
          </a:p>
          <a:p>
            <a:r>
              <a:t>• Pourquoi 990 ? Seul niveau où quelqu'un dit non quand TOUS les signataires sont trompés (Bybit, Drift). L'agent n'a jamais de veto définitif.</a:t>
            </a:r>
          </a:p>
          <a:p>
            <a:r>
              <a:t>• D'où vient la perte évitée ? 9,5 % d'incidents (TRM 2025) × 1,3 M$ de perte médiane × 91 % mis en attente ≈ 112 k$/an. Détail : shared/business-prix.md § 1.B.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 4:35]  ROMAIN · 20 s, 40 mots</a:t>
            </a:r>
          </a:p>
          <a:p>
            <a:r>
              <a:t>« Première année : 111 organisations présentées par l'écosystème Avalanche. La moitié en observation, 5 à 10 CLIENTS PAYANTS. Audit externe avant le premier euro. Point mort à 10 clients, MI-2027, plus tôt avec un seul Premium. »</a:t>
            </a:r>
          </a:p>
          <a:p/>
          <a:p>
            <a:r>
              <a:t>SEULEMENT SI ON DEMANDE :</a:t>
            </a:r>
          </a:p>
          <a:p>
            <a:r>
              <a:t>• Comment 10 clients ? À l'envers : 10 ÷ 8,9 à 18,5 % de conversion ÷ une équipe sur deux = 108 à 225 équipes à contacter ; Avalanche en donne 111, une 2e chaîne EVM complète.</a:t>
            </a:r>
          </a:p>
          <a:p>
            <a:r>
              <a:t>• Pourquoi si peu ? On ne prend que ce que l'entonnoir sourcé donne.</a:t>
            </a:r>
          </a:p>
          <a:p>
            <a:r>
              <a:t>Si on n'a que 4 min : sauter cette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 → 5:00]  TIMÉO</a:t>
            </a:r>
          </a:p>
          <a:p>
            <a:r>
              <a:t>« Ce qu'on ne cache pas : données synthétiques, contrat pas encore audité, le multisig de la démo tient lieu du Safe du client. Ce qu'il nous reste : le greffon Safe, l'audit, et surtout de vraies données. »</a:t>
            </a:r>
          </a:p>
          <a:p/>
          <a:p>
            <a:r>
              <a:t>ROMAIN</a:t>
            </a:r>
          </a:p>
          <a:p>
            <a:r>
              <a:t>« Dès ce mois-ci, dix organisations en observation gratuite. Breaker : vos fonds, vos signataires, votre dernier mot. Merci. »</a:t>
            </a:r>
          </a:p>
          <a:p>
            <a:r>
              <a:t>(regarder le jury, s'arrêter ; les annexes A1 à A4 servent aux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répond aux questions de conformité ; TIMÉO complète sur la preuve technique (événements on-chain, hash de preuve).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a:t>
            </a:r>
          </a:p>
          <a:p>
            <a:r>
              <a:t>Ce qui diffère vraiment : la signature en plus ajoute une PERSONNE ; la mise en attente ajoute du TEMPS. Une personne de plus ne sert à rien si les attaquants tiennent déjà assez de clés (Bybit) : là, seul le délai protège, parce qu'il laisse le temps de vérifier, d'annuler, de révoquer sa clé avec la clé d'identité froide, et parce que l'oracle et le traçage tournent pendant ce temps.</a:t>
            </a:r>
          </a:p>
          <a:p>
            <a:r>
              <a:t>Où interviennent les agents : partout pour regarder et expliquer (automatique, toujours). Pour DÉCIDER, seulement au niveau Premium (mode Cosignataire) : l'agent devient un signataire qui peut refuser. En mode Protection, l'agent ne signe jamais et ne refuse jamais : il ajoute une signature à obtenir ou un délai.</a:t>
            </a:r>
          </a:p>
          <a:p>
            <a:r>
              <a:t>Seuils : ia-1/score/regles.py (SEUIL_STEP_UP 0,30 ; SEUIL_HOLD 0,75). Niveau « Aucun » (bénéficiaire connu, montant habituel) : journalisé avec score et raisons, signatures normales.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 Ne jamais dire « audité » sans « par nous-mêmes », ni « aucune vulnérabilité » (dire : aucune détectée par ces méthodes). Pas de montant d'audit comme si on avait un devis.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Si un chiffre est contesté : donner la source, et dire ce qui est hypothèse (H1 à H11, nommées dans les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1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BREAKER  </a:t>
            </a:r>
            <a:r>
              <a:rPr sz="1100" b="0">
                <a:solidFill>
                  <a:srgbClr val="A9B4C2"/>
                </a:solidFill>
                <a:latin typeface="DM Sans"/>
              </a:rPr>
              <a:t>Secure Horizons · Track 1 Fintech Security · axe 2 SOC antifraude</a:t>
            </a:r>
          </a:p>
        </p:txBody>
      </p:sp>
      <p:sp>
        <p:nvSpPr>
          <p:cNvPr id="10" name="Freeform 9"/>
          <p:cNvSpPr/>
          <p:nvPr/>
        </p:nvSpPr>
        <p:spPr>
          <a:xfrm>
            <a:off x="731520" y="1371600"/>
            <a:ext cx="822960" cy="919778"/>
          </a:xfrm>
          <a:custGeom>
            <a:avLst/>
            <a:gdLst/>
            <a:ahLst/>
            <a:cxnLst/>
            <a:rect l="l" t="t" r="r" b="b"/>
            <a:pathLst>
              <a:path w="822960" h="919778">
                <a:moveTo>
                  <a:pt x="0" y="0"/>
                </a:moveTo>
                <a:lnTo>
                  <a:pt x="576072" y="0"/>
                </a:lnTo>
                <a:lnTo>
                  <a:pt x="822960" y="239142"/>
                </a:lnTo>
                <a:lnTo>
                  <a:pt x="822960" y="919778"/>
                </a:lnTo>
                <a:lnTo>
                  <a:pt x="246888" y="919778"/>
                </a:lnTo>
                <a:lnTo>
                  <a:pt x="0" y="680635"/>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5182"/>
            <a:ext cx="822960" cy="772613"/>
          </a:xfrm>
          <a:prstGeom prst="rect">
            <a:avLst/>
          </a:prstGeom>
          <a:noFill/>
        </p:spPr>
        <p:txBody>
          <a:bodyPr wrap="square" anchor="ctr" lIns="0" rIns="0" tIns="0" bIns="0">
            <a:spAutoFit/>
          </a:bodyPr>
          <a:lstStyle/>
          <a:p>
            <a:pPr algn="ctr">
              <a:lnSpc>
                <a:spcPct val="115000"/>
              </a:lnSpc>
            </a:pPr>
            <a:r>
              <a:rPr sz="3200" b="1">
                <a:solidFill>
                  <a:srgbClr val="142008"/>
                </a:solidFill>
                <a:latin typeface="Manrope"/>
              </a:rPr>
              <a:t>B</a:t>
            </a:r>
          </a:p>
        </p:txBody>
      </p:sp>
      <p:sp>
        <p:nvSpPr>
          <p:cNvPr id="12" name="TextBox 11"/>
          <p:cNvSpPr txBox="1"/>
          <p:nvPr/>
        </p:nvSpPr>
        <p:spPr>
          <a:xfrm>
            <a:off x="1783080" y="1572768"/>
            <a:ext cx="1828800" cy="36576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breaker</a:t>
            </a:r>
            <a:r>
              <a:rPr sz="3000" b="1">
                <a:solidFill>
                  <a:srgbClr val="C7FA70"/>
                </a:solidFill>
                <a:latin typeface="Manrope"/>
              </a:rPr>
              <a:t>.</a:t>
            </a:r>
          </a:p>
        </p:txBody>
      </p:sp>
      <p:sp>
        <p:nvSpPr>
          <p:cNvPr id="13" name="TextBox 12"/>
          <p:cNvSpPr txBox="1"/>
          <p:nvPr/>
        </p:nvSpPr>
        <p:spPr>
          <a:xfrm>
            <a:off x="731520" y="2423160"/>
            <a:ext cx="9601200"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Le 21 février 2025, trois personnes ont signé le plus gros vol de l'histoire.</a:t>
            </a:r>
          </a:p>
        </p:txBody>
      </p:sp>
      <p:sp>
        <p:nvSpPr>
          <p:cNvPr id="14" name="TextBox 13"/>
          <p:cNvSpPr txBox="1"/>
          <p:nvPr/>
        </p:nvSpPr>
        <p:spPr>
          <a:xfrm>
            <a:off x="731520" y="4343400"/>
            <a:ext cx="8686800" cy="914400"/>
          </a:xfrm>
          <a:prstGeom prst="rect">
            <a:avLst/>
          </a:prstGeom>
          <a:noFill/>
        </p:spPr>
        <p:txBody>
          <a:bodyPr wrap="square" anchor="t" lIns="0" rIns="0" tIns="0" bIns="0">
            <a:spAutoFit/>
          </a:bodyPr>
          <a:lstStyle/>
          <a:p>
            <a:pPr algn="l">
              <a:lnSpc>
                <a:spcPct val="115000"/>
              </a:lnSpc>
            </a:pPr>
            <a:r>
              <a:rPr sz="1800" b="0">
                <a:solidFill>
                  <a:srgbClr val="A9B4C2"/>
                </a:solidFill>
                <a:latin typeface="DM Sans"/>
              </a:rPr>
              <a:t>Elles pensaient signer un virement de routine. L'écran leur montrait un virement de routine. </a:t>
            </a:r>
            <a:r>
              <a:rPr sz="1800" b="1">
                <a:solidFill>
                  <a:srgbClr val="F6F9FC"/>
                </a:solidFill>
                <a:latin typeface="DM Sans"/>
              </a:rPr>
              <a:t>1,46 milliard de dollars.</a:t>
            </a:r>
          </a:p>
        </p:txBody>
      </p:sp>
      <p:sp>
        <p:nvSpPr>
          <p:cNvPr id="15" name="TextBox 14"/>
          <p:cNvSpPr txBox="1"/>
          <p:nvPr/>
        </p:nvSpPr>
        <p:spPr>
          <a:xfrm>
            <a:off x="731520" y="5349240"/>
            <a:ext cx="10058400" cy="457200"/>
          </a:xfrm>
          <a:prstGeom prst="rect">
            <a:avLst/>
          </a:prstGeom>
          <a:noFill/>
        </p:spPr>
        <p:txBody>
          <a:bodyPr wrap="square" anchor="t" lIns="0" rIns="0" tIns="0" bIns="0">
            <a:spAutoFit/>
          </a:bodyPr>
          <a:lstStyle/>
          <a:p>
            <a:pPr algn="l">
              <a:lnSpc>
                <a:spcPct val="115000"/>
              </a:lnSpc>
            </a:pPr>
            <a:r>
              <a:rPr sz="2000" b="1">
                <a:solidFill>
                  <a:srgbClr val="C7FA70"/>
                </a:solidFill>
                <a:latin typeface="Manrope"/>
              </a:rPr>
              <a:t>Une signature ne suffit pas à faire confiance.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2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PROBLÈME  </a:t>
            </a:r>
            <a:r>
              <a:rPr sz="1100" b="0">
                <a:solidFill>
                  <a:srgbClr val="A9B4C2"/>
                </a:solidFill>
                <a:latin typeface="DM Sans"/>
              </a:rPr>
              <a:t>ce ne sont plus les contrats qu'on casse, ce sont les gens qu'on trompe au moment de signer</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Les clés étaient valides. Les signataires, trompés.</a:t>
            </a:r>
          </a:p>
        </p:txBody>
      </p:sp>
      <p:sp>
        <p:nvSpPr>
          <p:cNvPr id="11" name="Rounded Rectangle 10"/>
          <p:cNvSpPr/>
          <p:nvPr/>
        </p:nvSpPr>
        <p:spPr>
          <a:xfrm>
            <a:off x="731520"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1,46 Md$</a:t>
            </a:r>
          </a:p>
        </p:txBody>
      </p:sp>
      <p:sp>
        <p:nvSpPr>
          <p:cNvPr id="14" name="TextBox 13"/>
          <p:cNvSpPr txBox="1"/>
          <p:nvPr/>
        </p:nvSpPr>
        <p:spPr>
          <a:xfrm>
            <a:off x="1005840"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Bybit, février 2025 : 3 signataires sur 6 valident une transaction que leur interface leur montre falsifiée</a:t>
            </a:r>
          </a:p>
        </p:txBody>
      </p:sp>
      <p:sp>
        <p:nvSpPr>
          <p:cNvPr id="15" name="Rounded Rectangle 14"/>
          <p:cNvSpPr/>
          <p:nvPr/>
        </p:nvSpPr>
        <p:spPr>
          <a:xfrm>
            <a:off x="4374794"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4794"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9114"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 280 M$</a:t>
            </a:r>
          </a:p>
        </p:txBody>
      </p:sp>
      <p:sp>
        <p:nvSpPr>
          <p:cNvPr id="18" name="TextBox 17"/>
          <p:cNvSpPr txBox="1"/>
          <p:nvPr/>
        </p:nvSpPr>
        <p:spPr>
          <a:xfrm>
            <a:off x="4649114"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Drift, avril 2026 : des mois de fausses identités pour approcher les signataires, puis le multisig</a:t>
            </a:r>
          </a:p>
        </p:txBody>
      </p:sp>
      <p:sp>
        <p:nvSpPr>
          <p:cNvPr id="19" name="Rounded Rectangle 18"/>
          <p:cNvSpPr/>
          <p:nvPr/>
        </p:nvSpPr>
        <p:spPr>
          <a:xfrm>
            <a:off x="8018068"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8068"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92388"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3,4 Md$</a:t>
            </a:r>
          </a:p>
        </p:txBody>
      </p:sp>
      <p:sp>
        <p:nvSpPr>
          <p:cNvPr id="22" name="TextBox 21"/>
          <p:cNvSpPr txBox="1"/>
          <p:nvPr/>
        </p:nvSpPr>
        <p:spPr>
          <a:xfrm>
            <a:off x="8292388" y="3374136"/>
            <a:ext cx="2984906" cy="7315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volés en 2025 (Chainalysis). Médiane d'un incident significatif : 1,3 M$ (TRM)</a:t>
            </a:r>
          </a:p>
        </p:txBody>
      </p:sp>
      <p:sp>
        <p:nvSpPr>
          <p:cNvPr id="23" name="TextBox 22"/>
          <p:cNvSpPr txBox="1"/>
          <p:nvPr/>
        </p:nvSpPr>
        <p:spPr>
          <a:xfrm>
            <a:off x="731520" y="4434840"/>
            <a:ext cx="10728655" cy="1097280"/>
          </a:xfrm>
          <a:prstGeom prst="rect">
            <a:avLst/>
          </a:prstGeom>
          <a:noFill/>
        </p:spPr>
        <p:txBody>
          <a:bodyPr wrap="square" anchor="t" lIns="0" rIns="0" tIns="0" bIns="0">
            <a:spAutoFit/>
          </a:bodyPr>
          <a:lstStyle/>
          <a:p>
            <a:pPr algn="l">
              <a:lnSpc>
                <a:spcPct val="115000"/>
              </a:lnSpc>
            </a:pPr>
            <a:r>
              <a:rPr sz="1700" b="1">
                <a:solidFill>
                  <a:srgbClr val="F6F9FC"/>
                </a:solidFill>
                <a:latin typeface="DM Sans"/>
              </a:rPr>
              <a:t>Le coffre fait exactement ce qu'on lui demande. </a:t>
            </a:r>
            <a:r>
              <a:rPr sz="1700" b="0">
                <a:solidFill>
                  <a:srgbClr val="A9B4C2"/>
                </a:solidFill>
                <a:latin typeface="DM Sans"/>
              </a:rPr>
              <a:t>Il n'a aucune idée de ce qui est normal pour vous. Les grandes plateformes se paient des équipes et des outils dépositaires à partir de 36 000 $ par an. Les autres n'ont rien, à aucun prix.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3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CIBLE  </a:t>
            </a:r>
            <a:r>
              <a:rPr sz="1100" b="0">
                <a:solidFill>
                  <a:srgbClr val="A9B4C2"/>
                </a:solidFill>
                <a:latin typeface="DM Sans"/>
              </a:rPr>
              <a:t>toute organisation avec plus de 1 M$ de trésorerie et pas d'équipe sécurité</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Pour les équipes compactes aux trésoreries importantes</a:t>
            </a:r>
          </a:p>
        </p:txBody>
      </p:sp>
      <p:sp>
        <p:nvSpPr>
          <p:cNvPr id="11" name="Rounded Rectangle 10"/>
          <p:cNvSpPr/>
          <p:nvPr/>
        </p:nvSpPr>
        <p:spPr>
          <a:xfrm>
            <a:off x="73152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1 359</a:t>
            </a:r>
          </a:p>
        </p:txBody>
      </p:sp>
      <p:sp>
        <p:nvSpPr>
          <p:cNvPr id="14" name="TextBox 13"/>
          <p:cNvSpPr txBox="1"/>
          <p:nvPr/>
        </p:nvSpPr>
        <p:spPr>
          <a:xfrm>
            <a:off x="100584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protocoles &gt; 1 M$ d'actifs gérés, toutes chaînes, dont 675 &gt; 10 M$ (API DeFiLlama, 11/10/2026)</a:t>
            </a:r>
          </a:p>
        </p:txBody>
      </p:sp>
      <p:sp>
        <p:nvSpPr>
          <p:cNvPr id="15" name="Rounded Rectangle 14"/>
          <p:cNvSpPr/>
          <p:nvPr/>
        </p:nvSpPr>
        <p:spPr>
          <a:xfrm>
            <a:off x="346397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6397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38295"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 220</a:t>
            </a:r>
          </a:p>
        </p:txBody>
      </p:sp>
      <p:sp>
        <p:nvSpPr>
          <p:cNvPr id="18" name="TextBox 17"/>
          <p:cNvSpPr txBox="1"/>
          <p:nvPr/>
        </p:nvSpPr>
        <p:spPr>
          <a:xfrm>
            <a:off x="373829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DAO avec plus de 1 M$ de trésorerie (DeepDAO, T1 2026)</a:t>
            </a:r>
          </a:p>
        </p:txBody>
      </p:sp>
      <p:sp>
        <p:nvSpPr>
          <p:cNvPr id="19" name="Rounded Rectangle 18"/>
          <p:cNvSpPr/>
          <p:nvPr/>
        </p:nvSpPr>
        <p:spPr>
          <a:xfrm>
            <a:off x="6196430"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6430" y="2377440"/>
            <a:ext cx="54864" cy="1828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0750" y="2578608"/>
            <a:ext cx="2074087" cy="640080"/>
          </a:xfrm>
          <a:prstGeom prst="rect">
            <a:avLst/>
          </a:prstGeom>
          <a:noFill/>
        </p:spPr>
        <p:txBody>
          <a:bodyPr wrap="square" anchor="t" lIns="0" rIns="0" tIns="0" bIns="0">
            <a:spAutoFit/>
          </a:bodyPr>
          <a:lstStyle/>
          <a:p>
            <a:pPr algn="l">
              <a:lnSpc>
                <a:spcPct val="115000"/>
              </a:lnSpc>
            </a:pPr>
            <a:r>
              <a:rPr sz="2400" b="1">
                <a:solidFill>
                  <a:srgbClr val="C7FA70"/>
                </a:solidFill>
                <a:latin typeface="Manrope"/>
              </a:rPr>
              <a:t>81 – 121</a:t>
            </a:r>
          </a:p>
        </p:txBody>
      </p:sp>
      <p:sp>
        <p:nvSpPr>
          <p:cNvPr id="22" name="TextBox 21"/>
          <p:cNvSpPr txBox="1"/>
          <p:nvPr/>
        </p:nvSpPr>
        <p:spPr>
          <a:xfrm>
            <a:off x="6470750"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organisations adressables sur Avalanche (71 protocoles &gt; 1 M$, 10 à 50 équipes de L1)</a:t>
            </a:r>
          </a:p>
        </p:txBody>
      </p:sp>
      <p:sp>
        <p:nvSpPr>
          <p:cNvPr id="23" name="Rounded Rectangle 22"/>
          <p:cNvSpPr/>
          <p:nvPr/>
        </p:nvSpPr>
        <p:spPr>
          <a:xfrm>
            <a:off x="8928885" y="2377440"/>
            <a:ext cx="2531287" cy="18288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28885" y="2377440"/>
            <a:ext cx="54864" cy="18288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03205" y="2578608"/>
            <a:ext cx="2074087"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1 359 – 1 579</a:t>
            </a:r>
          </a:p>
        </p:txBody>
      </p:sp>
      <p:sp>
        <p:nvSpPr>
          <p:cNvPr id="26" name="TextBox 25"/>
          <p:cNvSpPr txBox="1"/>
          <p:nvPr/>
        </p:nvSpPr>
        <p:spPr>
          <a:xfrm>
            <a:off x="9203205" y="3236976"/>
            <a:ext cx="2074087" cy="96012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sur les chaînes EVM, borne basse (fonds et fondations exclus, faute de source)</a:t>
            </a:r>
          </a:p>
        </p:txBody>
      </p:sp>
      <p:sp>
        <p:nvSpPr>
          <p:cNvPr id="27" name="TextBox 26"/>
          <p:cNvSpPr txBox="1"/>
          <p:nvPr/>
        </p:nvSpPr>
        <p:spPr>
          <a:xfrm>
            <a:off x="731520" y="4526280"/>
            <a:ext cx="10728655" cy="1005840"/>
          </a:xfrm>
          <a:prstGeom prst="rect">
            <a:avLst/>
          </a:prstGeom>
          <a:noFill/>
        </p:spPr>
        <p:txBody>
          <a:bodyPr wrap="square" anchor="t" lIns="0" rIns="0" tIns="0" bIns="0">
            <a:spAutoFit/>
          </a:bodyPr>
          <a:lstStyle/>
          <a:p>
            <a:pPr algn="l">
              <a:lnSpc>
                <a:spcPct val="115000"/>
              </a:lnSpc>
            </a:pPr>
            <a:r>
              <a:rPr sz="1600" b="1">
                <a:solidFill>
                  <a:srgbClr val="F6F9FC"/>
                </a:solidFill>
                <a:latin typeface="DM Sans"/>
              </a:rPr>
              <a:t>Protocoles, DAO, startups et fonds crypto : plus de 1 M$ dans un Safe, zéro personne dont c'est le métier. </a:t>
            </a:r>
            <a:r>
              <a:rPr sz="1600" b="0">
                <a:solidFill>
                  <a:srgbClr val="A9B4C2"/>
                </a:solidFill>
                <a:latin typeface="DM Sans"/>
              </a:rPr>
              <a:t>Tous ont déjà un coffre : Safe sécurise 35 Md$ sur 61 millions de comptes. Aucun ne déplacera sa trésorerie pour un essai.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4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SOLUTION  </a:t>
            </a:r>
            <a:r>
              <a:rPr sz="1100" b="0">
                <a:solidFill>
                  <a:srgbClr val="A9B4C2"/>
                </a:solidFill>
                <a:latin typeface="DM Sans"/>
              </a:rPr>
              <a:t>Breaker n'est pas un coffre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Vous avez déjà le coffre. Il vous manque quelqu'un qui regarde.</a:t>
            </a:r>
          </a:p>
        </p:txBody>
      </p:sp>
      <p:sp>
        <p:nvSpPr>
          <p:cNvPr id="11" name="Rounded Rectangle 10"/>
          <p:cNvSpPr/>
          <p:nvPr/>
        </p:nvSpPr>
        <p:spPr>
          <a:xfrm>
            <a:off x="731520"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Votre Safe</a:t>
            </a:r>
          </a:p>
        </p:txBody>
      </p:sp>
      <p:sp>
        <p:nvSpPr>
          <p:cNvPr id="13" name="TextBox 12"/>
          <p:cNvSpPr txBox="1"/>
          <p:nvPr/>
        </p:nvSpPr>
        <p:spPr>
          <a:xfrm>
            <a:off x="960120"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vos signataires, votre adresse, votre historique : rien ne bouge</a:t>
            </a:r>
          </a:p>
        </p:txBody>
      </p:sp>
      <p:sp>
        <p:nvSpPr>
          <p:cNvPr id="14" name="TextBox 13"/>
          <p:cNvSpPr txBox="1"/>
          <p:nvPr/>
        </p:nvSpPr>
        <p:spPr>
          <a:xfrm>
            <a:off x="3050209"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5" name="Rounded Rectangle 14"/>
          <p:cNvSpPr/>
          <p:nvPr/>
        </p:nvSpPr>
        <p:spPr>
          <a:xfrm>
            <a:off x="3571417"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71417"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0017"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Guard Breaker</a:t>
            </a:r>
          </a:p>
        </p:txBody>
      </p:sp>
      <p:sp>
        <p:nvSpPr>
          <p:cNvPr id="18" name="TextBox 17"/>
          <p:cNvSpPr txBox="1"/>
          <p:nvPr/>
        </p:nvSpPr>
        <p:spPr>
          <a:xfrm>
            <a:off x="3800017"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appelé avant chaque paiement : signature en plus, attente, gel, probation des clés</a:t>
            </a:r>
          </a:p>
        </p:txBody>
      </p:sp>
      <p:sp>
        <p:nvSpPr>
          <p:cNvPr id="19" name="TextBox 18"/>
          <p:cNvSpPr txBox="1"/>
          <p:nvPr/>
        </p:nvSpPr>
        <p:spPr>
          <a:xfrm>
            <a:off x="5890106"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0" name="Rounded Rectangle 19"/>
          <p:cNvSpPr/>
          <p:nvPr/>
        </p:nvSpPr>
        <p:spPr>
          <a:xfrm>
            <a:off x="6411314" y="2240280"/>
            <a:ext cx="2208961" cy="141732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11314" y="2240280"/>
            <a:ext cx="54864" cy="14173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9914"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Moteur Breaker</a:t>
            </a:r>
          </a:p>
        </p:txBody>
      </p:sp>
      <p:sp>
        <p:nvSpPr>
          <p:cNvPr id="23" name="TextBox 22"/>
          <p:cNvSpPr txBox="1"/>
          <p:nvPr/>
        </p:nvSpPr>
        <p:spPr>
          <a:xfrm>
            <a:off x="6639914"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règles sur votre historique · modèle d'anomalie · oracle Web · listes OFAC · explication en français</a:t>
            </a:r>
          </a:p>
        </p:txBody>
      </p:sp>
      <p:sp>
        <p:nvSpPr>
          <p:cNvPr id="24" name="TextBox 23"/>
          <p:cNvSpPr txBox="1"/>
          <p:nvPr/>
        </p:nvSpPr>
        <p:spPr>
          <a:xfrm>
            <a:off x="8730003" y="27203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5" name="Rounded Rectangle 24"/>
          <p:cNvSpPr/>
          <p:nvPr/>
        </p:nvSpPr>
        <p:spPr>
          <a:xfrm>
            <a:off x="9251211" y="2240280"/>
            <a:ext cx="2208961" cy="14173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9811" y="242316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Vos signataires</a:t>
            </a:r>
          </a:p>
        </p:txBody>
      </p:sp>
      <p:sp>
        <p:nvSpPr>
          <p:cNvPr id="27" name="TextBox 26"/>
          <p:cNvSpPr txBox="1"/>
          <p:nvPr/>
        </p:nvSpPr>
        <p:spPr>
          <a:xfrm>
            <a:off x="9479811" y="2862072"/>
            <a:ext cx="1843201" cy="68580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décident, toujours. L'unanimité lève tout.</a:t>
            </a:r>
          </a:p>
        </p:txBody>
      </p:sp>
      <p:sp>
        <p:nvSpPr>
          <p:cNvPr id="28" name="TextBox 27"/>
          <p:cNvSpPr txBox="1"/>
          <p:nvPr/>
        </p:nvSpPr>
        <p:spPr>
          <a:xfrm>
            <a:off x="731520" y="3794760"/>
            <a:ext cx="457200" cy="54864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1</a:t>
            </a:r>
          </a:p>
        </p:txBody>
      </p:sp>
      <p:sp>
        <p:nvSpPr>
          <p:cNvPr id="29" name="TextBox 28"/>
          <p:cNvSpPr txBox="1"/>
          <p:nvPr/>
        </p:nvSpPr>
        <p:spPr>
          <a:xfrm>
            <a:off x="1234440"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Regarde</a:t>
            </a:r>
          </a:p>
        </p:txBody>
      </p:sp>
      <p:sp>
        <p:nvSpPr>
          <p:cNvPr id="30" name="TextBox 29"/>
          <p:cNvSpPr txBox="1"/>
          <p:nvPr/>
        </p:nvSpPr>
        <p:spPr>
          <a:xfrm>
            <a:off x="1234440"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Bénéficiaire nouveau ? Montant 4× vos habitudes ? Trois paiements en dix minutes ? Adresse sosie, fonds souillés, sanctions ?</a:t>
            </a:r>
          </a:p>
        </p:txBody>
      </p:sp>
      <p:sp>
        <p:nvSpPr>
          <p:cNvPr id="31" name="TextBox 30"/>
          <p:cNvSpPr txBox="1"/>
          <p:nvPr/>
        </p:nvSpPr>
        <p:spPr>
          <a:xfrm>
            <a:off x="4368698" y="3794760"/>
            <a:ext cx="457200" cy="548640"/>
          </a:xfrm>
          <a:prstGeom prst="rect">
            <a:avLst/>
          </a:prstGeom>
          <a:noFill/>
        </p:spPr>
        <p:txBody>
          <a:bodyPr wrap="square" anchor="t" lIns="0" rIns="0" tIns="0" bIns="0">
            <a:spAutoFit/>
          </a:bodyPr>
          <a:lstStyle/>
          <a:p>
            <a:pPr algn="l">
              <a:lnSpc>
                <a:spcPct val="115000"/>
              </a:lnSpc>
            </a:pPr>
            <a:r>
              <a:rPr sz="3000" b="1">
                <a:solidFill>
                  <a:srgbClr val="A8BFFF"/>
                </a:solidFill>
                <a:latin typeface="Manrope"/>
              </a:rPr>
              <a:t>2</a:t>
            </a:r>
          </a:p>
        </p:txBody>
      </p:sp>
      <p:sp>
        <p:nvSpPr>
          <p:cNvPr id="32" name="TextBox 31"/>
          <p:cNvSpPr txBox="1"/>
          <p:nvPr/>
        </p:nvSpPr>
        <p:spPr>
          <a:xfrm>
            <a:off x="4871618"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Explique</a:t>
            </a:r>
          </a:p>
        </p:txBody>
      </p:sp>
      <p:sp>
        <p:nvSpPr>
          <p:cNvPr id="33" name="TextBox 32"/>
          <p:cNvSpPr txBox="1"/>
          <p:nvPr/>
        </p:nvSpPr>
        <p:spPr>
          <a:xfrm>
            <a:off x="4871618"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En français, pour des non-experts : « premier paiement à cette adresse, montant quatre fois supérieur à vos habitudes ».</a:t>
            </a:r>
          </a:p>
        </p:txBody>
      </p:sp>
      <p:sp>
        <p:nvSpPr>
          <p:cNvPr id="34" name="TextBox 33"/>
          <p:cNvSpPr txBox="1"/>
          <p:nvPr/>
        </p:nvSpPr>
        <p:spPr>
          <a:xfrm>
            <a:off x="8005876" y="3794760"/>
            <a:ext cx="457200" cy="548640"/>
          </a:xfrm>
          <a:prstGeom prst="rect">
            <a:avLst/>
          </a:prstGeom>
          <a:noFill/>
        </p:spPr>
        <p:txBody>
          <a:bodyPr wrap="square" anchor="t" lIns="0" rIns="0" tIns="0" bIns="0">
            <a:spAutoFit/>
          </a:bodyPr>
          <a:lstStyle/>
          <a:p>
            <a:pPr algn="l">
              <a:lnSpc>
                <a:spcPct val="115000"/>
              </a:lnSpc>
            </a:pPr>
            <a:r>
              <a:rPr sz="3000" b="1">
                <a:solidFill>
                  <a:srgbClr val="FFC481"/>
                </a:solidFill>
                <a:latin typeface="Manrope"/>
              </a:rPr>
              <a:t>3</a:t>
            </a:r>
          </a:p>
        </p:txBody>
      </p:sp>
      <p:sp>
        <p:nvSpPr>
          <p:cNvPr id="35" name="TextBox 34"/>
          <p:cNvSpPr txBox="1"/>
          <p:nvPr/>
        </p:nvSpPr>
        <p:spPr>
          <a:xfrm>
            <a:off x="8508796" y="38404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Freine</a:t>
            </a:r>
          </a:p>
        </p:txBody>
      </p:sp>
      <p:sp>
        <p:nvSpPr>
          <p:cNvPr id="36" name="TextBox 35"/>
          <p:cNvSpPr txBox="1"/>
          <p:nvPr/>
        </p:nvSpPr>
        <p:spPr>
          <a:xfrm>
            <a:off x="8508796" y="4206240"/>
            <a:ext cx="2905658" cy="96012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Une signature de plus, ou une attente. Jamais un blocage définitif : le pire bug possible est un faux ralentissement.</a:t>
            </a:r>
          </a:p>
        </p:txBody>
      </p:sp>
      <p:sp>
        <p:nvSpPr>
          <p:cNvPr id="37" name="Rounded Rectangle 36"/>
          <p:cNvSpPr/>
          <p:nvPr/>
        </p:nvSpPr>
        <p:spPr>
          <a:xfrm>
            <a:off x="731520" y="5120640"/>
            <a:ext cx="10728655" cy="530352"/>
          </a:xfrm>
          <a:prstGeom prst="roundRect">
            <a:avLst>
              <a:gd name="adj" fmla="val 30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 y="5120640"/>
            <a:ext cx="54864" cy="530352"/>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120640"/>
            <a:ext cx="10271455" cy="530352"/>
          </a:xfrm>
          <a:prstGeom prst="rect">
            <a:avLst/>
          </a:prstGeom>
          <a:noFill/>
        </p:spPr>
        <p:txBody>
          <a:bodyPr wrap="square" anchor="ctr" lIns="0" rIns="0" tIns="0" bIns="0">
            <a:spAutoFit/>
          </a:bodyPr>
          <a:lstStyle/>
          <a:p>
            <a:pPr algn="l">
              <a:lnSpc>
                <a:spcPct val="115000"/>
              </a:lnSpc>
            </a:pPr>
            <a:r>
              <a:rPr sz="1300" b="1">
                <a:solidFill>
                  <a:srgbClr val="F6F9FC"/>
                </a:solidFill>
                <a:latin typeface="DM Sans"/>
              </a:rPr>
              <a:t>Et protège la personne  ·  </a:t>
            </a:r>
            <a:r>
              <a:rPr sz="1500" b="1">
                <a:solidFill>
                  <a:srgbClr val="C7FA70"/>
                </a:solidFill>
                <a:latin typeface="Manrope"/>
              </a:rPr>
              <a:t>Clé d'identité froide</a:t>
            </a:r>
            <a:r>
              <a:rPr sz="1250" b="0">
                <a:solidFill>
                  <a:srgbClr val="F6F9FC"/>
                </a:solidFill>
                <a:latin typeface="DM Sans"/>
              </a:rPr>
              <a:t> : une seconde clé, gardée hors ligne, pour révoquer seul sa clé volée, sans quorum, même coffre gelé.</a:t>
            </a:r>
            <a:r>
              <a:rPr sz="1200" b="0">
                <a:solidFill>
                  <a:srgbClr val="A9B4C2"/>
                </a:solidFill>
                <a:latin typeface="DM Sans"/>
              </a:rPr>
              <a:t>  ·  Clé de contrainte : dit « oui » à l'écran, gèle en silence  ·  Probation des clés neuves.</a:t>
            </a:r>
          </a:p>
        </p:txBody>
      </p:sp>
      <p:sp>
        <p:nvSpPr>
          <p:cNvPr id="40" name="TextBox 39"/>
          <p:cNvSpPr txBox="1"/>
          <p:nvPr/>
        </p:nvSpPr>
        <p:spPr>
          <a:xfrm>
            <a:off x="731520" y="5724144"/>
            <a:ext cx="10728655" cy="45720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Deux modes, au choix du client : </a:t>
            </a:r>
            <a:r>
              <a:rPr sz="1300" b="1">
                <a:solidFill>
                  <a:srgbClr val="C7FA70"/>
                </a:solidFill>
                <a:latin typeface="DM Sans"/>
              </a:rPr>
              <a:t>Protection</a:t>
            </a:r>
            <a:r>
              <a:rPr sz="1300" b="0">
                <a:solidFill>
                  <a:srgbClr val="A9B4C2"/>
                </a:solidFill>
                <a:latin typeface="DM Sans"/>
              </a:rPr>
              <a:t> (Essentiel, Standard : signature en plus, mise en attente ; rien n'est jamais bloqué) · </a:t>
            </a:r>
            <a:r>
              <a:rPr sz="1300" b="1">
                <a:solidFill>
                  <a:srgbClr val="FFC481"/>
                </a:solidFill>
                <a:latin typeface="DM Sans"/>
              </a:rPr>
              <a:t>Cosignataire</a:t>
            </a:r>
            <a:r>
              <a:rPr sz="1300" b="0">
                <a:solidFill>
                  <a:srgbClr val="A9B4C2"/>
                </a:solidFill>
                <a:latin typeface="DM Sans"/>
              </a:rPr>
              <a:t> (Premium : un agent occupe un siège de signataire et refuse ; dérogation humaine après délai).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5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DÉMO &amp; PREUVES  </a:t>
            </a:r>
            <a:r>
              <a:rPr sz="1100" b="0">
                <a:solidFill>
                  <a:srgbClr val="A9B4C2"/>
                </a:solidFill>
                <a:latin typeface="DM Sans"/>
              </a:rPr>
              <a:t>mesuré, avant d'être affirmé : une seule fois, sur un jeu préparé à l'aveugle par l'autre membre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Sur Avalanche Fuji : 280 500 tentés, zéro sorti.</a:t>
            </a:r>
          </a:p>
        </p:txBody>
      </p:sp>
      <p:sp>
        <p:nvSpPr>
          <p:cNvPr id="11" name="Rounded Rectangle 10"/>
          <p:cNvSpPr/>
          <p:nvPr/>
        </p:nvSpPr>
        <p:spPr>
          <a:xfrm>
            <a:off x="73152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95 %</a:t>
            </a:r>
          </a:p>
        </p:txBody>
      </p:sp>
      <p:sp>
        <p:nvSpPr>
          <p:cNvPr id="14" name="TextBox 13"/>
          <p:cNvSpPr txBox="1"/>
          <p:nvPr/>
        </p:nvSpPr>
        <p:spPr>
          <a:xfrm>
            <a:off x="100584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fraudes freinées ou mises en attente, formes jamais vues</a:t>
            </a:r>
          </a:p>
        </p:txBody>
      </p:sp>
      <p:sp>
        <p:nvSpPr>
          <p:cNvPr id="15" name="Rounded Rectangle 14"/>
          <p:cNvSpPr/>
          <p:nvPr/>
        </p:nvSpPr>
        <p:spPr>
          <a:xfrm>
            <a:off x="346397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63975"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38295"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91 %</a:t>
            </a:r>
          </a:p>
        </p:txBody>
      </p:sp>
      <p:sp>
        <p:nvSpPr>
          <p:cNvPr id="18" name="TextBox 17"/>
          <p:cNvSpPr txBox="1"/>
          <p:nvPr/>
        </p:nvSpPr>
        <p:spPr>
          <a:xfrm>
            <a:off x="373829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des montants frauduleux mis en attente (1,12 M sur 1,23 M)</a:t>
            </a:r>
          </a:p>
        </p:txBody>
      </p:sp>
      <p:sp>
        <p:nvSpPr>
          <p:cNvPr id="19" name="Rounded Rectangle 18"/>
          <p:cNvSpPr/>
          <p:nvPr/>
        </p:nvSpPr>
        <p:spPr>
          <a:xfrm>
            <a:off x="619643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6430" y="2103120"/>
            <a:ext cx="54864" cy="164592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0750" y="2304288"/>
            <a:ext cx="2074087" cy="640080"/>
          </a:xfrm>
          <a:prstGeom prst="rect">
            <a:avLst/>
          </a:prstGeom>
          <a:noFill/>
        </p:spPr>
        <p:txBody>
          <a:bodyPr wrap="square" anchor="t" lIns="0" rIns="0" tIns="0" bIns="0">
            <a:spAutoFit/>
          </a:bodyPr>
          <a:lstStyle/>
          <a:p>
            <a:pPr algn="l">
              <a:lnSpc>
                <a:spcPct val="115000"/>
              </a:lnSpc>
            </a:pPr>
            <a:r>
              <a:rPr sz="3200" b="1">
                <a:solidFill>
                  <a:srgbClr val="FFC481"/>
                </a:solidFill>
                <a:latin typeface="Manrope"/>
              </a:rPr>
              <a:t>5,1 %</a:t>
            </a:r>
          </a:p>
        </p:txBody>
      </p:sp>
      <p:sp>
        <p:nvSpPr>
          <p:cNvPr id="22" name="TextBox 21"/>
          <p:cNvSpPr txBox="1"/>
          <p:nvPr/>
        </p:nvSpPr>
        <p:spPr>
          <a:xfrm>
            <a:off x="6470750"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de paiements légitimes retardés, tous des premiers paiements</a:t>
            </a:r>
          </a:p>
        </p:txBody>
      </p:sp>
      <p:sp>
        <p:nvSpPr>
          <p:cNvPr id="23" name="Rounded Rectangle 22"/>
          <p:cNvSpPr/>
          <p:nvPr/>
        </p:nvSpPr>
        <p:spPr>
          <a:xfrm>
            <a:off x="892888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28885" y="2103120"/>
            <a:ext cx="54864" cy="164592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03205" y="2304288"/>
            <a:ext cx="2074087" cy="640080"/>
          </a:xfrm>
          <a:prstGeom prst="rect">
            <a:avLst/>
          </a:prstGeom>
          <a:noFill/>
        </p:spPr>
        <p:txBody>
          <a:bodyPr wrap="square" anchor="t" lIns="0" rIns="0" tIns="0" bIns="0">
            <a:spAutoFit/>
          </a:bodyPr>
          <a:lstStyle/>
          <a:p>
            <a:pPr algn="l">
              <a:lnSpc>
                <a:spcPct val="115000"/>
              </a:lnSpc>
            </a:pPr>
            <a:r>
              <a:rPr sz="3200" b="1">
                <a:solidFill>
                  <a:srgbClr val="A8BFFF"/>
                </a:solidFill>
                <a:latin typeface="Manrope"/>
              </a:rPr>
              <a:t>5 – 6 s</a:t>
            </a:r>
          </a:p>
        </p:txBody>
      </p:sp>
      <p:sp>
        <p:nvSpPr>
          <p:cNvPr id="26" name="TextBox 25"/>
          <p:cNvSpPr txBox="1"/>
          <p:nvPr/>
        </p:nvSpPr>
        <p:spPr>
          <a:xfrm>
            <a:off x="9203205" y="2962656"/>
            <a:ext cx="2074087" cy="77724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pour signaler, sur 30 s d'examen · 0,002 $ de gas par alerte</a:t>
            </a:r>
          </a:p>
        </p:txBody>
      </p:sp>
      <p:sp>
        <p:nvSpPr>
          <p:cNvPr id="27" name="Rounded Rectangle 26"/>
          <p:cNvSpPr/>
          <p:nvPr/>
        </p:nvSpPr>
        <p:spPr>
          <a:xfrm>
            <a:off x="731520"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100 %</a:t>
            </a:r>
          </a:p>
        </p:txBody>
      </p:sp>
      <p:sp>
        <p:nvSpPr>
          <p:cNvPr id="30" name="TextBox 29"/>
          <p:cNvSpPr txBox="1"/>
          <p:nvPr/>
        </p:nvSpPr>
        <p:spPr>
          <a:xfrm>
            <a:off x="1005840"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oracle Web : précision et rappel sur 35 adresses · 7 injections déjouées</a:t>
            </a:r>
          </a:p>
        </p:txBody>
      </p:sp>
      <p:sp>
        <p:nvSpPr>
          <p:cNvPr id="31" name="Rounded Rectangle 30"/>
          <p:cNvSpPr/>
          <p:nvPr/>
        </p:nvSpPr>
        <p:spPr>
          <a:xfrm>
            <a:off x="4374794"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74794"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9114"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0 · 50 · 7 000</a:t>
            </a:r>
          </a:p>
        </p:txBody>
      </p:sp>
      <p:sp>
        <p:nvSpPr>
          <p:cNvPr id="34" name="TextBox 33"/>
          <p:cNvSpPr txBox="1"/>
          <p:nvPr/>
        </p:nvSpPr>
        <p:spPr>
          <a:xfrm>
            <a:off x="4649114"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grave (Slither) · tests · appels aléatoires, 0 invariant violé</a:t>
            </a:r>
          </a:p>
        </p:txBody>
      </p:sp>
      <p:sp>
        <p:nvSpPr>
          <p:cNvPr id="35" name="Rounded Rectangle 34"/>
          <p:cNvSpPr/>
          <p:nvPr/>
        </p:nvSpPr>
        <p:spPr>
          <a:xfrm>
            <a:off x="8018068"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18068" y="3977639"/>
            <a:ext cx="54864" cy="146304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92388" y="4178807"/>
            <a:ext cx="2984906" cy="640080"/>
          </a:xfrm>
          <a:prstGeom prst="rect">
            <a:avLst/>
          </a:prstGeom>
          <a:noFill/>
        </p:spPr>
        <p:txBody>
          <a:bodyPr wrap="square" anchor="t" lIns="0" rIns="0" tIns="0" bIns="0">
            <a:spAutoFit/>
          </a:bodyPr>
          <a:lstStyle/>
          <a:p>
            <a:pPr algn="l">
              <a:lnSpc>
                <a:spcPct val="115000"/>
              </a:lnSpc>
            </a:pPr>
            <a:r>
              <a:rPr sz="2400" b="1">
                <a:solidFill>
                  <a:srgbClr val="FFC481"/>
                </a:solidFill>
                <a:latin typeface="Manrope"/>
              </a:rPr>
              <a:t>synthétique</a:t>
            </a:r>
          </a:p>
        </p:txBody>
      </p:sp>
      <p:sp>
        <p:nvSpPr>
          <p:cNvPr id="38" name="TextBox 37"/>
          <p:cNvSpPr txBox="1"/>
          <p:nvPr/>
        </p:nvSpPr>
        <p:spPr>
          <a:xfrm>
            <a:off x="8292388" y="4837175"/>
            <a:ext cx="2984906"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données fabriquées par nous · contrat pas encore audité par un tiers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6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OFFRE  </a:t>
            </a:r>
            <a:r>
              <a:rPr sz="1100" b="0">
                <a:solidFill>
                  <a:srgbClr val="A9B4C2"/>
                </a:solidFill>
                <a:latin typeface="DM Sans"/>
              </a:rPr>
              <a:t>une gradation, une offre : une personne de plus, du temps, un refus</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Un prix affiché, selon le pouvoir que vous déléguez</a:t>
            </a:r>
          </a:p>
        </p:txBody>
      </p:sp>
      <p:sp>
        <p:nvSpPr>
          <p:cNvPr id="11" name="Rounded Rectangle 10"/>
          <p:cNvSpPr/>
          <p:nvPr/>
        </p:nvSpPr>
        <p:spPr>
          <a:xfrm>
            <a:off x="731520"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103120"/>
            <a:ext cx="54864" cy="251460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Observation</a:t>
            </a:r>
          </a:p>
        </p:txBody>
      </p:sp>
      <p:sp>
        <p:nvSpPr>
          <p:cNvPr id="14" name="TextBox 13"/>
          <p:cNvSpPr txBox="1"/>
          <p:nvPr/>
        </p:nvSpPr>
        <p:spPr>
          <a:xfrm>
            <a:off x="1005840"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0 €</a:t>
            </a:r>
            <a:r>
              <a:rPr sz="1100" b="0">
                <a:solidFill>
                  <a:srgbClr val="7F8B9B"/>
                </a:solidFill>
                <a:latin typeface="DM Sans"/>
              </a:rPr>
              <a:t>  30 jours</a:t>
            </a:r>
          </a:p>
        </p:txBody>
      </p:sp>
      <p:sp>
        <p:nvSpPr>
          <p:cNvPr id="15" name="TextBox 14"/>
          <p:cNvSpPr txBox="1"/>
          <p:nvPr/>
        </p:nvSpPr>
        <p:spPr>
          <a:xfrm>
            <a:off x="1005840" y="3154680"/>
            <a:ext cx="2087803" cy="365760"/>
          </a:xfrm>
          <a:prstGeom prst="rect">
            <a:avLst/>
          </a:prstGeom>
          <a:noFill/>
        </p:spPr>
        <p:txBody>
          <a:bodyPr wrap="square" anchor="t" lIns="0" rIns="0" tIns="0" bIns="0">
            <a:spAutoFit/>
          </a:bodyPr>
          <a:lstStyle/>
          <a:p>
            <a:pPr algn="l">
              <a:lnSpc>
                <a:spcPct val="115000"/>
              </a:lnSpc>
            </a:pPr>
            <a:r>
              <a:rPr sz="1500" b="1">
                <a:solidFill>
                  <a:srgbClr val="F6F9FC"/>
                </a:solidFill>
                <a:latin typeface="Manrope"/>
              </a:rPr>
              <a:t>Regarde, explique</a:t>
            </a:r>
          </a:p>
        </p:txBody>
      </p:sp>
      <p:sp>
        <p:nvSpPr>
          <p:cNvPr id="16" name="TextBox 15"/>
          <p:cNvSpPr txBox="1"/>
          <p:nvPr/>
        </p:nvSpPr>
        <p:spPr>
          <a:xfrm>
            <a:off x="1005840"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rien ne change à vos paiements · alertes et explications en lecture seule · rapport de fin d'observation</a:t>
            </a:r>
          </a:p>
        </p:txBody>
      </p:sp>
      <p:sp>
        <p:nvSpPr>
          <p:cNvPr id="17" name="Rounded Rectangle 16"/>
          <p:cNvSpPr/>
          <p:nvPr/>
        </p:nvSpPr>
        <p:spPr>
          <a:xfrm>
            <a:off x="3459403"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59403" y="2103120"/>
            <a:ext cx="54864" cy="251460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3723"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Essentiel</a:t>
            </a:r>
          </a:p>
        </p:txBody>
      </p:sp>
      <p:sp>
        <p:nvSpPr>
          <p:cNvPr id="20" name="TextBox 19"/>
          <p:cNvSpPr txBox="1"/>
          <p:nvPr/>
        </p:nvSpPr>
        <p:spPr>
          <a:xfrm>
            <a:off x="3733723"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149 €</a:t>
            </a:r>
            <a:r>
              <a:rPr sz="1100" b="0">
                <a:solidFill>
                  <a:srgbClr val="7F8B9B"/>
                </a:solidFill>
                <a:latin typeface="DM Sans"/>
              </a:rPr>
              <a:t>  / mois</a:t>
            </a:r>
          </a:p>
        </p:txBody>
      </p:sp>
      <p:sp>
        <p:nvSpPr>
          <p:cNvPr id="21" name="TextBox 20"/>
          <p:cNvSpPr txBox="1"/>
          <p:nvPr/>
        </p:nvSpPr>
        <p:spPr>
          <a:xfrm>
            <a:off x="3733723" y="3154680"/>
            <a:ext cx="2087803" cy="365760"/>
          </a:xfrm>
          <a:prstGeom prst="rect">
            <a:avLst/>
          </a:prstGeom>
          <a:noFill/>
        </p:spPr>
        <p:txBody>
          <a:bodyPr wrap="square" anchor="t" lIns="0" rIns="0" tIns="0" bIns="0">
            <a:spAutoFit/>
          </a:bodyPr>
          <a:lstStyle/>
          <a:p>
            <a:pPr algn="l">
              <a:lnSpc>
                <a:spcPct val="115000"/>
              </a:lnSpc>
            </a:pPr>
            <a:r>
              <a:rPr sz="1500" b="1">
                <a:solidFill>
                  <a:srgbClr val="A8BFFF"/>
                </a:solidFill>
                <a:latin typeface="Manrope"/>
              </a:rPr>
              <a:t>+ une personne</a:t>
            </a:r>
          </a:p>
        </p:txBody>
      </p:sp>
      <p:sp>
        <p:nvSpPr>
          <p:cNvPr id="22" name="TextBox 21"/>
          <p:cNvSpPr txBox="1"/>
          <p:nvPr/>
        </p:nvSpPr>
        <p:spPr>
          <a:xfrm>
            <a:off x="3733723"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signature en plus sur les paiements inhabituels · explications en français · listes OFAC / ScamSniffer · notifications</a:t>
            </a:r>
          </a:p>
        </p:txBody>
      </p:sp>
      <p:sp>
        <p:nvSpPr>
          <p:cNvPr id="23" name="Rounded Rectangle 22"/>
          <p:cNvSpPr/>
          <p:nvPr/>
        </p:nvSpPr>
        <p:spPr>
          <a:xfrm>
            <a:off x="6187286" y="2103120"/>
            <a:ext cx="2545003" cy="2514600"/>
          </a:xfrm>
          <a:prstGeom prst="roundRect">
            <a:avLst>
              <a:gd name="adj" fmla="val 6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7286" y="2103120"/>
            <a:ext cx="54864" cy="25146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1606"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Standard</a:t>
            </a:r>
          </a:p>
        </p:txBody>
      </p:sp>
      <p:sp>
        <p:nvSpPr>
          <p:cNvPr id="26" name="TextBox 25"/>
          <p:cNvSpPr txBox="1"/>
          <p:nvPr/>
        </p:nvSpPr>
        <p:spPr>
          <a:xfrm>
            <a:off x="6461606"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449 €</a:t>
            </a:r>
            <a:r>
              <a:rPr sz="1100" b="0">
                <a:solidFill>
                  <a:srgbClr val="7F8B9B"/>
                </a:solidFill>
                <a:latin typeface="DM Sans"/>
              </a:rPr>
              <a:t>  / mois</a:t>
            </a:r>
          </a:p>
        </p:txBody>
      </p:sp>
      <p:sp>
        <p:nvSpPr>
          <p:cNvPr id="27" name="TextBox 26"/>
          <p:cNvSpPr txBox="1"/>
          <p:nvPr/>
        </p:nvSpPr>
        <p:spPr>
          <a:xfrm>
            <a:off x="6461606" y="3154680"/>
            <a:ext cx="2087803" cy="365760"/>
          </a:xfrm>
          <a:prstGeom prst="rect">
            <a:avLst/>
          </a:prstGeom>
          <a:noFill/>
        </p:spPr>
        <p:txBody>
          <a:bodyPr wrap="square" anchor="t" lIns="0" rIns="0" tIns="0" bIns="0">
            <a:spAutoFit/>
          </a:bodyPr>
          <a:lstStyle/>
          <a:p>
            <a:pPr algn="l">
              <a:lnSpc>
                <a:spcPct val="115000"/>
              </a:lnSpc>
            </a:pPr>
            <a:r>
              <a:rPr sz="1500" b="1">
                <a:solidFill>
                  <a:srgbClr val="FFC481"/>
                </a:solidFill>
                <a:latin typeface="Manrope"/>
              </a:rPr>
              <a:t>+ du temps</a:t>
            </a:r>
          </a:p>
        </p:txBody>
      </p:sp>
      <p:sp>
        <p:nvSpPr>
          <p:cNvPr id="28" name="TextBox 27"/>
          <p:cNvSpPr txBox="1"/>
          <p:nvPr/>
        </p:nvSpPr>
        <p:spPr>
          <a:xfrm>
            <a:off x="6461606"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mise en attente : rien ne part, même avec toutes les signatures · oracle Web, traçage, sosies · clé d'identité froide, clé de contrainte, gel · rapport d'incident</a:t>
            </a:r>
          </a:p>
        </p:txBody>
      </p:sp>
      <p:sp>
        <p:nvSpPr>
          <p:cNvPr id="29" name="Rounded Rectangle 28"/>
          <p:cNvSpPr/>
          <p:nvPr/>
        </p:nvSpPr>
        <p:spPr>
          <a:xfrm>
            <a:off x="8915169" y="2103120"/>
            <a:ext cx="2545003" cy="2514600"/>
          </a:xfrm>
          <a:prstGeom prst="roundRect">
            <a:avLst>
              <a:gd name="adj" fmla="val 6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15169" y="2103120"/>
            <a:ext cx="54864" cy="2514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89489" y="2286000"/>
            <a:ext cx="2087803" cy="320040"/>
          </a:xfrm>
          <a:prstGeom prst="rect">
            <a:avLst/>
          </a:prstGeom>
          <a:noFill/>
        </p:spPr>
        <p:txBody>
          <a:bodyPr wrap="square" anchor="t" lIns="0" rIns="0" tIns="0" bIns="0">
            <a:spAutoFit/>
          </a:bodyPr>
          <a:lstStyle/>
          <a:p>
            <a:pPr algn="l">
              <a:lnSpc>
                <a:spcPct val="115000"/>
              </a:lnSpc>
            </a:pPr>
            <a:r>
              <a:rPr sz="1250" b="1">
                <a:solidFill>
                  <a:srgbClr val="A9B4C2"/>
                </a:solidFill>
                <a:latin typeface="DM Sans"/>
              </a:rPr>
              <a:t>Premium</a:t>
            </a:r>
          </a:p>
        </p:txBody>
      </p:sp>
      <p:sp>
        <p:nvSpPr>
          <p:cNvPr id="32" name="TextBox 31"/>
          <p:cNvSpPr txBox="1"/>
          <p:nvPr/>
        </p:nvSpPr>
        <p:spPr>
          <a:xfrm>
            <a:off x="9189489" y="2560320"/>
            <a:ext cx="2087803" cy="54864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990 €</a:t>
            </a:r>
            <a:r>
              <a:rPr sz="1100" b="0">
                <a:solidFill>
                  <a:srgbClr val="7F8B9B"/>
                </a:solidFill>
                <a:latin typeface="DM Sans"/>
              </a:rPr>
              <a:t>  / mois</a:t>
            </a:r>
          </a:p>
        </p:txBody>
      </p:sp>
      <p:sp>
        <p:nvSpPr>
          <p:cNvPr id="33" name="TextBox 32"/>
          <p:cNvSpPr txBox="1"/>
          <p:nvPr/>
        </p:nvSpPr>
        <p:spPr>
          <a:xfrm>
            <a:off x="9189489" y="3154680"/>
            <a:ext cx="2087803" cy="365760"/>
          </a:xfrm>
          <a:prstGeom prst="rect">
            <a:avLst/>
          </a:prstGeom>
          <a:noFill/>
        </p:spPr>
        <p:txBody>
          <a:bodyPr wrap="square" anchor="t" lIns="0" rIns="0" tIns="0" bIns="0">
            <a:spAutoFit/>
          </a:bodyPr>
          <a:lstStyle/>
          <a:p>
            <a:pPr algn="l">
              <a:lnSpc>
                <a:spcPct val="115000"/>
              </a:lnSpc>
            </a:pPr>
            <a:r>
              <a:rPr sz="1500" b="1">
                <a:solidFill>
                  <a:srgbClr val="C7FA70"/>
                </a:solidFill>
                <a:latin typeface="Manrope"/>
              </a:rPr>
              <a:t>+ un refus</a:t>
            </a:r>
          </a:p>
        </p:txBody>
      </p:sp>
      <p:sp>
        <p:nvSpPr>
          <p:cNvPr id="34" name="TextBox 33"/>
          <p:cNvSpPr txBox="1"/>
          <p:nvPr/>
        </p:nvSpPr>
        <p:spPr>
          <a:xfrm>
            <a:off x="9189489" y="3520440"/>
            <a:ext cx="2087803" cy="1005840"/>
          </a:xfrm>
          <a:prstGeom prst="rect">
            <a:avLst/>
          </a:prstGeom>
          <a:noFill/>
        </p:spPr>
        <p:txBody>
          <a:bodyPr wrap="square" anchor="t" lIns="0" rIns="0" tIns="0" bIns="0">
            <a:spAutoFit/>
          </a:bodyPr>
          <a:lstStyle/>
          <a:p>
            <a:pPr algn="l">
              <a:lnSpc>
                <a:spcPct val="112000"/>
              </a:lnSpc>
            </a:pPr>
            <a:r>
              <a:rPr sz="1050" b="0">
                <a:solidFill>
                  <a:srgbClr val="A9B4C2"/>
                </a:solidFill>
                <a:latin typeface="DM Sans"/>
              </a:rPr>
              <a:t>mode Cosignataire : un agent occupe un siège de signataire et peut dire non, dérogation humaine après délai · réglages sur mesure · support, disponibilité garantie</a:t>
            </a:r>
          </a:p>
        </p:txBody>
      </p:sp>
      <p:sp>
        <p:nvSpPr>
          <p:cNvPr id="35" name="TextBox 34"/>
          <p:cNvSpPr txBox="1"/>
          <p:nvPr/>
        </p:nvSpPr>
        <p:spPr>
          <a:xfrm>
            <a:off x="731520" y="4837176"/>
            <a:ext cx="1143000"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Pourquoi ces prix</a:t>
            </a:r>
          </a:p>
        </p:txBody>
      </p:sp>
      <p:sp>
        <p:nvSpPr>
          <p:cNvPr id="36" name="TextBox 35"/>
          <p:cNvSpPr txBox="1"/>
          <p:nvPr/>
        </p:nvSpPr>
        <p:spPr>
          <a:xfrm>
            <a:off x="2011680" y="4837176"/>
            <a:ext cx="9311335"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
            </a:r>
          </a:p>
        </p:txBody>
      </p:sp>
      <p:sp>
        <p:nvSpPr>
          <p:cNvPr id="37" name="Rectangle 36"/>
          <p:cNvSpPr/>
          <p:nvPr/>
        </p:nvSpPr>
        <p:spPr>
          <a:xfrm>
            <a:off x="731520" y="509635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166360"/>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449 €</a:t>
            </a:r>
          </a:p>
        </p:txBody>
      </p:sp>
      <p:sp>
        <p:nvSpPr>
          <p:cNvPr id="39" name="TextBox 38"/>
          <p:cNvSpPr txBox="1"/>
          <p:nvPr/>
        </p:nvSpPr>
        <p:spPr>
          <a:xfrm>
            <a:off x="2011680" y="5166360"/>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5 % de la perte évitée, borne haute (9,5 % × 1,3 M$ × 91 % ≈ 112 k$/an) · 0,05 à 0,5 % de la trésorerie par an · repère : Safe Pro Business 669 €</a:t>
            </a:r>
          </a:p>
        </p:txBody>
      </p:sp>
      <p:sp>
        <p:nvSpPr>
          <p:cNvPr id="40" name="Rectangle 39"/>
          <p:cNvSpPr/>
          <p:nvPr/>
        </p:nvSpPr>
        <p:spPr>
          <a:xfrm>
            <a:off x="731520" y="54255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495544"/>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990 €</a:t>
            </a:r>
          </a:p>
        </p:txBody>
      </p:sp>
      <p:sp>
        <p:nvSpPr>
          <p:cNvPr id="42" name="TextBox 41"/>
          <p:cNvSpPr txBox="1"/>
          <p:nvPr/>
        </p:nvSpPr>
        <p:spPr>
          <a:xfrm>
            <a:off x="2011680" y="5495544"/>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10 % de la perte évitée, le plafond : le seul niveau où quelqu'un dit non à votre place quand tous vos signataires sont trompés · repère : Fireblocks 999 $</a:t>
            </a:r>
          </a:p>
        </p:txBody>
      </p:sp>
      <p:sp>
        <p:nvSpPr>
          <p:cNvPr id="43" name="Rectangle 42"/>
          <p:cNvSpPr/>
          <p:nvPr/>
        </p:nvSpPr>
        <p:spPr>
          <a:xfrm>
            <a:off x="731520" y="57547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824728"/>
            <a:ext cx="1143000" cy="329184"/>
          </a:xfrm>
          <a:prstGeom prst="rect">
            <a:avLst/>
          </a:prstGeom>
          <a:noFill/>
        </p:spPr>
        <p:txBody>
          <a:bodyPr wrap="square" anchor="t" lIns="0" rIns="0" tIns="0" bIns="0">
            <a:spAutoFit/>
          </a:bodyPr>
          <a:lstStyle/>
          <a:p>
            <a:pPr algn="l">
              <a:lnSpc>
                <a:spcPct val="105000"/>
              </a:lnSpc>
            </a:pPr>
            <a:r>
              <a:rPr sz="1050" b="1">
                <a:solidFill>
                  <a:srgbClr val="F6F9FC"/>
                </a:solidFill>
                <a:latin typeface="DM Sans"/>
              </a:rPr>
              <a:t>Entreprise</a:t>
            </a:r>
          </a:p>
        </p:txBody>
      </p:sp>
      <p:sp>
        <p:nvSpPr>
          <p:cNvPr id="45" name="TextBox 44"/>
          <p:cNvSpPr txBox="1"/>
          <p:nvPr/>
        </p:nvSpPr>
        <p:spPr>
          <a:xfrm>
            <a:off x="2011680" y="5824728"/>
            <a:ext cx="9311335" cy="329184"/>
          </a:xfrm>
          <a:prstGeom prst="rect">
            <a:avLst/>
          </a:prstGeom>
          <a:noFill/>
        </p:spPr>
        <p:txBody>
          <a:bodyPr wrap="square" anchor="t" lIns="0" rIns="0" tIns="0" bIns="0">
            <a:spAutoFit/>
          </a:bodyPr>
          <a:lstStyle/>
          <a:p>
            <a:pPr algn="l">
              <a:lnSpc>
                <a:spcPct val="105000"/>
              </a:lnSpc>
            </a:pPr>
            <a:r>
              <a:rPr sz="1050" b="0">
                <a:solidFill>
                  <a:srgbClr val="E7EDF4"/>
                </a:solidFill>
                <a:latin typeface="DM Sans"/>
              </a:rPr>
              <a:t>sur devis : plusieurs entités, audit, intégrations · coût marginal ≈ 1,2 $/client/mois : la valeur dicte le prix</a:t>
            </a:r>
          </a:p>
        </p:txBody>
      </p:sp>
      <p:sp>
        <p:nvSpPr>
          <p:cNvPr id="46" name="Rectangle 45"/>
          <p:cNvSpPr/>
          <p:nvPr/>
        </p:nvSpPr>
        <p:spPr>
          <a:xfrm>
            <a:off x="731520" y="60839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7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MISE SUR LE MARCHÉ  </a:t>
            </a:r>
            <a:r>
              <a:rPr sz="1100" b="0">
                <a:solidFill>
                  <a:srgbClr val="A9B4C2"/>
                </a:solidFill>
                <a:latin typeface="DM Sans"/>
              </a:rPr>
              <a:t>aucun pourcentage de part de marché : un entonnoir, chaque étape sourcée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200" b="1">
                <a:solidFill>
                  <a:srgbClr val="F6F9FC"/>
                </a:solidFill>
                <a:latin typeface="Manrope"/>
              </a:rPr>
              <a:t>Première année : 111 organisations présentées, 5 à 10 clients payants.</a:t>
            </a:r>
          </a:p>
        </p:txBody>
      </p:sp>
      <p:sp>
        <p:nvSpPr>
          <p:cNvPr id="11" name="Rounded Rectangle 10"/>
          <p:cNvSpPr/>
          <p:nvPr/>
        </p:nvSpPr>
        <p:spPr>
          <a:xfrm>
            <a:off x="73152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111 contactables</a:t>
            </a:r>
          </a:p>
        </p:txBody>
      </p:sp>
      <p:sp>
        <p:nvSpPr>
          <p:cNvPr id="13" name="TextBox 12"/>
          <p:cNvSpPr txBox="1"/>
          <p:nvPr/>
        </p:nvSpPr>
        <p:spPr>
          <a:xfrm>
            <a:off x="96012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Retro9000 30 + équipes de L1 10 + protocoles &gt; 1 M$ sur Avalanche 71, présentées par l'écosystème</a:t>
            </a:r>
          </a:p>
        </p:txBody>
      </p:sp>
      <p:sp>
        <p:nvSpPr>
          <p:cNvPr id="14" name="TextBox 13"/>
          <p:cNvSpPr txBox="1"/>
          <p:nvPr/>
        </p:nvSpPr>
        <p:spPr>
          <a:xfrm>
            <a:off x="399684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5" name="Rounded Rectangle 14"/>
          <p:cNvSpPr/>
          <p:nvPr/>
        </p:nvSpPr>
        <p:spPr>
          <a:xfrm>
            <a:off x="451805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665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56 en observation</a:t>
            </a:r>
          </a:p>
        </p:txBody>
      </p:sp>
      <p:sp>
        <p:nvSpPr>
          <p:cNvPr id="17" name="TextBox 16"/>
          <p:cNvSpPr txBox="1"/>
          <p:nvPr/>
        </p:nvSpPr>
        <p:spPr>
          <a:xfrm>
            <a:off x="474665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50 % : une équipe sur deux accepte l'essai gratuit ; seule hypothèse non sourcée, mesurée dès octobre</a:t>
            </a:r>
          </a:p>
        </p:txBody>
      </p:sp>
      <p:sp>
        <p:nvSpPr>
          <p:cNvPr id="18" name="TextBox 17"/>
          <p:cNvSpPr txBox="1"/>
          <p:nvPr/>
        </p:nvSpPr>
        <p:spPr>
          <a:xfrm>
            <a:off x="778337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9" name="Rounded Rectangle 18"/>
          <p:cNvSpPr/>
          <p:nvPr/>
        </p:nvSpPr>
        <p:spPr>
          <a:xfrm>
            <a:off x="8304580" y="2194560"/>
            <a:ext cx="3155594" cy="137160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04580" y="2194560"/>
            <a:ext cx="54864" cy="1371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3318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5 à 10 payants</a:t>
            </a:r>
          </a:p>
        </p:txBody>
      </p:sp>
      <p:sp>
        <p:nvSpPr>
          <p:cNvPr id="22" name="TextBox 21"/>
          <p:cNvSpPr txBox="1"/>
          <p:nvPr/>
        </p:nvSpPr>
        <p:spPr>
          <a:xfrm>
            <a:off x="853318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8,9 – 18,5 % : conversion essai → payant du SaaS B2B sans carte bancaire</a:t>
            </a:r>
          </a:p>
        </p:txBody>
      </p:sp>
      <p:sp>
        <p:nvSpPr>
          <p:cNvPr id="23" name="TextBox 22"/>
          <p:cNvSpPr txBox="1"/>
          <p:nvPr/>
        </p:nvSpPr>
        <p:spPr>
          <a:xfrm>
            <a:off x="731520" y="3813047"/>
            <a:ext cx="22402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Quand</a:t>
            </a:r>
          </a:p>
        </p:txBody>
      </p:sp>
      <p:sp>
        <p:nvSpPr>
          <p:cNvPr id="24" name="TextBox 23"/>
          <p:cNvSpPr txBox="1"/>
          <p:nvPr/>
        </p:nvSpPr>
        <p:spPr>
          <a:xfrm>
            <a:off x="3108960" y="3813047"/>
            <a:ext cx="82140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Jalon</a:t>
            </a:r>
          </a:p>
        </p:txBody>
      </p:sp>
      <p:sp>
        <p:nvSpPr>
          <p:cNvPr id="25" name="Rectangle 24"/>
          <p:cNvSpPr/>
          <p:nvPr/>
        </p:nvSpPr>
        <p:spPr>
          <a:xfrm>
            <a:off x="731520" y="405393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123943"/>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oct. 2026</a:t>
            </a:r>
          </a:p>
        </p:txBody>
      </p:sp>
      <p:sp>
        <p:nvSpPr>
          <p:cNvPr id="27" name="TextBox 26"/>
          <p:cNvSpPr txBox="1"/>
          <p:nvPr/>
        </p:nvSpPr>
        <p:spPr>
          <a:xfrm>
            <a:off x="3108960" y="4123943"/>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dépôt public · ≥ 10 organisations en observation · dossier subvention</a:t>
            </a:r>
          </a:p>
        </p:txBody>
      </p:sp>
      <p:sp>
        <p:nvSpPr>
          <p:cNvPr id="28" name="Rectangle 27"/>
          <p:cNvSpPr/>
          <p:nvPr/>
        </p:nvSpPr>
        <p:spPr>
          <a:xfrm>
            <a:off x="731520" y="4364831"/>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434839"/>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nov. – déc.</a:t>
            </a:r>
          </a:p>
        </p:txBody>
      </p:sp>
      <p:sp>
        <p:nvSpPr>
          <p:cNvPr id="30" name="TextBox 29"/>
          <p:cNvSpPr txBox="1"/>
          <p:nvPr/>
        </p:nvSpPr>
        <p:spPr>
          <a:xfrm>
            <a:off x="3108960" y="4434839"/>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greffon sur le Safe du client · mesurer la part des équipes qui acceptent l'essai (hypothèse : une sur deux)</a:t>
            </a:r>
          </a:p>
        </p:txBody>
      </p:sp>
      <p:sp>
        <p:nvSpPr>
          <p:cNvPr id="31" name="Rectangle 30"/>
          <p:cNvSpPr/>
          <p:nvPr/>
        </p:nvSpPr>
        <p:spPr>
          <a:xfrm>
            <a:off x="731520" y="4675727"/>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745735"/>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janv. 2027</a:t>
            </a:r>
          </a:p>
        </p:txBody>
      </p:sp>
      <p:sp>
        <p:nvSpPr>
          <p:cNvPr id="33" name="TextBox 32"/>
          <p:cNvSpPr txBox="1"/>
          <p:nvPr/>
        </p:nvSpPr>
        <p:spPr>
          <a:xfrm>
            <a:off x="3108960" y="4745735"/>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contrat gelé, audit externe, puis premiers clients payants</a:t>
            </a:r>
          </a:p>
        </p:txBody>
      </p:sp>
      <p:sp>
        <p:nvSpPr>
          <p:cNvPr id="34" name="Rectangle 33"/>
          <p:cNvSpPr/>
          <p:nvPr/>
        </p:nvSpPr>
        <p:spPr>
          <a:xfrm>
            <a:off x="731520" y="4986623"/>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056631"/>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mars 2027</a:t>
            </a:r>
          </a:p>
        </p:txBody>
      </p:sp>
      <p:sp>
        <p:nvSpPr>
          <p:cNvPr id="36" name="TextBox 35"/>
          <p:cNvSpPr txBox="1"/>
          <p:nvPr/>
        </p:nvSpPr>
        <p:spPr>
          <a:xfrm>
            <a:off x="3108960" y="5056631"/>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même code sur une 2e chaîne EVM : marché × 11 à 19</a:t>
            </a:r>
          </a:p>
        </p:txBody>
      </p:sp>
      <p:sp>
        <p:nvSpPr>
          <p:cNvPr id="37" name="Rectangle 36"/>
          <p:cNvSpPr/>
          <p:nvPr/>
        </p:nvSpPr>
        <p:spPr>
          <a:xfrm>
            <a:off x="731520" y="5297519"/>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367527"/>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T2 – T3 2027</a:t>
            </a:r>
          </a:p>
        </p:txBody>
      </p:sp>
      <p:sp>
        <p:nvSpPr>
          <p:cNvPr id="39" name="TextBox 38"/>
          <p:cNvSpPr txBox="1"/>
          <p:nvPr/>
        </p:nvSpPr>
        <p:spPr>
          <a:xfrm>
            <a:off x="3108960" y="5367527"/>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point mort : 10 clients Standard (coûts fixes 4 300 €/mois : 2 fondateurs à 2 000 € + 300 € d'infra) ; Avalanche seul suffit à 18,5 % de conversion, un écosystème EVM de plus à 8,9 % ; plus tôt avec un Premium</a:t>
            </a:r>
          </a:p>
        </p:txBody>
      </p:sp>
      <p:sp>
        <p:nvSpPr>
          <p:cNvPr id="40" name="Rectangle 39"/>
          <p:cNvSpPr/>
          <p:nvPr/>
        </p:nvSpPr>
        <p:spPr>
          <a:xfrm>
            <a:off x="731520" y="560841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8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ÉQUIPE · LIMITES · SUITE  </a:t>
            </a:r>
            <a:r>
              <a:rPr sz="1100" b="0">
                <a:solidFill>
                  <a:srgbClr val="A9B4C2"/>
                </a:solidFill>
                <a:latin typeface="DM Sans"/>
              </a:rPr>
              <a:t>36 heures</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Conçu pour être vérifié, pas pour être cru.</a:t>
            </a:r>
          </a:p>
        </p:txBody>
      </p:sp>
      <p:sp>
        <p:nvSpPr>
          <p:cNvPr id="11" name="TextBox 10"/>
          <p:cNvSpPr txBox="1"/>
          <p:nvPr/>
        </p:nvSpPr>
        <p:spPr>
          <a:xfrm>
            <a:off x="731520" y="2286000"/>
            <a:ext cx="5181447" cy="365760"/>
          </a:xfrm>
          <a:prstGeom prst="rect">
            <a:avLst/>
          </a:prstGeom>
          <a:noFill/>
        </p:spPr>
        <p:txBody>
          <a:bodyPr wrap="square" anchor="t" lIns="0" rIns="0" tIns="0" bIns="0">
            <a:spAutoFit/>
          </a:bodyPr>
          <a:lstStyle/>
          <a:p>
            <a:pPr algn="l">
              <a:lnSpc>
                <a:spcPct val="115000"/>
              </a:lnSpc>
            </a:pPr>
            <a:r>
              <a:rPr sz="1400" b="1">
                <a:solidFill>
                  <a:srgbClr val="FFC481"/>
                </a:solidFill>
                <a:latin typeface="DM Sans"/>
              </a:rPr>
              <a:t>Ce qu'on ne cache pas</a:t>
            </a:r>
          </a:p>
        </p:txBody>
      </p:sp>
      <p:sp>
        <p:nvSpPr>
          <p:cNvPr id="12" name="TextBox 11"/>
          <p:cNvSpPr txBox="1"/>
          <p:nvPr/>
        </p:nvSpPr>
        <p:spPr>
          <a:xfrm>
            <a:off x="731520"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Données synthétiques : une organisation fictive, trois mois de trafic.</a:t>
            </a:r>
          </a:p>
          <a:p>
            <a:pPr algn="l">
              <a:lnSpc>
                <a:spcPct val="135000"/>
              </a:lnSpc>
            </a:pPr>
            <a:r>
              <a:rPr sz="1400" b="0">
                <a:solidFill>
                  <a:srgbClr val="E7EDF4"/>
                </a:solidFill>
                <a:latin typeface="DM Sans"/>
              </a:rPr>
              <a:t>•  Contrat non audité par un tiers ; réseau de test.</a:t>
            </a:r>
          </a:p>
          <a:p>
            <a:pPr algn="l">
              <a:lnSpc>
                <a:spcPct val="135000"/>
              </a:lnSpc>
            </a:pPr>
            <a:r>
              <a:rPr sz="1400" b="0">
                <a:solidFill>
                  <a:srgbClr val="E7EDF4"/>
                </a:solidFill>
                <a:latin typeface="DM Sans"/>
              </a:rPr>
              <a:t>•  Le coffre de la démo tient lieu du Safe du client : le greffon reste à écrire.</a:t>
            </a:r>
          </a:p>
          <a:p>
            <a:pPr algn="l">
              <a:lnSpc>
                <a:spcPct val="135000"/>
              </a:lnSpc>
            </a:pPr>
            <a:r>
              <a:rPr sz="1400" b="0">
                <a:solidFill>
                  <a:srgbClr val="E7EDF4"/>
                </a:solidFill>
                <a:latin typeface="DM Sans"/>
              </a:rPr>
              <a:t>•  Aucun client interrogé, aucun prix validé par le marché.</a:t>
            </a:r>
          </a:p>
        </p:txBody>
      </p:sp>
      <p:sp>
        <p:nvSpPr>
          <p:cNvPr id="13" name="TextBox 12"/>
          <p:cNvSpPr txBox="1"/>
          <p:nvPr/>
        </p:nvSpPr>
        <p:spPr>
          <a:xfrm>
            <a:off x="6278727" y="2286000"/>
            <a:ext cx="5181447" cy="365760"/>
          </a:xfrm>
          <a:prstGeom prst="rect">
            <a:avLst/>
          </a:prstGeom>
          <a:noFill/>
        </p:spPr>
        <p:txBody>
          <a:bodyPr wrap="square" anchor="t" lIns="0" rIns="0" tIns="0" bIns="0">
            <a:spAutoFit/>
          </a:bodyPr>
          <a:lstStyle/>
          <a:p>
            <a:pPr algn="l">
              <a:lnSpc>
                <a:spcPct val="115000"/>
              </a:lnSpc>
            </a:pPr>
            <a:r>
              <a:rPr sz="1400" b="1">
                <a:solidFill>
                  <a:srgbClr val="C7FA70"/>
                </a:solidFill>
                <a:latin typeface="DM Sans"/>
              </a:rPr>
              <a:t>Les 90 prochains jours</a:t>
            </a:r>
          </a:p>
        </p:txBody>
      </p:sp>
      <p:sp>
        <p:nvSpPr>
          <p:cNvPr id="14" name="TextBox 13"/>
          <p:cNvSpPr txBox="1"/>
          <p:nvPr/>
        </p:nvSpPr>
        <p:spPr>
          <a:xfrm>
            <a:off x="6278727"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Dès ce mois-ci : 10 organisations en observation gratuite, présentées par l'écosystème Avalanche.</a:t>
            </a:r>
          </a:p>
          <a:p>
            <a:pPr algn="l">
              <a:lnSpc>
                <a:spcPct val="135000"/>
              </a:lnSpc>
            </a:pPr>
            <a:r>
              <a:rPr sz="1400" b="0">
                <a:solidFill>
                  <a:srgbClr val="E7EDF4"/>
                </a:solidFill>
                <a:latin typeface="DM Sans"/>
              </a:rPr>
              <a:t>•  Greffon sur le Safe du client · notifications · rejeu de Bybit et Drift sur données réelles.</a:t>
            </a:r>
          </a:p>
          <a:p>
            <a:pPr algn="l">
              <a:lnSpc>
                <a:spcPct val="135000"/>
              </a:lnSpc>
            </a:pPr>
            <a:r>
              <a:rPr sz="1400" b="0">
                <a:solidFill>
                  <a:srgbClr val="E7EDF4"/>
                </a:solidFill>
                <a:latin typeface="DM Sans"/>
              </a:rPr>
              <a:t>•  Audit externe financé par subvention, avant le premier euro.</a:t>
            </a:r>
          </a:p>
        </p:txBody>
      </p:sp>
      <p:sp>
        <p:nvSpPr>
          <p:cNvPr id="15" name="Rectangle 14"/>
          <p:cNvSpPr/>
          <p:nvPr/>
        </p:nvSpPr>
        <p:spPr>
          <a:xfrm>
            <a:off x="731520" y="4983480"/>
            <a:ext cx="73152" cy="685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937760"/>
            <a:ext cx="10728655" cy="822960"/>
          </a:xfrm>
          <a:prstGeom prst="rect">
            <a:avLst/>
          </a:prstGeom>
          <a:noFill/>
        </p:spPr>
        <p:txBody>
          <a:bodyPr wrap="square" anchor="ctr" lIns="0" rIns="0" tIns="0" bIns="0">
            <a:spAutoFit/>
          </a:bodyPr>
          <a:lstStyle/>
          <a:p>
            <a:pPr algn="l">
              <a:lnSpc>
                <a:spcPct val="115000"/>
              </a:lnSpc>
            </a:pPr>
            <a:r>
              <a:rPr sz="2600" b="1">
                <a:solidFill>
                  <a:srgbClr val="F6F9FC"/>
                </a:solidFill>
                <a:latin typeface="Manrope"/>
              </a:rPr>
              <a:t>Vos fonds. Vos signataires. Votre dernier mot.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A1</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A1 · CONFORMITÉ  </a:t>
            </a:r>
            <a:r>
              <a:rPr sz="1100" b="0">
                <a:solidFill>
                  <a:srgbClr val="A9B4C2"/>
                </a:solidFill>
                <a:latin typeface="DM Sans"/>
              </a:rPr>
              <a:t>DORA, MiCA, LCB-FT, AI Act, et comment un auditeur vérifie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Nous ne détenons jamais de fonds. Chaque décision est sur la chaîne, avec ses raisons.</a:t>
            </a:r>
          </a:p>
        </p:txBody>
      </p:sp>
      <p:sp>
        <p:nvSpPr>
          <p:cNvPr id="11" name="TextBox 10"/>
          <p:cNvSpPr txBox="1"/>
          <p:nvPr/>
        </p:nvSpPr>
        <p:spPr>
          <a:xfrm>
            <a:off x="731520" y="2167128"/>
            <a:ext cx="132588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Cadre</a:t>
            </a:r>
          </a:p>
        </p:txBody>
      </p:sp>
      <p:sp>
        <p:nvSpPr>
          <p:cNvPr id="12" name="TextBox 11"/>
          <p:cNvSpPr txBox="1"/>
          <p:nvPr/>
        </p:nvSpPr>
        <p:spPr>
          <a:xfrm>
            <a:off x="2194560" y="2167128"/>
            <a:ext cx="617220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implique pour Breaker</a:t>
            </a:r>
          </a:p>
        </p:txBody>
      </p:sp>
      <p:sp>
        <p:nvSpPr>
          <p:cNvPr id="13" name="TextBox 12"/>
          <p:cNvSpPr txBox="1"/>
          <p:nvPr/>
        </p:nvSpPr>
        <p:spPr>
          <a:xfrm>
            <a:off x="8503920" y="2167128"/>
            <a:ext cx="2819095"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Preuve</a:t>
            </a:r>
          </a:p>
        </p:txBody>
      </p:sp>
      <p:sp>
        <p:nvSpPr>
          <p:cNvPr id="14" name="Rectangle 13"/>
          <p:cNvSpPr/>
          <p:nvPr/>
        </p:nvSpPr>
        <p:spPr>
          <a:xfrm>
            <a:off x="731520" y="270062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770632"/>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MiCA</a:t>
            </a:r>
          </a:p>
        </p:txBody>
      </p:sp>
      <p:sp>
        <p:nvSpPr>
          <p:cNvPr id="16" name="TextBox 15"/>
          <p:cNvSpPr txBox="1"/>
          <p:nvPr/>
        </p:nvSpPr>
        <p:spPr>
          <a:xfrm>
            <a:off x="2194560" y="2770632"/>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Aucune fonction ne peut transférer sans les signatures humaines du client : hors garde d'actifs. Nous sommes éditeur d'un outil, pas dépositaire.</a:t>
            </a:r>
          </a:p>
        </p:txBody>
      </p:sp>
      <p:sp>
        <p:nvSpPr>
          <p:cNvPr id="17" name="TextBox 16"/>
          <p:cNvSpPr txBox="1"/>
          <p:nvPr/>
        </p:nvSpPr>
        <p:spPr>
          <a:xfrm>
            <a:off x="8503920" y="2770632"/>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seul safeTransfer dans execute, quorum requis ; invariant I1</a:t>
            </a:r>
          </a:p>
        </p:txBody>
      </p:sp>
      <p:sp>
        <p:nvSpPr>
          <p:cNvPr id="18" name="Rectangle 17"/>
          <p:cNvSpPr/>
          <p:nvPr/>
        </p:nvSpPr>
        <p:spPr>
          <a:xfrm>
            <a:off x="731520" y="330412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374136"/>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DORA</a:t>
            </a:r>
          </a:p>
        </p:txBody>
      </p:sp>
      <p:sp>
        <p:nvSpPr>
          <p:cNvPr id="20" name="TextBox 19"/>
          <p:cNvSpPr txBox="1"/>
          <p:nvPr/>
        </p:nvSpPr>
        <p:spPr>
          <a:xfrm>
            <a:off x="2194560" y="3374136"/>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Pour un client régulé, Breaker est un prestataire tiers de services TIC (à confirmer, mentor KPMG). Le rapport d'incident pré-rempli aide à classer et déclarer dans les délais (règl. délégué 2025/301).</a:t>
            </a:r>
          </a:p>
        </p:txBody>
      </p:sp>
      <p:sp>
        <p:nvSpPr>
          <p:cNvPr id="21" name="TextBox 20"/>
          <p:cNvSpPr txBox="1"/>
          <p:nvPr/>
        </p:nvSpPr>
        <p:spPr>
          <a:xfrm>
            <a:off x="8503920" y="3374136"/>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ia-1/score/rapport.py · shared/dora-notes.md</a:t>
            </a:r>
          </a:p>
        </p:txBody>
      </p:sp>
      <p:sp>
        <p:nvSpPr>
          <p:cNvPr id="22" name="Rectangle 21"/>
          <p:cNvSpPr/>
          <p:nvPr/>
        </p:nvSpPr>
        <p:spPr>
          <a:xfrm>
            <a:off x="731520" y="39076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77640"/>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LCB-FT</a:t>
            </a:r>
          </a:p>
        </p:txBody>
      </p:sp>
      <p:sp>
        <p:nvSpPr>
          <p:cNvPr id="24" name="TextBox 23"/>
          <p:cNvSpPr txBox="1"/>
          <p:nvPr/>
        </p:nvSpPr>
        <p:spPr>
          <a:xfrm>
            <a:off x="2194560" y="3977640"/>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Listes OFAC et ScamSniffer consultées ; refus pur des adresses sanctionnées activable par le client dans son contrat : ce n'est pas nous qui bloquons.</a:t>
            </a:r>
          </a:p>
        </p:txBody>
      </p:sp>
      <p:sp>
        <p:nvSpPr>
          <p:cNvPr id="25" name="TextBox 24"/>
          <p:cNvSpPr txBox="1"/>
          <p:nvPr/>
        </p:nvSpPr>
        <p:spPr>
          <a:xfrm>
            <a:off x="8503920" y="3977640"/>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ia-1/oracle/sources_publiques.py · code FLAGGED_ADDRESS</a:t>
            </a:r>
          </a:p>
        </p:txBody>
      </p:sp>
      <p:sp>
        <p:nvSpPr>
          <p:cNvPr id="26" name="Rectangle 25"/>
          <p:cNvSpPr/>
          <p:nvPr/>
        </p:nvSpPr>
        <p:spPr>
          <a:xfrm>
            <a:off x="731520" y="45111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81144"/>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AI Act</a:t>
            </a:r>
          </a:p>
        </p:txBody>
      </p:sp>
      <p:sp>
        <p:nvSpPr>
          <p:cNvPr id="28" name="TextBox 27"/>
          <p:cNvSpPr txBox="1"/>
          <p:nvPr/>
        </p:nvSpPr>
        <p:spPr>
          <a:xfrm>
            <a:off x="2194560" y="4581144"/>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Le modèle de langage n'explique que : il ne décide rien. Règles lisibles, chaque alerte cite ses codes ; garde-fous contre l'injection ; validation humaine toujours.</a:t>
            </a:r>
          </a:p>
        </p:txBody>
      </p:sp>
      <p:sp>
        <p:nvSpPr>
          <p:cNvPr id="29" name="TextBox 28"/>
          <p:cNvSpPr txBox="1"/>
          <p:nvPr/>
        </p:nvSpPr>
        <p:spPr>
          <a:xfrm>
            <a:off x="8503920" y="4581144"/>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ia-1/score/explication.py · regles.py</a:t>
            </a:r>
          </a:p>
        </p:txBody>
      </p:sp>
      <p:sp>
        <p:nvSpPr>
          <p:cNvPr id="30" name="Rectangle 29"/>
          <p:cNvSpPr/>
          <p:nvPr/>
        </p:nvSpPr>
        <p:spPr>
          <a:xfrm>
            <a:off x="731520" y="51146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84648"/>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Auditabilité</a:t>
            </a:r>
          </a:p>
        </p:txBody>
      </p:sp>
      <p:sp>
        <p:nvSpPr>
          <p:cNvPr id="32" name="TextBox 31"/>
          <p:cNvSpPr txBox="1"/>
          <p:nvPr/>
        </p:nvSpPr>
        <p:spPr>
          <a:xfrm>
            <a:off x="2194560" y="5184648"/>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Chaque signalement est un événement on-chain avec ses raisons ; l'oracle ne retient une accusation que s'il retrouve la citation exacte et en inscrit le hash. Tout se rejoue depuis le dépôt.</a:t>
            </a:r>
          </a:p>
        </p:txBody>
      </p:sp>
      <p:sp>
        <p:nvSpPr>
          <p:cNvPr id="33" name="TextBox 32"/>
          <p:cNvSpPr txBox="1"/>
          <p:nvPr/>
        </p:nvSpPr>
        <p:spPr>
          <a:xfrm>
            <a:off x="8503920" y="5184648"/>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RiskRegistry · evidence_hash · scenario_*.js</a:t>
            </a:r>
          </a:p>
        </p:txBody>
      </p:sp>
      <p:sp>
        <p:nvSpPr>
          <p:cNvPr id="34" name="Rectangle 33"/>
          <p:cNvSpPr/>
          <p:nvPr/>
        </p:nvSpPr>
        <p:spPr>
          <a:xfrm>
            <a:off x="731520" y="57181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A2</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A2 · PLAYBOOK DE RÉPONSE  </a:t>
            </a:r>
            <a:r>
              <a:rPr sz="1100" b="0">
                <a:solidFill>
                  <a:srgbClr val="A9B4C2"/>
                </a:solidFill>
                <a:latin typeface="DM Sans"/>
              </a:rPr>
              <a:t>qui est alerté, ce qui est automatique, ce qui reste humain</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Trois réponses graduées : une paire d'yeux en plus, du temps, un refus.</a:t>
            </a:r>
          </a:p>
        </p:txBody>
      </p:sp>
      <p:sp>
        <p:nvSpPr>
          <p:cNvPr id="11" name="TextBox 10"/>
          <p:cNvSpPr txBox="1"/>
          <p:nvPr/>
        </p:nvSpPr>
        <p:spPr>
          <a:xfrm>
            <a:off x="731520" y="2121408"/>
            <a:ext cx="146304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Niveau</a:t>
            </a:r>
          </a:p>
        </p:txBody>
      </p:sp>
      <p:sp>
        <p:nvSpPr>
          <p:cNvPr id="12" name="TextBox 11"/>
          <p:cNvSpPr txBox="1"/>
          <p:nvPr/>
        </p:nvSpPr>
        <p:spPr>
          <a:xfrm>
            <a:off x="2331720" y="2121408"/>
            <a:ext cx="19659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Déclencheur</a:t>
            </a:r>
          </a:p>
        </p:txBody>
      </p:sp>
      <p:sp>
        <p:nvSpPr>
          <p:cNvPr id="13" name="TextBox 12"/>
          <p:cNvSpPr txBox="1"/>
          <p:nvPr/>
        </p:nvSpPr>
        <p:spPr>
          <a:xfrm>
            <a:off x="4434840" y="2121408"/>
            <a:ext cx="28803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qui se passe, automatiquement</a:t>
            </a:r>
          </a:p>
        </p:txBody>
      </p:sp>
      <p:sp>
        <p:nvSpPr>
          <p:cNvPr id="14" name="TextBox 13"/>
          <p:cNvSpPr txBox="1"/>
          <p:nvPr/>
        </p:nvSpPr>
        <p:spPr>
          <a:xfrm>
            <a:off x="7452360" y="2121408"/>
            <a:ext cx="224028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protège vraiment</a:t>
            </a:r>
          </a:p>
        </p:txBody>
      </p:sp>
      <p:sp>
        <p:nvSpPr>
          <p:cNvPr id="15" name="TextBox 14"/>
          <p:cNvSpPr txBox="1"/>
          <p:nvPr/>
        </p:nvSpPr>
        <p:spPr>
          <a:xfrm>
            <a:off x="9829800" y="2121408"/>
            <a:ext cx="1493215"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Humain</a:t>
            </a:r>
          </a:p>
        </p:txBody>
      </p:sp>
      <p:sp>
        <p:nvSpPr>
          <p:cNvPr id="16" name="Rectangle 15"/>
          <p:cNvSpPr/>
          <p:nvPr/>
        </p:nvSpPr>
        <p:spPr>
          <a:xfrm>
            <a:off x="731520" y="28743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94436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Signature en plus · Essentiel (score ≥ 0,30)</a:t>
            </a:r>
          </a:p>
        </p:txBody>
      </p:sp>
      <p:sp>
        <p:nvSpPr>
          <p:cNvPr id="18" name="TextBox 17"/>
          <p:cNvSpPr txBox="1"/>
          <p:nvPr/>
        </p:nvSpPr>
        <p:spPr>
          <a:xfrm>
            <a:off x="2331720" y="294436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nouveau bénéficiaire, montant inhabituel, « urgent », hors heures</a:t>
            </a:r>
          </a:p>
        </p:txBody>
      </p:sp>
      <p:sp>
        <p:nvSpPr>
          <p:cNvPr id="19" name="TextBox 18"/>
          <p:cNvSpPr txBox="1"/>
          <p:nvPr/>
        </p:nvSpPr>
        <p:spPr>
          <a:xfrm>
            <a:off x="4434840" y="294436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le paiement exige une signature humaine de plus que votre seuil ; explication en français à tous les signataires</a:t>
            </a:r>
          </a:p>
        </p:txBody>
      </p:sp>
      <p:sp>
        <p:nvSpPr>
          <p:cNvPr id="20" name="TextBox 19"/>
          <p:cNvSpPr txBox="1"/>
          <p:nvPr/>
        </p:nvSpPr>
        <p:spPr>
          <a:xfrm>
            <a:off x="7452360" y="294436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 signataire trompé ou une clé volée quand le quorum vient d'être atteint : une autre personne relit</a:t>
            </a:r>
          </a:p>
        </p:txBody>
      </p:sp>
      <p:sp>
        <p:nvSpPr>
          <p:cNvPr id="21" name="TextBox 20"/>
          <p:cNvSpPr txBox="1"/>
          <p:nvPr/>
        </p:nvSpPr>
        <p:spPr>
          <a:xfrm>
            <a:off x="9829800" y="294436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un signataire de plus relit « ce que vous signez » et signe, ou non</a:t>
            </a:r>
          </a:p>
        </p:txBody>
      </p:sp>
      <p:sp>
        <p:nvSpPr>
          <p:cNvPr id="22" name="Rectangle 21"/>
          <p:cNvSpPr/>
          <p:nvPr/>
        </p:nvSpPr>
        <p:spPr>
          <a:xfrm>
            <a:off x="731520" y="36973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76732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Mise en attente · Standard (score ≥ 0,75)</a:t>
            </a:r>
          </a:p>
        </p:txBody>
      </p:sp>
      <p:sp>
        <p:nvSpPr>
          <p:cNvPr id="24" name="TextBox 23"/>
          <p:cNvSpPr txBox="1"/>
          <p:nvPr/>
        </p:nvSpPr>
        <p:spPr>
          <a:xfrm>
            <a:off x="2331720" y="376732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rafale, adresse signalée, fonds souillés, sosie, nouveau signataire qui pousse un gros paiement</a:t>
            </a:r>
          </a:p>
        </p:txBody>
      </p:sp>
      <p:sp>
        <p:nvSpPr>
          <p:cNvPr id="25" name="TextBox 24"/>
          <p:cNvSpPr txBox="1"/>
          <p:nvPr/>
        </p:nvSpPr>
        <p:spPr>
          <a:xfrm>
            <a:off x="4434840" y="376732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signature en plus ET un délai (24 h en réel, 180 s en démo) pendant lequel rien ne part, même avec toutes les signatures ; oracle, traçage et rapport d'incident tournent pendant ce temps</a:t>
            </a:r>
          </a:p>
        </p:txBody>
      </p:sp>
      <p:sp>
        <p:nvSpPr>
          <p:cNvPr id="26" name="TextBox 25"/>
          <p:cNvSpPr txBox="1"/>
          <p:nvPr/>
        </p:nvSpPr>
        <p:spPr>
          <a:xfrm>
            <a:off x="7452360" y="376732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des attaquants qui tiennent DÉJÀ assez de clés (Bybit : 3 sur 6) : la seule protection qui reste est le temps, pour vérifier, annuler, ou révoquer sa clé</a:t>
            </a:r>
          </a:p>
        </p:txBody>
      </p:sp>
      <p:sp>
        <p:nvSpPr>
          <p:cNvPr id="27" name="TextBox 26"/>
          <p:cNvSpPr txBox="1"/>
          <p:nvPr/>
        </p:nvSpPr>
        <p:spPr>
          <a:xfrm>
            <a:off x="9829800" y="376732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vérifier, annuler, ou lever l'attente à l'unanimité ; juger vraie / fausse alerte</a:t>
            </a:r>
          </a:p>
        </p:txBody>
      </p:sp>
      <p:sp>
        <p:nvSpPr>
          <p:cNvPr id="28" name="Rectangle 27"/>
          <p:cNvSpPr/>
          <p:nvPr/>
        </p:nvSpPr>
        <p:spPr>
          <a:xfrm>
            <a:off x="731520" y="452028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59028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Cosignataire · Premium</a:t>
            </a:r>
          </a:p>
        </p:txBody>
      </p:sp>
      <p:sp>
        <p:nvSpPr>
          <p:cNvPr id="30" name="TextBox 29"/>
          <p:cNvSpPr txBox="1"/>
          <p:nvPr/>
        </p:nvSpPr>
        <p:spPr>
          <a:xfrm>
            <a:off x="2331720" y="459028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mêmes signaux ; le client a choisi ce niveau</a:t>
            </a:r>
          </a:p>
        </p:txBody>
      </p:sp>
      <p:sp>
        <p:nvSpPr>
          <p:cNvPr id="31" name="TextBox 30"/>
          <p:cNvSpPr txBox="1"/>
          <p:nvPr/>
        </p:nvSpPr>
        <p:spPr>
          <a:xfrm>
            <a:off x="4434840" y="459028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l'agent occupe un siège de signataire : il REFUSE de signer un paiement à risque, donc le quorum n'est pas atteint ; c'est le seul niveau qui bloque</a:t>
            </a:r>
          </a:p>
        </p:txBody>
      </p:sp>
      <p:sp>
        <p:nvSpPr>
          <p:cNvPr id="32" name="TextBox 31"/>
          <p:cNvSpPr txBox="1"/>
          <p:nvPr/>
        </p:nvSpPr>
        <p:spPr>
          <a:xfrm>
            <a:off x="7452360" y="459028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une équipe qui, sous pression, signerait quand même : le non est posé par l'agent, pas par un collègue</a:t>
            </a:r>
          </a:p>
        </p:txBody>
      </p:sp>
      <p:sp>
        <p:nvSpPr>
          <p:cNvPr id="33" name="TextBox 32"/>
          <p:cNvSpPr txBox="1"/>
          <p:nvPr/>
        </p:nvSpPr>
        <p:spPr>
          <a:xfrm>
            <a:off x="9829800" y="459028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dérogation renforcée après délai : les signataires humains peuvent passer outre, à plusieurs</a:t>
            </a:r>
          </a:p>
        </p:txBody>
      </p:sp>
      <p:sp>
        <p:nvSpPr>
          <p:cNvPr id="34" name="Rectangle 33"/>
          <p:cNvSpPr/>
          <p:nvPr/>
        </p:nvSpPr>
        <p:spPr>
          <a:xfrm>
            <a:off x="731520" y="53432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41324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Gel · Standard</a:t>
            </a:r>
          </a:p>
        </p:txBody>
      </p:sp>
      <p:sp>
        <p:nvSpPr>
          <p:cNvPr id="36" name="TextBox 35"/>
          <p:cNvSpPr txBox="1"/>
          <p:nvPr/>
        </p:nvSpPr>
        <p:spPr>
          <a:xfrm>
            <a:off x="2331720" y="541324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compromise, signature sous contrainte</a:t>
            </a:r>
          </a:p>
        </p:txBody>
      </p:sp>
      <p:sp>
        <p:nvSpPr>
          <p:cNvPr id="37" name="TextBox 36"/>
          <p:cNvSpPr txBox="1"/>
          <p:nvPr/>
        </p:nvSpPr>
        <p:spPr>
          <a:xfrm>
            <a:off x="4434840" y="541324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d'identité : révocation immédiate par la victime seule ; clé de contrainte : gel silencieux et alerte privée</a:t>
            </a:r>
          </a:p>
        </p:txBody>
      </p:sp>
      <p:sp>
        <p:nvSpPr>
          <p:cNvPr id="38" name="TextBox 37"/>
          <p:cNvSpPr txBox="1"/>
          <p:nvPr/>
        </p:nvSpPr>
        <p:spPr>
          <a:xfrm>
            <a:off x="7452360" y="541324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la perte d'une clé ou la menace physique sur une personne</a:t>
            </a:r>
          </a:p>
        </p:txBody>
      </p:sp>
      <p:sp>
        <p:nvSpPr>
          <p:cNvPr id="39" name="TextBox 38"/>
          <p:cNvSpPr txBox="1"/>
          <p:nvPr/>
        </p:nvSpPr>
        <p:spPr>
          <a:xfrm>
            <a:off x="9829800" y="541324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remplacer la clé ; dégeler à la majorité des clés saines</a:t>
            </a:r>
          </a:p>
        </p:txBody>
      </p:sp>
      <p:sp>
        <p:nvSpPr>
          <p:cNvPr id="40" name="Rectangle 39"/>
          <p:cNvSpPr/>
          <p:nvPr/>
        </p:nvSpPr>
        <p:spPr>
          <a:xfrm>
            <a:off x="731520" y="61662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A3</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A3 · SÉCURITÉ DU CONTRAT  </a:t>
            </a:r>
            <a:r>
              <a:rPr sz="1100" b="0">
                <a:solidFill>
                  <a:srgbClr val="A9B4C2"/>
                </a:solidFill>
                <a:latin typeface="DM Sans"/>
              </a:rPr>
              <a:t>chaque phrase est vérifiable en une commande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Pas encore audité par un tiers. Voici ce qu'on a fait à la place, et ce que ça vaut.</a:t>
            </a:r>
          </a:p>
        </p:txBody>
      </p:sp>
      <p:sp>
        <p:nvSpPr>
          <p:cNvPr id="11" name="Rounded Rectangle 10"/>
          <p:cNvSpPr/>
          <p:nvPr/>
        </p:nvSpPr>
        <p:spPr>
          <a:xfrm>
            <a:off x="73152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14" name="TextBox 13"/>
          <p:cNvSpPr txBox="1"/>
          <p:nvPr/>
        </p:nvSpPr>
        <p:spPr>
          <a:xfrm>
            <a:off x="100584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détection haute ou moyenne (Slither 0.11, solc 0.8.24)</a:t>
            </a:r>
          </a:p>
        </p:txBody>
      </p:sp>
      <p:sp>
        <p:nvSpPr>
          <p:cNvPr id="15" name="Rounded Rectangle 14"/>
          <p:cNvSpPr/>
          <p:nvPr/>
        </p:nvSpPr>
        <p:spPr>
          <a:xfrm>
            <a:off x="346397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63975"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38295"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50</a:t>
            </a:r>
          </a:p>
        </p:txBody>
      </p:sp>
      <p:sp>
        <p:nvSpPr>
          <p:cNvPr id="18" name="TextBox 17"/>
          <p:cNvSpPr txBox="1"/>
          <p:nvPr/>
        </p:nvSpPr>
        <p:spPr>
          <a:xfrm>
            <a:off x="373829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tests unitaires (npx hardhat test)</a:t>
            </a:r>
          </a:p>
        </p:txBody>
      </p:sp>
      <p:sp>
        <p:nvSpPr>
          <p:cNvPr id="19" name="Rounded Rectangle 18"/>
          <p:cNvSpPr/>
          <p:nvPr/>
        </p:nvSpPr>
        <p:spPr>
          <a:xfrm>
            <a:off x="619643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6430"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0750"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6 926</a:t>
            </a:r>
          </a:p>
        </p:txBody>
      </p:sp>
      <p:sp>
        <p:nvSpPr>
          <p:cNvPr id="22" name="TextBox 21"/>
          <p:cNvSpPr txBox="1"/>
          <p:nvPr/>
        </p:nvSpPr>
        <p:spPr>
          <a:xfrm>
            <a:off x="6470750"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appels aléatoires, 300 séquences, 8 types d'acteurs</a:t>
            </a:r>
          </a:p>
        </p:txBody>
      </p:sp>
      <p:sp>
        <p:nvSpPr>
          <p:cNvPr id="23" name="Rounded Rectangle 22"/>
          <p:cNvSpPr/>
          <p:nvPr/>
        </p:nvSpPr>
        <p:spPr>
          <a:xfrm>
            <a:off x="892888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28885"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03205"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26" name="TextBox 25"/>
          <p:cNvSpPr txBox="1"/>
          <p:nvPr/>
        </p:nvSpPr>
        <p:spPr>
          <a:xfrm>
            <a:off x="9203205" y="3054096"/>
            <a:ext cx="2074087" cy="594360"/>
          </a:xfrm>
          <a:prstGeom prst="rect">
            <a:avLst/>
          </a:prstGeom>
          <a:noFill/>
        </p:spPr>
        <p:txBody>
          <a:bodyPr wrap="square" anchor="t" lIns="0" rIns="0" tIns="0" bIns="0">
            <a:spAutoFit/>
          </a:bodyPr>
          <a:lstStyle/>
          <a:p>
            <a:pPr algn="l">
              <a:lnSpc>
                <a:spcPct val="112000"/>
              </a:lnSpc>
            </a:pPr>
            <a:r>
              <a:rPr sz="1150" b="0">
                <a:solidFill>
                  <a:srgbClr val="A9B4C2"/>
                </a:solidFill>
                <a:latin typeface="DM Sans"/>
              </a:rPr>
              <a:t>invariant violé sur les 6 promesses du contrat (I1–I6)</a:t>
            </a:r>
          </a:p>
        </p:txBody>
      </p:sp>
      <p:sp>
        <p:nvSpPr>
          <p:cNvPr id="27" name="TextBox 26"/>
          <p:cNvSpPr txBox="1"/>
          <p:nvPr/>
        </p:nvSpPr>
        <p:spPr>
          <a:xfrm>
            <a:off x="731520" y="3931920"/>
            <a:ext cx="10728655" cy="164592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L'architecture borne le risque : aucune fonction, pas même la nôtre, ne transfère sans les signatures du client. Le pire bug possible est un faux ralentissement.</a:t>
            </a:r>
          </a:p>
          <a:p>
            <a:pPr algn="l">
              <a:lnSpc>
                <a:spcPct val="135000"/>
              </a:lnSpc>
            </a:pPr>
            <a:r>
              <a:rPr sz="1400" b="0">
                <a:solidFill>
                  <a:srgbClr val="E7EDF4"/>
                </a:solidFill>
                <a:latin typeface="DM Sans"/>
              </a:rPr>
              <a:t>•  Code public, licence MIT, commandes dans shared/audit-contrat.md.</a:t>
            </a:r>
          </a:p>
          <a:p>
            <a:pPr algn="l">
              <a:lnSpc>
                <a:spcPct val="135000"/>
              </a:lnSpc>
            </a:pPr>
            <a:r>
              <a:rPr sz="1400" b="0">
                <a:solidFill>
                  <a:srgbClr val="E7EDF4"/>
                </a:solidFill>
                <a:latin typeface="DM Sans"/>
              </a:rPr>
              <a:t>•  Audit externe avant le premier client payant ; surface d'environ 500 lignes, sans garde de fonds.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A4</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A4 · LES CHIFFRES ET LEURS SOURCES  </a:t>
            </a:r>
            <a:r>
              <a:rPr sz="1100" b="0">
                <a:solidFill>
                  <a:srgbClr val="A9B4C2"/>
                </a:solidFill>
                <a:latin typeface="DM Sans"/>
              </a:rPr>
              <a:t>rien d'arbitraire</a:t>
            </a:r>
          </a:p>
        </p:txBody>
      </p:sp>
      <p:sp>
        <p:nvSpPr>
          <p:cNvPr id="10" name="TextBox 9"/>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Chaque nombre dit à l'oral a une source externe ou un calcul explicite.</a:t>
            </a:r>
          </a:p>
        </p:txBody>
      </p:sp>
      <p:sp>
        <p:nvSpPr>
          <p:cNvPr id="11" name="TextBox 10"/>
          <p:cNvSpPr txBox="1"/>
          <p:nvPr/>
        </p:nvSpPr>
        <p:spPr>
          <a:xfrm>
            <a:off x="731520" y="2167128"/>
            <a:ext cx="2971800"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Chiffre</a:t>
            </a:r>
          </a:p>
        </p:txBody>
      </p:sp>
      <p:sp>
        <p:nvSpPr>
          <p:cNvPr id="12" name="TextBox 11"/>
          <p:cNvSpPr txBox="1"/>
          <p:nvPr/>
        </p:nvSpPr>
        <p:spPr>
          <a:xfrm>
            <a:off x="3840480" y="2167128"/>
            <a:ext cx="7482535"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Source ou calcul</a:t>
            </a:r>
          </a:p>
        </p:txBody>
      </p:sp>
      <p:sp>
        <p:nvSpPr>
          <p:cNvPr id="13" name="Rectangle 12"/>
          <p:cNvSpPr/>
          <p:nvPr/>
        </p:nvSpPr>
        <p:spPr>
          <a:xfrm>
            <a:off x="731520" y="243544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50545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8 694 · 1 359 · 675 protocoles</a:t>
            </a:r>
          </a:p>
        </p:txBody>
      </p:sp>
      <p:sp>
        <p:nvSpPr>
          <p:cNvPr id="15" name="TextBox 14"/>
          <p:cNvSpPr txBox="1"/>
          <p:nvPr/>
        </p:nvSpPr>
        <p:spPr>
          <a:xfrm>
            <a:off x="3840480" y="250545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API DeFiLlama api.llama.fi/protocols, lue le 11/10/2026 ; seuils TVL &gt; 0, &gt; 1 M$, &gt; 10 M$</a:t>
            </a:r>
          </a:p>
        </p:txBody>
      </p:sp>
      <p:sp>
        <p:nvSpPr>
          <p:cNvPr id="16" name="Rectangle 15"/>
          <p:cNvSpPr/>
          <p:nvPr/>
        </p:nvSpPr>
        <p:spPr>
          <a:xfrm>
            <a:off x="731520" y="277377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4378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561 · 71 · 22 sur Avalanche</a:t>
            </a:r>
          </a:p>
        </p:txBody>
      </p:sp>
      <p:sp>
        <p:nvSpPr>
          <p:cNvPr id="18" name="TextBox 17"/>
          <p:cNvSpPr txBox="1"/>
          <p:nvPr/>
        </p:nvSpPr>
        <p:spPr>
          <a:xfrm>
            <a:off x="3840480" y="284378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même API, champ chainTvls.Avalanche</a:t>
            </a:r>
          </a:p>
        </p:txBody>
      </p:sp>
      <p:sp>
        <p:nvSpPr>
          <p:cNvPr id="19" name="Rectangle 18"/>
          <p:cNvSpPr/>
          <p:nvPr/>
        </p:nvSpPr>
        <p:spPr>
          <a:xfrm>
            <a:off x="731520" y="31121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8211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220 DAO &gt; 1 M$</a:t>
            </a:r>
          </a:p>
        </p:txBody>
      </p:sp>
      <p:sp>
        <p:nvSpPr>
          <p:cNvPr id="21" name="TextBox 20"/>
          <p:cNvSpPr txBox="1"/>
          <p:nvPr/>
        </p:nvSpPr>
        <p:spPr>
          <a:xfrm>
            <a:off x="3840480" y="318211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DeepDAO (T1 2026), via DAO Times / eco.com ; à confirmer sur deepdao.io</a:t>
            </a:r>
          </a:p>
        </p:txBody>
      </p:sp>
      <p:sp>
        <p:nvSpPr>
          <p:cNvPr id="22" name="Rectangle 21"/>
          <p:cNvSpPr/>
          <p:nvPr/>
        </p:nvSpPr>
        <p:spPr>
          <a:xfrm>
            <a:off x="731520" y="34504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52044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35,25 Md$ · 61 M comptes</a:t>
            </a:r>
          </a:p>
        </p:txBody>
      </p:sp>
      <p:sp>
        <p:nvSpPr>
          <p:cNvPr id="24" name="TextBox 23"/>
          <p:cNvSpPr txBox="1"/>
          <p:nvPr/>
        </p:nvSpPr>
        <p:spPr>
          <a:xfrm>
            <a:off x="3840480" y="352044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 Foundation, rapport T1 2026 (23/04/2026)</a:t>
            </a:r>
          </a:p>
        </p:txBody>
      </p:sp>
      <p:sp>
        <p:nvSpPr>
          <p:cNvPr id="25" name="Rectangle 24"/>
          <p:cNvSpPr/>
          <p:nvPr/>
        </p:nvSpPr>
        <p:spPr>
          <a:xfrm>
            <a:off x="731520" y="37887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58768"/>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189 € · 669 € · 999 $</a:t>
            </a:r>
          </a:p>
        </p:txBody>
      </p:sp>
      <p:sp>
        <p:nvSpPr>
          <p:cNvPr id="27" name="TextBox 26"/>
          <p:cNvSpPr txBox="1"/>
          <p:nvPr/>
        </p:nvSpPr>
        <p:spPr>
          <a:xfrm>
            <a:off x="3840480" y="3858768"/>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safe.global/pricing (Safe Pro, 8/10/2026) · fireblocks.com/pricing</a:t>
            </a:r>
          </a:p>
        </p:txBody>
      </p:sp>
      <p:sp>
        <p:nvSpPr>
          <p:cNvPr id="28" name="Rectangle 27"/>
          <p:cNvSpPr/>
          <p:nvPr/>
        </p:nvSpPr>
        <p:spPr>
          <a:xfrm>
            <a:off x="731520" y="41270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19709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150 incidents · 1,3 M$ médiane</a:t>
            </a:r>
          </a:p>
        </p:txBody>
      </p:sp>
      <p:sp>
        <p:nvSpPr>
          <p:cNvPr id="30" name="TextBox 29"/>
          <p:cNvSpPr txBox="1"/>
          <p:nvPr/>
        </p:nvSpPr>
        <p:spPr>
          <a:xfrm>
            <a:off x="3840480" y="419709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TRM Labs 2025 ; CertiK : &gt; 700 incidents, médiane 104 k$ (périmètre plus large)</a:t>
            </a:r>
          </a:p>
        </p:txBody>
      </p:sp>
      <p:sp>
        <p:nvSpPr>
          <p:cNvPr id="31" name="Rectangle 30"/>
          <p:cNvSpPr/>
          <p:nvPr/>
        </p:nvSpPr>
        <p:spPr>
          <a:xfrm>
            <a:off x="731520" y="446541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53542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8,9 % – 18,5 %</a:t>
            </a:r>
          </a:p>
        </p:txBody>
      </p:sp>
      <p:sp>
        <p:nvSpPr>
          <p:cNvPr id="33" name="TextBox 32"/>
          <p:cNvSpPr txBox="1"/>
          <p:nvPr/>
        </p:nvSpPr>
        <p:spPr>
          <a:xfrm>
            <a:off x="3840480" y="453542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conversion essai → payant SaaS B2B sans carte : ChartMogul (200 produits), First Page Sage (86 entreprises)</a:t>
            </a:r>
          </a:p>
        </p:txBody>
      </p:sp>
      <p:sp>
        <p:nvSpPr>
          <p:cNvPr id="34" name="Rectangle 33"/>
          <p:cNvSpPr/>
          <p:nvPr/>
        </p:nvSpPr>
        <p:spPr>
          <a:xfrm>
            <a:off x="731520" y="48037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7375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95 % · 91 % · 5,1 %</a:t>
            </a:r>
          </a:p>
        </p:txBody>
      </p:sp>
      <p:sp>
        <p:nvSpPr>
          <p:cNvPr id="36" name="TextBox 35"/>
          <p:cNvSpPr txBox="1"/>
          <p:nvPr/>
        </p:nvSpPr>
        <p:spPr>
          <a:xfrm>
            <a:off x="3840480" y="487375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jeu final préparé à l'aveugle, 40 fraudes, 234 paiements légitimes (shared/mesures.md)</a:t>
            </a:r>
          </a:p>
        </p:txBody>
      </p:sp>
      <p:sp>
        <p:nvSpPr>
          <p:cNvPr id="37" name="Rectangle 36"/>
          <p:cNvSpPr/>
          <p:nvPr/>
        </p:nvSpPr>
        <p:spPr>
          <a:xfrm>
            <a:off x="731520" y="51420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21208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0,002 $ · 1,2 $</a:t>
            </a:r>
          </a:p>
        </p:txBody>
      </p:sp>
      <p:sp>
        <p:nvSpPr>
          <p:cNvPr id="39" name="TextBox 38"/>
          <p:cNvSpPr txBox="1"/>
          <p:nvPr/>
        </p:nvSpPr>
        <p:spPr>
          <a:xfrm>
            <a:off x="3840480" y="521208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gas mesuré sur Fuji (shared/frais-gas.md) · Bedrock Opus 4.8 à 5 $ / 25 $ par million de tokens</a:t>
            </a:r>
          </a:p>
        </p:txBody>
      </p:sp>
      <p:sp>
        <p:nvSpPr>
          <p:cNvPr id="40" name="Rectangle 39"/>
          <p:cNvSpPr/>
          <p:nvPr/>
        </p:nvSpPr>
        <p:spPr>
          <a:xfrm>
            <a:off x="731520" y="54804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