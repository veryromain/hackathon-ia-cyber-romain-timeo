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0:30]  ROMAIN</a:t>
            </a:r>
          </a:p>
          <a:p>
            <a:r>
              <a:t>« Le 21 février 2025, trois personnes ont signé le plus gros vol de l'histoire : un milliard quatre cent soixante millions de dollars. »</a:t>
            </a:r>
          </a:p>
          <a:p>
            <a:r>
              <a:t>(silence, 2 secondes)</a:t>
            </a:r>
          </a:p>
          <a:p>
            <a:r>
              <a:t>« Elles pensaient signer un virement de routine. L'écran leur montrait un virement de routine. »</a:t>
            </a:r>
          </a:p>
          <a:p/>
          <a:p>
            <a:r>
              <a:t>TIMÉO</a:t>
            </a:r>
          </a:p>
          <a:p>
            <a:r>
              <a:t>« Nous sommes Timéo et Romain. Breaker existe pour que ces trois personnes aient eu quelqu'un pour leur dire : attendez. »</a:t>
            </a:r>
          </a:p>
          <a:p/>
          <a:p>
            <a:r>
              <a:t>Source : Bybit, 21/02/2025 (shared/business-probleme.md, fait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1:20]  ROMAIN</a:t>
            </a:r>
          </a:p>
          <a:p>
            <a:r>
              <a:t>« Bybit, c'est trois signataires sur six, trompés par leur propre écran. Drift, en avril 2026 : 280 millions, après des mois où des attaquants ont construit de fausses identités pour approcher les signataires. En 2025, 3,4 milliards volés. Le point commun : ce ne sont plus les contrats qu'on casse, ce sont les gens qu'on trompe au moment de signer. »</a:t>
            </a:r>
          </a:p>
          <a:p>
            <a:r>
              <a:t>(geste : mimer une signature)</a:t>
            </a:r>
          </a:p>
          <a:p/>
          <a:p>
            <a:r>
              <a:t>TIMÉO</a:t>
            </a:r>
          </a:p>
          <a:p>
            <a:r>
              <a:t>« Et le coffre, lui, fait exactement ce qu'on lui demande. Il vérifie les signatures, pas les intentions. Il n'a aucune idée de ce qui est normal pour vous. »</a:t>
            </a:r>
          </a:p>
          <a:p/>
          <a:p>
            <a:r>
              <a:t>ROMAIN</a:t>
            </a:r>
          </a:p>
          <a:p>
            <a:r>
              <a:t>« Conséquence : les grandes plateformes se paient des équipes de sécurité et des outils à 36 000 dollars par an. Les autres, l'immense majorité, n'ont rien, à aucun prix.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 2:00]  ROMAIN</a:t>
            </a:r>
          </a:p>
          <a:p>
            <a:r>
              <a:t>« Les autres, ce sont les équipes de protocoles, les DAO, les startups et les fonds crypto : une trésorerie de plus d'un million dans un coffre multi-signatures, le plus souvent un Safe, et zéro personne dont c'est le métier. Il y en a au moins 1 359 à 1 579 sur les chaînes compatibles Ethereum. Sur Avalanche, où nous sommes nés, entre 81 et 121. Ces chiffres viennent de l'API DeFiLlama lue hier et de DeepDAO ; les calculs sont dans le dépôt. »</a:t>
            </a:r>
          </a:p>
          <a:p>
            <a:r>
              <a:t>(passer la main : « Timéo, qu'est-ce qu'on leur apporte ? »)</a:t>
            </a:r>
          </a:p>
          <a:p/>
          <a:p>
            <a:r>
              <a:t>Si question sur la méthode : comptage par seuil de TVL, hypothèse H1 révisée le 11/10 (protocole &gt; 1 M$ d'actifs ⇒ trésorerie ≥ 1 M$ ; borne prudente &gt; 10 M$ : 675 protocoles, 22 sur Avalanche), script reproductible dans shared/business-marche.md § 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 → 3:00]  TIMÉO</a:t>
            </a:r>
          </a:p>
          <a:p>
            <a:r>
              <a:t>« Breaker n'est pas un coffre. C'est une garde qui se greffe sur le coffre que vous avez déjà, et qui fait trois choses.</a:t>
            </a:r>
          </a:p>
          <a:p>
            <a:r>
              <a:t>Un : elle regarde chaque paiement avec ce qu'elle a appris de votre historique. Ce bénéficiaire est-il nouveau ? Ce montant est-il normal ? Pourquoi trois paiements en dix minutes ? Pourquoi “urgent” ? Elle vérifie aussi l'adresse sur le Web et sur les listes de sanctions.</a:t>
            </a:r>
          </a:p>
          <a:p>
            <a:r>
              <a:t>Deux : elle explique, en français, à des gens qui ne sont pas experts : “premier paiement à cette adresse, montant quatre fois supérieur à vos habitudes”.</a:t>
            </a:r>
          </a:p>
          <a:p>
            <a:r>
              <a:t>Trois : elle freine. Une signature de plus, ou une mise en attente : un délai pendant lequel rien ne part, même avec toutes les signatures. Jamais un blocage définitif : l'unanimité de vos signataires lève tout. Et si vous voulez qu'elle puisse dire non à votre place, c'est le niveau Premium, le mode Cosignataire : un agent prend un siège de signataire et refuse de signer un paiement à risque ; vos signataires gardent une dérogation après délai.</a:t>
            </a:r>
          </a:p>
          <a:p>
            <a:r>
              <a:t>Et parce que l'attaque vise la personne, chaque signataire a une clé d'identité froide : une seconde clé, gardée hors ligne, pour révoquer seul sa clé volée, sans quorum, même coffre gelé ; et une clé de contrainte, qui dit oui à l'écran mais gèle en silence si on le force. Démontré sur Fuji : clé volée, 80 000 approuvés 2 sur 2 par le voleur, révoquée par la victime en une transaction, zéro sorti. »</a:t>
            </a:r>
          </a:p>
          <a:p/>
          <a:p>
            <a:r>
              <a:t>Si question « vous êtes un module de Safe ? » : « Le multisig de la démo tient lieu du Safe du client ; le portage en Guard + Module de Safe est en feuille de route, 6 à 8 semaines.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 → 3:50]  TIMÉO</a:t>
            </a:r>
          </a:p>
          <a:p>
            <a:r>
              <a:t>« Tout ça tourne sur Avalanche Fuji, et vous allez le voir. »</a:t>
            </a:r>
          </a:p>
          <a:p>
            <a:r>
              <a:t>→ LANCER LA VIDÉO (2 à 3 min) ou la démo live. Pendant la vidéo, Timéo commente ; Romain surveille le chrono.</a:t>
            </a:r>
          </a:p>
          <a:p>
            <a:r>
              <a:t>« Les chiffres, mesurés une seule fois sur un jeu de fraudes que Romain a préparé à l'aveugle : 95 % des fraudes freinées ou mises en attente, 91 % des montants frauduleux mis en attente, 5,1 % de paiements légitimes retardés, tous de gros premiers paiements à un nouveau bénéficiaire, zéro sur les prestataires habituels. Sur Fuji : 280 500 tentés, zéro sorti, signalement en 5 secondes, 0,002 dollar de gas par alerte. L'oracle Web : 100 % sur 35 adresses, 7 injections déjouées. Le contrat : zéro détection grave à l'analyse statique, 50 tests, 7 000 appels aléatoires sans qu'une seule promesse soit violée. »</a:t>
            </a:r>
          </a:p>
          <a:p/>
          <a:p>
            <a:r>
              <a:t>ROMAIN (une phrase, pour l'honnêteté)</a:t>
            </a:r>
          </a:p>
          <a:p>
            <a:r>
              <a:t>« Données synthétiques, contrat pas encore audité par un tiers : on le dit avant qu'on nous le demande. »</a:t>
            </a:r>
          </a:p>
          <a:p/>
          <a:p>
            <a:r>
              <a:t>Si le chrono dépasse 3:50 ici : couper la phrase sur l'oracle.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[3:50 → 4:20]  ROMAIN</a:t>
            </a:r>
          </a:p>
          <a:p>
            <a:r>
              <a:t>« Safe vient de lancer Safe Pro : 669 euros par mois pour des règles que vous écrivez vous-même. Nous, nous détectons ce que vous n'avez pas prévu, et nous l'expliquons.</a:t>
            </a:r>
          </a:p>
          <a:p>
            <a:r>
              <a:t>Observation gratuite 30 jours : rien ne change à vos paiements. Puis trois niveaux, selon le pouvoir que vous nous déléguez : Essentiel, 149 euros, une personne de plus sur les paiements inhabituels. Standard, 449 euros, du temps : la mise en attente, et la protection de la personne. Premium, 990 euros, un refus : un agent qui occupe un siège de signataire et peut dire non à votre place. Sans engagement.</a:t>
            </a:r>
          </a:p>
          <a:p>
            <a:r>
              <a:t>449 euros, c'est 5 % de la perte annuelle que vous évitez, calculée avec les taux d'incidents de TRM et notre efficacité mesurée ; 990 euros, c'est 10 %, le plafond de ce qu'un outil de sécurité peut demander. »</a:t>
            </a:r>
          </a:p>
          <a:p/>
          <a:p>
            <a:r>
              <a:t>POURQUOI UN CLIENT PAIE 990 € PLUTÔT QUE 449 € (si on nous le demande) :</a:t>
            </a:r>
          </a:p>
          <a:p>
            <a:r>
              <a:t>• Ce qu'il achète en plus : le seul niveau où quelqu'un peut dire NON à sa place. La signature en plus et la mise en attente supposent qu'au moins un humain réagisse ; chez Bybit, les trois signataires ont validé ; chez Drift, les signataires ont approuvé. Le Cosignataire couvre le cas où tous les humains sont trompés ou sous pression.</a:t>
            </a:r>
          </a:p>
          <a:p>
            <a:r>
              <a:t>• Pour qui : les organisations dont les signataires sont dispersés ou peu disponibles (DAO), celles dont la trésorerie dépasse 10 M$, celles qui veulent une disponibilité garantie. Premium n'est PAS réservé aux grandes trésoreries : c'est un niveau de pouvoir délégué, accessible à tous.</a:t>
            </a:r>
          </a:p>
          <a:p>
            <a:r>
              <a:t>• Valeur : 990 € × 12 = 11,9 k€ = 10 % de 112 k$ de perte annuelle évitée ; c'est le plafond de la règle « ≤ 10 % », là où Standard est à 5 %. Repère de marché pour l'automatisation : Fireblocks Essentials à 999 $/mois.</a:t>
            </a:r>
          </a:p>
          <a:p>
            <a:r>
              <a:t>• Garde-fou : même en Premium, l'agent n'a jamais de veto définitif : dérogation humaine renforcée après délai (décision Timéo, shared/decisions.md).</a:t>
            </a:r>
          </a:p>
          <a:p/>
          <a:p>
            <a:r>
              <a:t>LE CALCUL DE LA PERTE ANNUELLE ÉVITÉE (shared/business-prix.md § 1.B) :</a:t>
            </a:r>
          </a:p>
          <a:p>
            <a:r>
              <a:t>• 9,5 % : TRM Labs compte ≈ 150 incidents significatifs en 2025, rapportés aux 1 579 organisations ≥ 1 M$ (1 359 protocoles &gt; 1 M$ d'actifs, API DeFiLlama, + 220 DAO &gt; 1 M$, DeepDAO). Borne haute : on montre aussi le cas « un incident sur cinq dans notre périmètre » (22 k$).</a:t>
            </a:r>
          </a:p>
          <a:p>
            <a:r>
              <a:t>• 1,3 M$ : perte médiane des incidents significatifs de 2025 selon TRM Labs (la moitié coûtent plus, la moitié moins). Immunefi donne 1,5 M$ en DeFi ; CertiK 104 k$ mais sur plus de 700 incidents dont beaucoup de petits. On prend TRM, dont le périmètre ressemble au nôtre.</a:t>
            </a:r>
          </a:p>
          <a:p>
            <a:r>
              <a:t>• 91 % : part des montants frauduleux mis en attente sur le jeu final préparé à l'aveugle (shared/mesures.md).</a:t>
            </a:r>
          </a:p>
          <a:p>
            <a:r>
              <a:t>• 9,5 % × 1,3 M$ × 91 % ≈ 112 k$/an.</a:t>
            </a:r>
          </a:p>
          <a:p/>
          <a:p>
            <a:r>
              <a:t>Différence en une phrase : « Vous avez déjà le coffre. Il vous manque quelqu'un qui regarde chaque paiement et vous dit, en français, quand quelque chose ne colle pas.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[4:20 → 4:45]  ROMAIN</a:t>
            </a:r>
          </a:p>
          <a:p>
            <a:r>
              <a:t>« Première année : 111 organisations présentées par l'écosystème Avalanche, la moitié en observation, 5 à 10 clients payants selon les taux de conversion du SaaS B2B. L'audit externe avant le premier euro. Puis le même code sur les autres chaînes compatibles. Nos coûts fixes sont de 4 300 euros par mois, deux fondateurs à 2 000 euros : le point mort est à 10 clients Standard, atteignable entre le deuxième et le troisième trimestre 2027 selon le taux de conversion, plus tôt avec un seul client Premium. »</a:t>
            </a:r>
          </a:p>
          <a:p/>
          <a:p>
            <a:r>
              <a:t>Si on demande « comment vous arrivez à 10 clients ? » : à l'envers. 10 clients ÷ 8,9 à 18,5 % de conversion = 54 à 112 équipes en observation ÷ une sur deux qui accepte = 108 à 225 équipes à contacter. Avalanche en donne 111 d'ici décembre : ça suffit dans le cas favorable (18,5 %), point mort au T2 2027 ; dans le cas défavorable (8,9 %), un écosystème EVM de plus au premier semestre 2027, qui en donne autant, point mort au T3 2027.</a:t>
            </a:r>
          </a:p>
          <a:p/>
          <a:p>
            <a:r>
              <a:t>Si on a droit à 4 min seulement : sauter cette slide, les chiffres sont en annexe.</a:t>
            </a:r>
          </a:p>
          <a:p>
            <a:r>
              <a:t>Si « pourquoi si peu ? » : « Parce qu'on ne prend que ce que l'entonnoir sourcé donne. L'année 1 sert aux références et aux données réelles.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 → 5:00]  TIMÉO</a:t>
            </a:r>
          </a:p>
          <a:p>
            <a:r>
              <a:t>« Ce qu'on ne cache pas : données synthétiques, contrat pas encore audité, le multisig de la démo tient lieu du Safe du client. Ce qu'il nous reste : le greffon Safe, l'audit, et surtout de vraies données. »</a:t>
            </a:r>
          </a:p>
          <a:p/>
          <a:p>
            <a:r>
              <a:t>ROMAIN</a:t>
            </a:r>
          </a:p>
          <a:p>
            <a:r>
              <a:t>« Dès ce mois-ci, dix organisations en observation gratuite. Breaker : vos fonds, vos signataires, votre dernier mot. Merci. »</a:t>
            </a:r>
          </a:p>
          <a:p>
            <a:r>
              <a:t>(regarder le jury, s'arrêter ; les annexes A1 à A4 servent aux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ROMAIN répond aux questions de conformité ; TIMÉO complète sur la preuve technique (événements on-chain, hash de preuve).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TIMÉO.</a:t>
            </a:r>
          </a:p>
          <a:p>
            <a:r>
              <a:t>Ce qui diffère vraiment : la signature en plus ajoute une PERSONNE ; la mise en attente ajoute du TEMPS. Une personne de plus ne sert à rien si les attaquants tiennent déjà assez de clés (Bybit) : là, seul le délai protège, parce qu'il laisse le temps de vérifier, d'annuler, de révoquer sa clé avec la clé d'identité froide, et parce que l'oracle et le traçage tournent pendant ce temps.</a:t>
            </a:r>
          </a:p>
          <a:p>
            <a:r>
              <a:t>Où interviennent les agents : partout pour regarder et expliquer (automatique, toujours). Pour DÉCIDER, seulement au niveau Premium (mode Cosignataire) : l'agent devient un signataire qui peut refuser. En mode Protection, l'agent ne signe jamais et ne refuse jamais : il ajoute une signature à obtenir ou un délai.</a:t>
            </a:r>
          </a:p>
          <a:p>
            <a:r>
              <a:t>Seuils : ia-1/score/regles.py (SEUIL_STEP_UP 0,30 ; SEUIL_HOLD 0,75). Niveau « Aucun » (bénéficiaire connu, montant habituel) : journalisé avec score et raisons, signatures normales.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TIMÉO. Ne jamais dire « audité » sans « par nous-mêmes », ni « aucune vulnérabilité » (dire : aucune détectée par ces méthodes). Pas de montant d'audit comme si on avait un devis.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ROMAIN. Si un chiffre est contesté : donner la source, et dire ce qui est hypothèse (H1 à H11, nommées dans les documents).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265615" y="-822960"/>
            <a:ext cx="3291840" cy="3679115"/>
          </a:xfrm>
          <a:custGeom>
            <a:avLst/>
            <a:gdLst/>
            <a:ahLst/>
            <a:cxnLst/>
            <a:rect l="l" t="t" r="r" b="b"/>
            <a:pathLst>
              <a:path w="3291840" h="3679115">
                <a:moveTo>
                  <a:pt x="0" y="0"/>
                </a:moveTo>
                <a:lnTo>
                  <a:pt x="2304288" y="0"/>
                </a:lnTo>
                <a:lnTo>
                  <a:pt x="3291840" y="956569"/>
                </a:lnTo>
                <a:lnTo>
                  <a:pt x="3291840" y="3679115"/>
                </a:lnTo>
                <a:lnTo>
                  <a:pt x="987552" y="3679115"/>
                </a:lnTo>
                <a:lnTo>
                  <a:pt x="0" y="2722545"/>
                </a:lnTo>
                <a:close/>
              </a:path>
            </a:pathLst>
          </a:custGeom>
          <a:solidFill>
            <a:srgbClr val="0B17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65615" y="-528631"/>
            <a:ext cx="3291840" cy="3090456"/>
          </a:xfrm>
          <a:prstGeom prst="rect">
            <a:avLst/>
          </a:prstGeom>
          <a:noFill/>
        </p:spPr>
        <p:txBody>
          <a:bodyPr wrap="square" anchor="ctr" lIns="0" rIns="0" tIns="0" bIns="0">
            <a:spAutoFit/>
          </a:bodyPr>
          <a:lstStyle/>
          <a:p>
            <a:pPr algn="ctr">
              <a:lnSpc>
                <a:spcPct val="115000"/>
              </a:lnSpc>
            </a:pPr>
            <a:r>
              <a:rPr sz="12800" b="1">
                <a:solidFill>
                  <a:srgbClr val="0B1728"/>
                </a:solidFill>
                <a:latin typeface="Manrope"/>
              </a:rPr>
              <a:t>B</a:t>
            </a:r>
          </a:p>
        </p:txBody>
      </p:sp>
      <p:sp>
        <p:nvSpPr>
          <p:cNvPr id="5" name="Freeform 4"/>
          <p:cNvSpPr/>
          <p:nvPr/>
        </p:nvSpPr>
        <p:spPr>
          <a:xfrm>
            <a:off x="731520" y="6291072"/>
            <a:ext cx="237744" cy="265713"/>
          </a:xfrm>
          <a:custGeom>
            <a:avLst/>
            <a:gdLst/>
            <a:ahLst/>
            <a:cxnLst/>
            <a:rect l="l" t="t" r="r" b="b"/>
            <a:pathLst>
              <a:path w="237744" h="265713">
                <a:moveTo>
                  <a:pt x="0" y="0"/>
                </a:moveTo>
                <a:lnTo>
                  <a:pt x="166420" y="0"/>
                </a:lnTo>
                <a:lnTo>
                  <a:pt x="237744" y="69085"/>
                </a:lnTo>
                <a:lnTo>
                  <a:pt x="237744" y="265713"/>
                </a:lnTo>
                <a:lnTo>
                  <a:pt x="71323" y="265713"/>
                </a:lnTo>
                <a:lnTo>
                  <a:pt x="0" y="196627"/>
                </a:lnTo>
                <a:close/>
              </a:path>
            </a:pathLst>
          </a:cu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12329"/>
            <a:ext cx="237744" cy="223198"/>
          </a:xfrm>
          <a:prstGeom prst="rect">
            <a:avLst/>
          </a:prstGeom>
          <a:noFill/>
        </p:spPr>
        <p:txBody>
          <a:bodyPr wrap="square" anchor="ctr" lIns="0" rIns="0" tIns="0" bIns="0">
            <a:spAutoFit/>
          </a:bodyPr>
          <a:lstStyle/>
          <a:p>
            <a:pPr algn="ctr">
              <a:lnSpc>
                <a:spcPct val="115000"/>
              </a:lnSpc>
            </a:pPr>
            <a:r>
              <a:rPr sz="900" b="1">
                <a:solidFill>
                  <a:srgbClr val="142008"/>
                </a:solidFill>
                <a:latin typeface="Manrope"/>
              </a:rPr>
              <a:t>B</a:t>
            </a:r>
          </a:p>
        </p:txBody>
      </p:sp>
      <p:sp>
        <p:nvSpPr>
          <p:cNvPr id="7" name="TextBox 6"/>
          <p:cNvSpPr txBox="1"/>
          <p:nvPr/>
        </p:nvSpPr>
        <p:spPr>
          <a:xfrm>
            <a:off x="1060704" y="6245352"/>
            <a:ext cx="1828800" cy="365760"/>
          </a:xfrm>
          <a:prstGeom prst="rect">
            <a:avLst/>
          </a:prstGeom>
          <a:noFill/>
        </p:spPr>
        <p:txBody>
          <a:bodyPr wrap="square" anchor="t" lIns="0" rIns="0" tIns="0" bIns="0">
            <a:spAutoFit/>
          </a:bodyPr>
          <a:lstStyle/>
          <a:p>
            <a:pPr algn="l">
              <a:lnSpc>
                <a:spcPct val="115000"/>
              </a:lnSpc>
            </a:pPr>
            <a:r>
              <a:rPr sz="1300" b="1">
                <a:solidFill>
                  <a:srgbClr val="F6F9FC"/>
                </a:solidFill>
                <a:latin typeface="Manrope"/>
              </a:rPr>
              <a:t>breaker</a:t>
            </a:r>
            <a:r>
              <a:rPr sz="1300" b="1">
                <a:solidFill>
                  <a:srgbClr val="C7FA70"/>
                </a:solidFill>
                <a:latin typeface="Manrope"/>
              </a:rPr>
              <a:t>.</a:t>
            </a:r>
          </a:p>
        </p:txBody>
      </p:sp>
      <p:sp>
        <p:nvSpPr>
          <p:cNvPr id="8" name="TextBox 7"/>
          <p:cNvSpPr txBox="1"/>
          <p:nvPr/>
        </p:nvSpPr>
        <p:spPr>
          <a:xfrm>
            <a:off x="8716975" y="6254496"/>
            <a:ext cx="2743200" cy="320040"/>
          </a:xfrm>
          <a:prstGeom prst="rect">
            <a:avLst/>
          </a:prstGeom>
          <a:noFill/>
        </p:spPr>
        <p:txBody>
          <a:bodyPr wrap="square" anchor="t" lIns="0" rIns="0" tIns="0" bIns="0">
            <a:spAutoFit/>
          </a:bodyPr>
          <a:lstStyle/>
          <a:p>
            <a:pPr algn="r">
              <a:lnSpc>
                <a:spcPct val="115000"/>
              </a:lnSpc>
            </a:pPr>
            <a:r>
              <a:rPr sz="1100" b="0">
                <a:solidFill>
                  <a:srgbClr val="7F8B9B"/>
                </a:solidFill>
                <a:latin typeface="DM Sans"/>
              </a:rPr>
              <a:t>1 / 8</a:t>
            </a:r>
          </a:p>
        </p:txBody>
      </p:sp>
      <p:sp>
        <p:nvSpPr>
          <p:cNvPr id="9" name="TextBox 8"/>
          <p:cNvSpPr txBox="1"/>
          <p:nvPr/>
        </p:nvSpPr>
        <p:spPr>
          <a:xfrm>
            <a:off x="731520" y="502920"/>
            <a:ext cx="10728655" cy="320040"/>
          </a:xfrm>
          <a:prstGeom prst="rect">
            <a:avLst/>
          </a:prstGeom>
          <a:noFill/>
        </p:spPr>
        <p:txBody>
          <a:bodyPr wrap="square" anchor="t" lIns="0" rIns="0" tIns="0" bIns="0">
            <a:spAutoFit/>
          </a:bodyPr>
          <a:lstStyle/>
          <a:p>
            <a:pPr algn="l">
              <a:lnSpc>
                <a:spcPct val="115000"/>
              </a:lnSpc>
            </a:pPr>
            <a:r>
              <a:rPr sz="1100" b="1">
                <a:solidFill>
                  <a:srgbClr val="C7FA70"/>
                </a:solidFill>
                <a:latin typeface="DM Sans"/>
              </a:rPr>
              <a:t>BREAKER  </a:t>
            </a:r>
            <a:r>
              <a:rPr sz="1100" b="0">
                <a:solidFill>
                  <a:srgbClr val="A9B4C2"/>
                </a:solidFill>
                <a:latin typeface="DM Sans"/>
              </a:rPr>
              <a:t>Secure Horizons · Track 1 Fintech Security · axe 2 SOC antifraude</a:t>
            </a:r>
          </a:p>
        </p:txBody>
      </p:sp>
      <p:sp>
        <p:nvSpPr>
          <p:cNvPr id="10" name="Rounded Rectangle 9"/>
          <p:cNvSpPr/>
          <p:nvPr/>
        </p:nvSpPr>
        <p:spPr>
          <a:xfrm>
            <a:off x="10088575" y="457200"/>
            <a:ext cx="1371600" cy="347472"/>
          </a:xfrm>
          <a:prstGeom prst="roundRect">
            <a:avLst>
              <a:gd name="adj" fmla="val 50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88575" y="457200"/>
            <a:ext cx="1371600" cy="347472"/>
          </a:xfrm>
          <a:prstGeom prst="rect">
            <a:avLst/>
          </a:prstGeom>
          <a:noFill/>
        </p:spPr>
        <p:txBody>
          <a:bodyPr wrap="square" anchor="ctr" lIns="0" rIns="0" tIns="0" bIns="0">
            <a:spAutoFit/>
          </a:bodyPr>
          <a:lstStyle/>
          <a:p>
            <a:pPr algn="ctr">
              <a:lnSpc>
                <a:spcPct val="115000"/>
              </a:lnSpc>
            </a:pPr>
            <a:r>
              <a:rPr sz="1000" b="1">
                <a:solidFill>
                  <a:srgbClr val="C7FA70"/>
                </a:solidFill>
                <a:latin typeface="DM Sans"/>
              </a:rPr>
              <a:t>ROMAIN</a:t>
            </a:r>
          </a:p>
        </p:txBody>
      </p:sp>
      <p:sp>
        <p:nvSpPr>
          <p:cNvPr id="12" name="Freeform 11"/>
          <p:cNvSpPr/>
          <p:nvPr/>
        </p:nvSpPr>
        <p:spPr>
          <a:xfrm>
            <a:off x="731520" y="1371600"/>
            <a:ext cx="822960" cy="919778"/>
          </a:xfrm>
          <a:custGeom>
            <a:avLst/>
            <a:gdLst/>
            <a:ahLst/>
            <a:cxnLst/>
            <a:rect l="l" t="t" r="r" b="b"/>
            <a:pathLst>
              <a:path w="822960" h="919778">
                <a:moveTo>
                  <a:pt x="0" y="0"/>
                </a:moveTo>
                <a:lnTo>
                  <a:pt x="576072" y="0"/>
                </a:lnTo>
                <a:lnTo>
                  <a:pt x="822960" y="239142"/>
                </a:lnTo>
                <a:lnTo>
                  <a:pt x="822960" y="919778"/>
                </a:lnTo>
                <a:lnTo>
                  <a:pt x="246888" y="919778"/>
                </a:lnTo>
                <a:lnTo>
                  <a:pt x="0" y="680635"/>
                </a:lnTo>
                <a:close/>
              </a:path>
            </a:pathLst>
          </a:cu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445182"/>
            <a:ext cx="822960" cy="772613"/>
          </a:xfrm>
          <a:prstGeom prst="rect">
            <a:avLst/>
          </a:prstGeom>
          <a:noFill/>
        </p:spPr>
        <p:txBody>
          <a:bodyPr wrap="square" anchor="ctr" lIns="0" rIns="0" tIns="0" bIns="0">
            <a:spAutoFit/>
          </a:bodyPr>
          <a:lstStyle/>
          <a:p>
            <a:pPr algn="ctr">
              <a:lnSpc>
                <a:spcPct val="115000"/>
              </a:lnSpc>
            </a:pPr>
            <a:r>
              <a:rPr sz="3200" b="1">
                <a:solidFill>
                  <a:srgbClr val="142008"/>
                </a:solidFill>
                <a:latin typeface="Manrope"/>
              </a:rPr>
              <a:t>B</a:t>
            </a:r>
          </a:p>
        </p:txBody>
      </p:sp>
      <p:sp>
        <p:nvSpPr>
          <p:cNvPr id="14" name="TextBox 13"/>
          <p:cNvSpPr txBox="1"/>
          <p:nvPr/>
        </p:nvSpPr>
        <p:spPr>
          <a:xfrm>
            <a:off x="1783080" y="1572768"/>
            <a:ext cx="1828800" cy="365760"/>
          </a:xfrm>
          <a:prstGeom prst="rect">
            <a:avLst/>
          </a:prstGeom>
          <a:noFill/>
        </p:spPr>
        <p:txBody>
          <a:bodyPr wrap="square" anchor="t" lIns="0" rIns="0" tIns="0" bIns="0">
            <a:spAutoFit/>
          </a:bodyPr>
          <a:lstStyle/>
          <a:p>
            <a:pPr algn="l">
              <a:lnSpc>
                <a:spcPct val="115000"/>
              </a:lnSpc>
            </a:pPr>
            <a:r>
              <a:rPr sz="3000" b="1">
                <a:solidFill>
                  <a:srgbClr val="F6F9FC"/>
                </a:solidFill>
                <a:latin typeface="Manrope"/>
              </a:rPr>
              <a:t>breaker</a:t>
            </a:r>
            <a:r>
              <a:rPr sz="3000" b="1">
                <a:solidFill>
                  <a:srgbClr val="C7FA70"/>
                </a:solidFill>
                <a:latin typeface="Manrope"/>
              </a:rPr>
              <a:t>.</a:t>
            </a:r>
          </a:p>
        </p:txBody>
      </p:sp>
      <p:sp>
        <p:nvSpPr>
          <p:cNvPr id="15" name="TextBox 14"/>
          <p:cNvSpPr txBox="1"/>
          <p:nvPr/>
        </p:nvSpPr>
        <p:spPr>
          <a:xfrm>
            <a:off x="731520" y="2423160"/>
            <a:ext cx="9601200" cy="1463040"/>
          </a:xfrm>
          <a:prstGeom prst="rect">
            <a:avLst/>
          </a:prstGeom>
          <a:noFill/>
        </p:spPr>
        <p:txBody>
          <a:bodyPr wrap="square" anchor="t" lIns="0" rIns="0" tIns="0" bIns="0">
            <a:spAutoFit/>
          </a:bodyPr>
          <a:lstStyle/>
          <a:p>
            <a:pPr algn="l">
              <a:lnSpc>
                <a:spcPct val="102000"/>
              </a:lnSpc>
            </a:pPr>
            <a:r>
              <a:rPr sz="3400" b="1">
                <a:solidFill>
                  <a:srgbClr val="F6F9FC"/>
                </a:solidFill>
                <a:latin typeface="Manrope"/>
              </a:rPr>
              <a:t>Le 21 février 2025, trois personnes ont signé le plus gros vol de l'histoire.</a:t>
            </a:r>
          </a:p>
        </p:txBody>
      </p:sp>
      <p:sp>
        <p:nvSpPr>
          <p:cNvPr id="16" name="TextBox 15"/>
          <p:cNvSpPr txBox="1"/>
          <p:nvPr/>
        </p:nvSpPr>
        <p:spPr>
          <a:xfrm>
            <a:off x="731520" y="4343400"/>
            <a:ext cx="8686800" cy="914400"/>
          </a:xfrm>
          <a:prstGeom prst="rect">
            <a:avLst/>
          </a:prstGeom>
          <a:noFill/>
        </p:spPr>
        <p:txBody>
          <a:bodyPr wrap="square" anchor="t" lIns="0" rIns="0" tIns="0" bIns="0">
            <a:spAutoFit/>
          </a:bodyPr>
          <a:lstStyle/>
          <a:p>
            <a:pPr algn="l">
              <a:lnSpc>
                <a:spcPct val="115000"/>
              </a:lnSpc>
            </a:pPr>
            <a:r>
              <a:rPr sz="1800" b="0">
                <a:solidFill>
                  <a:srgbClr val="A9B4C2"/>
                </a:solidFill>
                <a:latin typeface="DM Sans"/>
              </a:rPr>
              <a:t>Elles pensaient signer un virement de routine. L'écran leur montrait un virement de routine. </a:t>
            </a:r>
            <a:r>
              <a:rPr sz="1800" b="1">
                <a:solidFill>
                  <a:srgbClr val="F6F9FC"/>
                </a:solidFill>
                <a:latin typeface="DM Sans"/>
              </a:rPr>
              <a:t>1,46 milliard de dollars.</a:t>
            </a:r>
          </a:p>
        </p:txBody>
      </p:sp>
      <p:sp>
        <p:nvSpPr>
          <p:cNvPr id="17" name="TextBox 16"/>
          <p:cNvSpPr txBox="1"/>
          <p:nvPr/>
        </p:nvSpPr>
        <p:spPr>
          <a:xfrm>
            <a:off x="731520" y="5349240"/>
            <a:ext cx="10058400" cy="457200"/>
          </a:xfrm>
          <a:prstGeom prst="rect">
            <a:avLst/>
          </a:prstGeom>
          <a:noFill/>
        </p:spPr>
        <p:txBody>
          <a:bodyPr wrap="square" anchor="t" lIns="0" rIns="0" tIns="0" bIns="0">
            <a:spAutoFit/>
          </a:bodyPr>
          <a:lstStyle/>
          <a:p>
            <a:pPr algn="l">
              <a:lnSpc>
                <a:spcPct val="115000"/>
              </a:lnSpc>
            </a:pPr>
            <a:r>
              <a:rPr sz="2000" b="1">
                <a:solidFill>
                  <a:srgbClr val="C7FA70"/>
                </a:solidFill>
                <a:latin typeface="Manrope"/>
              </a:rPr>
              <a:t>Une signature ne suffit pas à faire confiance.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265615" y="-822960"/>
            <a:ext cx="3291840" cy="3679115"/>
          </a:xfrm>
          <a:custGeom>
            <a:avLst/>
            <a:gdLst/>
            <a:ahLst/>
            <a:cxnLst/>
            <a:rect l="l" t="t" r="r" b="b"/>
            <a:pathLst>
              <a:path w="3291840" h="3679115">
                <a:moveTo>
                  <a:pt x="0" y="0"/>
                </a:moveTo>
                <a:lnTo>
                  <a:pt x="2304288" y="0"/>
                </a:lnTo>
                <a:lnTo>
                  <a:pt x="3291840" y="956569"/>
                </a:lnTo>
                <a:lnTo>
                  <a:pt x="3291840" y="3679115"/>
                </a:lnTo>
                <a:lnTo>
                  <a:pt x="987552" y="3679115"/>
                </a:lnTo>
                <a:lnTo>
                  <a:pt x="0" y="2722545"/>
                </a:lnTo>
                <a:close/>
              </a:path>
            </a:pathLst>
          </a:custGeom>
          <a:solidFill>
            <a:srgbClr val="0B17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65615" y="-528631"/>
            <a:ext cx="3291840" cy="3090456"/>
          </a:xfrm>
          <a:prstGeom prst="rect">
            <a:avLst/>
          </a:prstGeom>
          <a:noFill/>
        </p:spPr>
        <p:txBody>
          <a:bodyPr wrap="square" anchor="ctr" lIns="0" rIns="0" tIns="0" bIns="0">
            <a:spAutoFit/>
          </a:bodyPr>
          <a:lstStyle/>
          <a:p>
            <a:pPr algn="ctr">
              <a:lnSpc>
                <a:spcPct val="115000"/>
              </a:lnSpc>
            </a:pPr>
            <a:r>
              <a:rPr sz="12800" b="1">
                <a:solidFill>
                  <a:srgbClr val="0B1728"/>
                </a:solidFill>
                <a:latin typeface="Manrope"/>
              </a:rPr>
              <a:t>B</a:t>
            </a:r>
          </a:p>
        </p:txBody>
      </p:sp>
      <p:sp>
        <p:nvSpPr>
          <p:cNvPr id="5" name="Freeform 4"/>
          <p:cNvSpPr/>
          <p:nvPr/>
        </p:nvSpPr>
        <p:spPr>
          <a:xfrm>
            <a:off x="731520" y="6291072"/>
            <a:ext cx="237744" cy="265713"/>
          </a:xfrm>
          <a:custGeom>
            <a:avLst/>
            <a:gdLst/>
            <a:ahLst/>
            <a:cxnLst/>
            <a:rect l="l" t="t" r="r" b="b"/>
            <a:pathLst>
              <a:path w="237744" h="265713">
                <a:moveTo>
                  <a:pt x="0" y="0"/>
                </a:moveTo>
                <a:lnTo>
                  <a:pt x="166420" y="0"/>
                </a:lnTo>
                <a:lnTo>
                  <a:pt x="237744" y="69085"/>
                </a:lnTo>
                <a:lnTo>
                  <a:pt x="237744" y="265713"/>
                </a:lnTo>
                <a:lnTo>
                  <a:pt x="71323" y="265713"/>
                </a:lnTo>
                <a:lnTo>
                  <a:pt x="0" y="196627"/>
                </a:lnTo>
                <a:close/>
              </a:path>
            </a:pathLst>
          </a:cu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12329"/>
            <a:ext cx="237744" cy="223198"/>
          </a:xfrm>
          <a:prstGeom prst="rect">
            <a:avLst/>
          </a:prstGeom>
          <a:noFill/>
        </p:spPr>
        <p:txBody>
          <a:bodyPr wrap="square" anchor="ctr" lIns="0" rIns="0" tIns="0" bIns="0">
            <a:spAutoFit/>
          </a:bodyPr>
          <a:lstStyle/>
          <a:p>
            <a:pPr algn="ctr">
              <a:lnSpc>
                <a:spcPct val="115000"/>
              </a:lnSpc>
            </a:pPr>
            <a:r>
              <a:rPr sz="900" b="1">
                <a:solidFill>
                  <a:srgbClr val="142008"/>
                </a:solidFill>
                <a:latin typeface="Manrope"/>
              </a:rPr>
              <a:t>B</a:t>
            </a:r>
          </a:p>
        </p:txBody>
      </p:sp>
      <p:sp>
        <p:nvSpPr>
          <p:cNvPr id="7" name="TextBox 6"/>
          <p:cNvSpPr txBox="1"/>
          <p:nvPr/>
        </p:nvSpPr>
        <p:spPr>
          <a:xfrm>
            <a:off x="1060704" y="6245352"/>
            <a:ext cx="1828800" cy="365760"/>
          </a:xfrm>
          <a:prstGeom prst="rect">
            <a:avLst/>
          </a:prstGeom>
          <a:noFill/>
        </p:spPr>
        <p:txBody>
          <a:bodyPr wrap="square" anchor="t" lIns="0" rIns="0" tIns="0" bIns="0">
            <a:spAutoFit/>
          </a:bodyPr>
          <a:lstStyle/>
          <a:p>
            <a:pPr algn="l">
              <a:lnSpc>
                <a:spcPct val="115000"/>
              </a:lnSpc>
            </a:pPr>
            <a:r>
              <a:rPr sz="1300" b="1">
                <a:solidFill>
                  <a:srgbClr val="F6F9FC"/>
                </a:solidFill>
                <a:latin typeface="Manrope"/>
              </a:rPr>
              <a:t>breaker</a:t>
            </a:r>
            <a:r>
              <a:rPr sz="1300" b="1">
                <a:solidFill>
                  <a:srgbClr val="C7FA70"/>
                </a:solidFill>
                <a:latin typeface="Manrope"/>
              </a:rPr>
              <a:t>.</a:t>
            </a:r>
          </a:p>
        </p:txBody>
      </p:sp>
      <p:sp>
        <p:nvSpPr>
          <p:cNvPr id="8" name="TextBox 7"/>
          <p:cNvSpPr txBox="1"/>
          <p:nvPr/>
        </p:nvSpPr>
        <p:spPr>
          <a:xfrm>
            <a:off x="8716975" y="6254496"/>
            <a:ext cx="2743200" cy="320040"/>
          </a:xfrm>
          <a:prstGeom prst="rect">
            <a:avLst/>
          </a:prstGeom>
          <a:noFill/>
        </p:spPr>
        <p:txBody>
          <a:bodyPr wrap="square" anchor="t" lIns="0" rIns="0" tIns="0" bIns="0">
            <a:spAutoFit/>
          </a:bodyPr>
          <a:lstStyle/>
          <a:p>
            <a:pPr algn="r">
              <a:lnSpc>
                <a:spcPct val="115000"/>
              </a:lnSpc>
            </a:pPr>
            <a:r>
              <a:rPr sz="1100" b="0">
                <a:solidFill>
                  <a:srgbClr val="7F8B9B"/>
                </a:solidFill>
                <a:latin typeface="DM Sans"/>
              </a:rPr>
              <a:t>2 / 8</a:t>
            </a:r>
          </a:p>
        </p:txBody>
      </p:sp>
      <p:sp>
        <p:nvSpPr>
          <p:cNvPr id="9" name="TextBox 8"/>
          <p:cNvSpPr txBox="1"/>
          <p:nvPr/>
        </p:nvSpPr>
        <p:spPr>
          <a:xfrm>
            <a:off x="731520" y="502920"/>
            <a:ext cx="10728655" cy="320040"/>
          </a:xfrm>
          <a:prstGeom prst="rect">
            <a:avLst/>
          </a:prstGeom>
          <a:noFill/>
        </p:spPr>
        <p:txBody>
          <a:bodyPr wrap="square" anchor="t" lIns="0" rIns="0" tIns="0" bIns="0">
            <a:spAutoFit/>
          </a:bodyPr>
          <a:lstStyle/>
          <a:p>
            <a:pPr algn="l">
              <a:lnSpc>
                <a:spcPct val="115000"/>
              </a:lnSpc>
            </a:pPr>
            <a:r>
              <a:rPr sz="1100" b="1">
                <a:solidFill>
                  <a:srgbClr val="C7FA70"/>
                </a:solidFill>
                <a:latin typeface="DM Sans"/>
              </a:rPr>
              <a:t>PROBLÈME  </a:t>
            </a:r>
            <a:r>
              <a:rPr sz="1100" b="0">
                <a:solidFill>
                  <a:srgbClr val="A9B4C2"/>
                </a:solidFill>
                <a:latin typeface="DM Sans"/>
              </a:rPr>
              <a:t>ce ne sont plus les contrats qu'on casse, ce sont les gens qu'on trompe au moment de signer</a:t>
            </a:r>
          </a:p>
        </p:txBody>
      </p:sp>
      <p:sp>
        <p:nvSpPr>
          <p:cNvPr id="10" name="Rounded Rectangle 9"/>
          <p:cNvSpPr/>
          <p:nvPr/>
        </p:nvSpPr>
        <p:spPr>
          <a:xfrm>
            <a:off x="10088575" y="457200"/>
            <a:ext cx="1371600" cy="347472"/>
          </a:xfrm>
          <a:prstGeom prst="roundRect">
            <a:avLst>
              <a:gd name="adj" fmla="val 50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88575" y="457200"/>
            <a:ext cx="1371600" cy="347472"/>
          </a:xfrm>
          <a:prstGeom prst="rect">
            <a:avLst/>
          </a:prstGeom>
          <a:noFill/>
        </p:spPr>
        <p:txBody>
          <a:bodyPr wrap="square" anchor="ctr" lIns="0" rIns="0" tIns="0" bIns="0">
            <a:spAutoFit/>
          </a:bodyPr>
          <a:lstStyle/>
          <a:p>
            <a:pPr algn="ctr">
              <a:lnSpc>
                <a:spcPct val="115000"/>
              </a:lnSpc>
            </a:pPr>
            <a:r>
              <a:rPr sz="1000" b="1">
                <a:solidFill>
                  <a:srgbClr val="C7FA70"/>
                </a:solidFill>
                <a:latin typeface="DM Sans"/>
              </a:rPr>
              <a:t>ROMAIN · TIMÉO</a:t>
            </a:r>
          </a:p>
        </p:txBody>
      </p:sp>
      <p:sp>
        <p:nvSpPr>
          <p:cNvPr id="12" name="TextBox 11"/>
          <p:cNvSpPr txBox="1"/>
          <p:nvPr/>
        </p:nvSpPr>
        <p:spPr>
          <a:xfrm>
            <a:off x="731520" y="960120"/>
            <a:ext cx="9357055" cy="1463040"/>
          </a:xfrm>
          <a:prstGeom prst="rect">
            <a:avLst/>
          </a:prstGeom>
          <a:noFill/>
        </p:spPr>
        <p:txBody>
          <a:bodyPr wrap="square" anchor="t" lIns="0" rIns="0" tIns="0" bIns="0">
            <a:spAutoFit/>
          </a:bodyPr>
          <a:lstStyle/>
          <a:p>
            <a:pPr algn="l">
              <a:lnSpc>
                <a:spcPct val="102000"/>
              </a:lnSpc>
            </a:pPr>
            <a:r>
              <a:rPr sz="3600" b="1">
                <a:solidFill>
                  <a:srgbClr val="F6F9FC"/>
                </a:solidFill>
                <a:latin typeface="Manrope"/>
              </a:rPr>
              <a:t>Les clés étaient valides. Les signataires, trompés.</a:t>
            </a:r>
          </a:p>
        </p:txBody>
      </p:sp>
      <p:sp>
        <p:nvSpPr>
          <p:cNvPr id="13" name="Rounded Rectangle 12"/>
          <p:cNvSpPr/>
          <p:nvPr/>
        </p:nvSpPr>
        <p:spPr>
          <a:xfrm>
            <a:off x="731520" y="2514600"/>
            <a:ext cx="3442106" cy="160020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514600"/>
            <a:ext cx="54864" cy="1600200"/>
          </a:xfrm>
          <a:prstGeom prst="rect">
            <a:avLst/>
          </a:prstGeom>
          <a:solidFill>
            <a:srgbClr val="FFC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715768"/>
            <a:ext cx="2984906" cy="640080"/>
          </a:xfrm>
          <a:prstGeom prst="rect">
            <a:avLst/>
          </a:prstGeom>
          <a:noFill/>
        </p:spPr>
        <p:txBody>
          <a:bodyPr wrap="square" anchor="t" lIns="0" rIns="0" tIns="0" bIns="0">
            <a:spAutoFit/>
          </a:bodyPr>
          <a:lstStyle/>
          <a:p>
            <a:pPr algn="l">
              <a:lnSpc>
                <a:spcPct val="115000"/>
              </a:lnSpc>
            </a:pPr>
            <a:r>
              <a:rPr sz="3400" b="1">
                <a:solidFill>
                  <a:srgbClr val="FFC481"/>
                </a:solidFill>
                <a:latin typeface="Manrope"/>
              </a:rPr>
              <a:t>1,46 Md$</a:t>
            </a:r>
          </a:p>
        </p:txBody>
      </p:sp>
      <p:sp>
        <p:nvSpPr>
          <p:cNvPr id="16" name="TextBox 15"/>
          <p:cNvSpPr txBox="1"/>
          <p:nvPr/>
        </p:nvSpPr>
        <p:spPr>
          <a:xfrm>
            <a:off x="1005840" y="3374136"/>
            <a:ext cx="2984906" cy="731520"/>
          </a:xfrm>
          <a:prstGeom prst="rect">
            <a:avLst/>
          </a:prstGeom>
          <a:noFill/>
        </p:spPr>
        <p:txBody>
          <a:bodyPr wrap="square" anchor="t" lIns="0" rIns="0" tIns="0" bIns="0">
            <a:spAutoFit/>
          </a:bodyPr>
          <a:lstStyle/>
          <a:p>
            <a:pPr algn="l">
              <a:lnSpc>
                <a:spcPct val="112000"/>
              </a:lnSpc>
            </a:pPr>
            <a:r>
              <a:rPr sz="1150" b="0">
                <a:solidFill>
                  <a:srgbClr val="A9B4C2"/>
                </a:solidFill>
                <a:latin typeface="DM Sans"/>
              </a:rPr>
              <a:t>Bybit, février 2025 : 3 signataires sur 6 valident une transaction que leur interface leur montre falsifiée</a:t>
            </a:r>
          </a:p>
        </p:txBody>
      </p:sp>
      <p:sp>
        <p:nvSpPr>
          <p:cNvPr id="17" name="Rounded Rectangle 16"/>
          <p:cNvSpPr/>
          <p:nvPr/>
        </p:nvSpPr>
        <p:spPr>
          <a:xfrm>
            <a:off x="4374794" y="2514600"/>
            <a:ext cx="3442106" cy="160020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74794" y="2514600"/>
            <a:ext cx="54864" cy="1600200"/>
          </a:xfrm>
          <a:prstGeom prst="rect">
            <a:avLst/>
          </a:prstGeom>
          <a:solidFill>
            <a:srgbClr val="FFC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9114" y="2715768"/>
            <a:ext cx="2984906" cy="640080"/>
          </a:xfrm>
          <a:prstGeom prst="rect">
            <a:avLst/>
          </a:prstGeom>
          <a:noFill/>
        </p:spPr>
        <p:txBody>
          <a:bodyPr wrap="square" anchor="t" lIns="0" rIns="0" tIns="0" bIns="0">
            <a:spAutoFit/>
          </a:bodyPr>
          <a:lstStyle/>
          <a:p>
            <a:pPr algn="l">
              <a:lnSpc>
                <a:spcPct val="115000"/>
              </a:lnSpc>
            </a:pPr>
            <a:r>
              <a:rPr sz="3400" b="1">
                <a:solidFill>
                  <a:srgbClr val="FFC481"/>
                </a:solidFill>
                <a:latin typeface="Manrope"/>
              </a:rPr>
              <a:t>≈ 280 M$</a:t>
            </a:r>
          </a:p>
        </p:txBody>
      </p:sp>
      <p:sp>
        <p:nvSpPr>
          <p:cNvPr id="20" name="TextBox 19"/>
          <p:cNvSpPr txBox="1"/>
          <p:nvPr/>
        </p:nvSpPr>
        <p:spPr>
          <a:xfrm>
            <a:off x="4649114" y="3374136"/>
            <a:ext cx="2984906" cy="731520"/>
          </a:xfrm>
          <a:prstGeom prst="rect">
            <a:avLst/>
          </a:prstGeom>
          <a:noFill/>
        </p:spPr>
        <p:txBody>
          <a:bodyPr wrap="square" anchor="t" lIns="0" rIns="0" tIns="0" bIns="0">
            <a:spAutoFit/>
          </a:bodyPr>
          <a:lstStyle/>
          <a:p>
            <a:pPr algn="l">
              <a:lnSpc>
                <a:spcPct val="112000"/>
              </a:lnSpc>
            </a:pPr>
            <a:r>
              <a:rPr sz="1150" b="0">
                <a:solidFill>
                  <a:srgbClr val="A9B4C2"/>
                </a:solidFill>
                <a:latin typeface="DM Sans"/>
              </a:rPr>
              <a:t>Drift, avril 2026 : des mois de fausses identités pour approcher les signataires, puis le multisig</a:t>
            </a:r>
          </a:p>
        </p:txBody>
      </p:sp>
      <p:sp>
        <p:nvSpPr>
          <p:cNvPr id="21" name="Rounded Rectangle 20"/>
          <p:cNvSpPr/>
          <p:nvPr/>
        </p:nvSpPr>
        <p:spPr>
          <a:xfrm>
            <a:off x="8018068" y="2514600"/>
            <a:ext cx="3442106" cy="160020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8068" y="2514600"/>
            <a:ext cx="54864" cy="1600200"/>
          </a:xfrm>
          <a:prstGeom prst="rect">
            <a:avLst/>
          </a:prstGeom>
          <a:solidFill>
            <a:srgbClr val="FFC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2388" y="2715768"/>
            <a:ext cx="2984906" cy="640080"/>
          </a:xfrm>
          <a:prstGeom prst="rect">
            <a:avLst/>
          </a:prstGeom>
          <a:noFill/>
        </p:spPr>
        <p:txBody>
          <a:bodyPr wrap="square" anchor="t" lIns="0" rIns="0" tIns="0" bIns="0">
            <a:spAutoFit/>
          </a:bodyPr>
          <a:lstStyle/>
          <a:p>
            <a:pPr algn="l">
              <a:lnSpc>
                <a:spcPct val="115000"/>
              </a:lnSpc>
            </a:pPr>
            <a:r>
              <a:rPr sz="3400" b="1">
                <a:solidFill>
                  <a:srgbClr val="FFC481"/>
                </a:solidFill>
                <a:latin typeface="Manrope"/>
              </a:rPr>
              <a:t>3,4 Md$</a:t>
            </a:r>
          </a:p>
        </p:txBody>
      </p:sp>
      <p:sp>
        <p:nvSpPr>
          <p:cNvPr id="24" name="TextBox 23"/>
          <p:cNvSpPr txBox="1"/>
          <p:nvPr/>
        </p:nvSpPr>
        <p:spPr>
          <a:xfrm>
            <a:off x="8292388" y="3374136"/>
            <a:ext cx="2984906" cy="731520"/>
          </a:xfrm>
          <a:prstGeom prst="rect">
            <a:avLst/>
          </a:prstGeom>
          <a:noFill/>
        </p:spPr>
        <p:txBody>
          <a:bodyPr wrap="square" anchor="t" lIns="0" rIns="0" tIns="0" bIns="0">
            <a:spAutoFit/>
          </a:bodyPr>
          <a:lstStyle/>
          <a:p>
            <a:pPr algn="l">
              <a:lnSpc>
                <a:spcPct val="112000"/>
              </a:lnSpc>
            </a:pPr>
            <a:r>
              <a:rPr sz="1150" b="0">
                <a:solidFill>
                  <a:srgbClr val="A9B4C2"/>
                </a:solidFill>
                <a:latin typeface="DM Sans"/>
              </a:rPr>
              <a:t>volés en 2025 (Chainalysis). Médiane d'un incident significatif : 1,3 M$ (TRM)</a:t>
            </a:r>
          </a:p>
        </p:txBody>
      </p:sp>
      <p:sp>
        <p:nvSpPr>
          <p:cNvPr id="25" name="TextBox 24"/>
          <p:cNvSpPr txBox="1"/>
          <p:nvPr/>
        </p:nvSpPr>
        <p:spPr>
          <a:xfrm>
            <a:off x="731520" y="4434840"/>
            <a:ext cx="10728655" cy="1097280"/>
          </a:xfrm>
          <a:prstGeom prst="rect">
            <a:avLst/>
          </a:prstGeom>
          <a:noFill/>
        </p:spPr>
        <p:txBody>
          <a:bodyPr wrap="square" anchor="t" lIns="0" rIns="0" tIns="0" bIns="0">
            <a:spAutoFit/>
          </a:bodyPr>
          <a:lstStyle/>
          <a:p>
            <a:pPr algn="l">
              <a:lnSpc>
                <a:spcPct val="115000"/>
              </a:lnSpc>
            </a:pPr>
            <a:r>
              <a:rPr sz="1700" b="1">
                <a:solidFill>
                  <a:srgbClr val="F6F9FC"/>
                </a:solidFill>
                <a:latin typeface="DM Sans"/>
              </a:rPr>
              <a:t>Le coffre fait exactement ce qu'on lui demande. </a:t>
            </a:r>
            <a:r>
              <a:rPr sz="1700" b="0">
                <a:solidFill>
                  <a:srgbClr val="A9B4C2"/>
                </a:solidFill>
                <a:latin typeface="DM Sans"/>
              </a:rPr>
              <a:t>Il n'a aucune idée de ce qui est normal pour vous. Les grandes plateformes se paient des équipes et des outils dépositaires à partir de 36 000 $ par an. Les autres n'ont rien, à aucun prix.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265615" y="-822960"/>
            <a:ext cx="3291840" cy="3679115"/>
          </a:xfrm>
          <a:custGeom>
            <a:avLst/>
            <a:gdLst/>
            <a:ahLst/>
            <a:cxnLst/>
            <a:rect l="l" t="t" r="r" b="b"/>
            <a:pathLst>
              <a:path w="3291840" h="3679115">
                <a:moveTo>
                  <a:pt x="0" y="0"/>
                </a:moveTo>
                <a:lnTo>
                  <a:pt x="2304288" y="0"/>
                </a:lnTo>
                <a:lnTo>
                  <a:pt x="3291840" y="956569"/>
                </a:lnTo>
                <a:lnTo>
                  <a:pt x="3291840" y="3679115"/>
                </a:lnTo>
                <a:lnTo>
                  <a:pt x="987552" y="3679115"/>
                </a:lnTo>
                <a:lnTo>
                  <a:pt x="0" y="2722545"/>
                </a:lnTo>
                <a:close/>
              </a:path>
            </a:pathLst>
          </a:custGeom>
          <a:solidFill>
            <a:srgbClr val="0B17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65615" y="-528631"/>
            <a:ext cx="3291840" cy="3090456"/>
          </a:xfrm>
          <a:prstGeom prst="rect">
            <a:avLst/>
          </a:prstGeom>
          <a:noFill/>
        </p:spPr>
        <p:txBody>
          <a:bodyPr wrap="square" anchor="ctr" lIns="0" rIns="0" tIns="0" bIns="0">
            <a:spAutoFit/>
          </a:bodyPr>
          <a:lstStyle/>
          <a:p>
            <a:pPr algn="ctr">
              <a:lnSpc>
                <a:spcPct val="115000"/>
              </a:lnSpc>
            </a:pPr>
            <a:r>
              <a:rPr sz="12800" b="1">
                <a:solidFill>
                  <a:srgbClr val="0B1728"/>
                </a:solidFill>
                <a:latin typeface="Manrope"/>
              </a:rPr>
              <a:t>B</a:t>
            </a:r>
          </a:p>
        </p:txBody>
      </p:sp>
      <p:sp>
        <p:nvSpPr>
          <p:cNvPr id="5" name="Freeform 4"/>
          <p:cNvSpPr/>
          <p:nvPr/>
        </p:nvSpPr>
        <p:spPr>
          <a:xfrm>
            <a:off x="731520" y="6291072"/>
            <a:ext cx="237744" cy="265713"/>
          </a:xfrm>
          <a:custGeom>
            <a:avLst/>
            <a:gdLst/>
            <a:ahLst/>
            <a:cxnLst/>
            <a:rect l="l" t="t" r="r" b="b"/>
            <a:pathLst>
              <a:path w="237744" h="265713">
                <a:moveTo>
                  <a:pt x="0" y="0"/>
                </a:moveTo>
                <a:lnTo>
                  <a:pt x="166420" y="0"/>
                </a:lnTo>
                <a:lnTo>
                  <a:pt x="237744" y="69085"/>
                </a:lnTo>
                <a:lnTo>
                  <a:pt x="237744" y="265713"/>
                </a:lnTo>
                <a:lnTo>
                  <a:pt x="71323" y="265713"/>
                </a:lnTo>
                <a:lnTo>
                  <a:pt x="0" y="196627"/>
                </a:lnTo>
                <a:close/>
              </a:path>
            </a:pathLst>
          </a:cu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12329"/>
            <a:ext cx="237744" cy="223198"/>
          </a:xfrm>
          <a:prstGeom prst="rect">
            <a:avLst/>
          </a:prstGeom>
          <a:noFill/>
        </p:spPr>
        <p:txBody>
          <a:bodyPr wrap="square" anchor="ctr" lIns="0" rIns="0" tIns="0" bIns="0">
            <a:spAutoFit/>
          </a:bodyPr>
          <a:lstStyle/>
          <a:p>
            <a:pPr algn="ctr">
              <a:lnSpc>
                <a:spcPct val="115000"/>
              </a:lnSpc>
            </a:pPr>
            <a:r>
              <a:rPr sz="900" b="1">
                <a:solidFill>
                  <a:srgbClr val="142008"/>
                </a:solidFill>
                <a:latin typeface="Manrope"/>
              </a:rPr>
              <a:t>B</a:t>
            </a:r>
          </a:p>
        </p:txBody>
      </p:sp>
      <p:sp>
        <p:nvSpPr>
          <p:cNvPr id="7" name="TextBox 6"/>
          <p:cNvSpPr txBox="1"/>
          <p:nvPr/>
        </p:nvSpPr>
        <p:spPr>
          <a:xfrm>
            <a:off x="1060704" y="6245352"/>
            <a:ext cx="1828800" cy="365760"/>
          </a:xfrm>
          <a:prstGeom prst="rect">
            <a:avLst/>
          </a:prstGeom>
          <a:noFill/>
        </p:spPr>
        <p:txBody>
          <a:bodyPr wrap="square" anchor="t" lIns="0" rIns="0" tIns="0" bIns="0">
            <a:spAutoFit/>
          </a:bodyPr>
          <a:lstStyle/>
          <a:p>
            <a:pPr algn="l">
              <a:lnSpc>
                <a:spcPct val="115000"/>
              </a:lnSpc>
            </a:pPr>
            <a:r>
              <a:rPr sz="1300" b="1">
                <a:solidFill>
                  <a:srgbClr val="F6F9FC"/>
                </a:solidFill>
                <a:latin typeface="Manrope"/>
              </a:rPr>
              <a:t>breaker</a:t>
            </a:r>
            <a:r>
              <a:rPr sz="1300" b="1">
                <a:solidFill>
                  <a:srgbClr val="C7FA70"/>
                </a:solidFill>
                <a:latin typeface="Manrope"/>
              </a:rPr>
              <a:t>.</a:t>
            </a:r>
          </a:p>
        </p:txBody>
      </p:sp>
      <p:sp>
        <p:nvSpPr>
          <p:cNvPr id="8" name="TextBox 7"/>
          <p:cNvSpPr txBox="1"/>
          <p:nvPr/>
        </p:nvSpPr>
        <p:spPr>
          <a:xfrm>
            <a:off x="8716975" y="6254496"/>
            <a:ext cx="2743200" cy="320040"/>
          </a:xfrm>
          <a:prstGeom prst="rect">
            <a:avLst/>
          </a:prstGeom>
          <a:noFill/>
        </p:spPr>
        <p:txBody>
          <a:bodyPr wrap="square" anchor="t" lIns="0" rIns="0" tIns="0" bIns="0">
            <a:spAutoFit/>
          </a:bodyPr>
          <a:lstStyle/>
          <a:p>
            <a:pPr algn="r">
              <a:lnSpc>
                <a:spcPct val="115000"/>
              </a:lnSpc>
            </a:pPr>
            <a:r>
              <a:rPr sz="1100" b="0">
                <a:solidFill>
                  <a:srgbClr val="7F8B9B"/>
                </a:solidFill>
                <a:latin typeface="DM Sans"/>
              </a:rPr>
              <a:t>3 / 8</a:t>
            </a:r>
          </a:p>
        </p:txBody>
      </p:sp>
      <p:sp>
        <p:nvSpPr>
          <p:cNvPr id="9" name="TextBox 8"/>
          <p:cNvSpPr txBox="1"/>
          <p:nvPr/>
        </p:nvSpPr>
        <p:spPr>
          <a:xfrm>
            <a:off x="731520" y="502920"/>
            <a:ext cx="10728655" cy="320040"/>
          </a:xfrm>
          <a:prstGeom prst="rect">
            <a:avLst/>
          </a:prstGeom>
          <a:noFill/>
        </p:spPr>
        <p:txBody>
          <a:bodyPr wrap="square" anchor="t" lIns="0" rIns="0" tIns="0" bIns="0">
            <a:spAutoFit/>
          </a:bodyPr>
          <a:lstStyle/>
          <a:p>
            <a:pPr algn="l">
              <a:lnSpc>
                <a:spcPct val="115000"/>
              </a:lnSpc>
            </a:pPr>
            <a:r>
              <a:rPr sz="1100" b="1">
                <a:solidFill>
                  <a:srgbClr val="C7FA70"/>
                </a:solidFill>
                <a:latin typeface="DM Sans"/>
              </a:rPr>
              <a:t>CIBLE  </a:t>
            </a:r>
            <a:r>
              <a:rPr sz="1100" b="0">
                <a:solidFill>
                  <a:srgbClr val="A9B4C2"/>
                </a:solidFill>
                <a:latin typeface="DM Sans"/>
              </a:rPr>
              <a:t>toute organisation avec plus de 1 M$ de trésorerie et pas d'équipe sécurité</a:t>
            </a:r>
          </a:p>
        </p:txBody>
      </p:sp>
      <p:sp>
        <p:nvSpPr>
          <p:cNvPr id="10" name="Rounded Rectangle 9"/>
          <p:cNvSpPr/>
          <p:nvPr/>
        </p:nvSpPr>
        <p:spPr>
          <a:xfrm>
            <a:off x="10088575" y="457200"/>
            <a:ext cx="1371600" cy="347472"/>
          </a:xfrm>
          <a:prstGeom prst="roundRect">
            <a:avLst>
              <a:gd name="adj" fmla="val 50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88575" y="457200"/>
            <a:ext cx="1371600" cy="347472"/>
          </a:xfrm>
          <a:prstGeom prst="rect">
            <a:avLst/>
          </a:prstGeom>
          <a:noFill/>
        </p:spPr>
        <p:txBody>
          <a:bodyPr wrap="square" anchor="ctr" lIns="0" rIns="0" tIns="0" bIns="0">
            <a:spAutoFit/>
          </a:bodyPr>
          <a:lstStyle/>
          <a:p>
            <a:pPr algn="ctr">
              <a:lnSpc>
                <a:spcPct val="115000"/>
              </a:lnSpc>
            </a:pPr>
            <a:r>
              <a:rPr sz="1000" b="1">
                <a:solidFill>
                  <a:srgbClr val="C7FA70"/>
                </a:solidFill>
                <a:latin typeface="DM Sans"/>
              </a:rPr>
              <a:t>ROMAIN</a:t>
            </a:r>
          </a:p>
        </p:txBody>
      </p:sp>
      <p:sp>
        <p:nvSpPr>
          <p:cNvPr id="12" name="TextBox 11"/>
          <p:cNvSpPr txBox="1"/>
          <p:nvPr/>
        </p:nvSpPr>
        <p:spPr>
          <a:xfrm>
            <a:off x="731520" y="960120"/>
            <a:ext cx="9357055" cy="1463040"/>
          </a:xfrm>
          <a:prstGeom prst="rect">
            <a:avLst/>
          </a:prstGeom>
          <a:noFill/>
        </p:spPr>
        <p:txBody>
          <a:bodyPr wrap="square" anchor="t" lIns="0" rIns="0" tIns="0" bIns="0">
            <a:spAutoFit/>
          </a:bodyPr>
          <a:lstStyle/>
          <a:p>
            <a:pPr algn="l">
              <a:lnSpc>
                <a:spcPct val="102000"/>
              </a:lnSpc>
            </a:pPr>
            <a:r>
              <a:rPr sz="3600" b="1">
                <a:solidFill>
                  <a:srgbClr val="F6F9FC"/>
                </a:solidFill>
                <a:latin typeface="Manrope"/>
              </a:rPr>
              <a:t>Pour les équipes compactes aux trésoreries importantes</a:t>
            </a:r>
          </a:p>
        </p:txBody>
      </p:sp>
      <p:sp>
        <p:nvSpPr>
          <p:cNvPr id="13" name="Rounded Rectangle 12"/>
          <p:cNvSpPr/>
          <p:nvPr/>
        </p:nvSpPr>
        <p:spPr>
          <a:xfrm>
            <a:off x="731520" y="2377440"/>
            <a:ext cx="2531287" cy="182880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377440"/>
            <a:ext cx="54864" cy="1828800"/>
          </a:xfrm>
          <a:prstGeom prst="rect">
            <a:avLst/>
          </a:prstGeom>
          <a:solidFill>
            <a:srgbClr val="F6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578608"/>
            <a:ext cx="2074087" cy="640080"/>
          </a:xfrm>
          <a:prstGeom prst="rect">
            <a:avLst/>
          </a:prstGeom>
          <a:noFill/>
        </p:spPr>
        <p:txBody>
          <a:bodyPr wrap="square" anchor="t" lIns="0" rIns="0" tIns="0" bIns="0">
            <a:spAutoFit/>
          </a:bodyPr>
          <a:lstStyle/>
          <a:p>
            <a:pPr algn="l">
              <a:lnSpc>
                <a:spcPct val="115000"/>
              </a:lnSpc>
            </a:pPr>
            <a:r>
              <a:rPr sz="2400" b="1">
                <a:solidFill>
                  <a:srgbClr val="F6F9FC"/>
                </a:solidFill>
                <a:latin typeface="Manrope"/>
              </a:rPr>
              <a:t>1 359</a:t>
            </a:r>
          </a:p>
        </p:txBody>
      </p:sp>
      <p:sp>
        <p:nvSpPr>
          <p:cNvPr id="16" name="TextBox 15"/>
          <p:cNvSpPr txBox="1"/>
          <p:nvPr/>
        </p:nvSpPr>
        <p:spPr>
          <a:xfrm>
            <a:off x="1005840" y="3236976"/>
            <a:ext cx="2074087" cy="960120"/>
          </a:xfrm>
          <a:prstGeom prst="rect">
            <a:avLst/>
          </a:prstGeom>
          <a:noFill/>
        </p:spPr>
        <p:txBody>
          <a:bodyPr wrap="square" anchor="t" lIns="0" rIns="0" tIns="0" bIns="0">
            <a:spAutoFit/>
          </a:bodyPr>
          <a:lstStyle/>
          <a:p>
            <a:pPr algn="l">
              <a:lnSpc>
                <a:spcPct val="112000"/>
              </a:lnSpc>
            </a:pPr>
            <a:r>
              <a:rPr sz="1150" b="0">
                <a:solidFill>
                  <a:srgbClr val="A9B4C2"/>
                </a:solidFill>
                <a:latin typeface="DM Sans"/>
              </a:rPr>
              <a:t>protocoles &gt; 1 M$ d'actifs gérés, toutes chaînes, dont 675 &gt; 10 M$ (API DeFiLlama, 11/10/2026)</a:t>
            </a:r>
          </a:p>
        </p:txBody>
      </p:sp>
      <p:sp>
        <p:nvSpPr>
          <p:cNvPr id="17" name="Rounded Rectangle 16"/>
          <p:cNvSpPr/>
          <p:nvPr/>
        </p:nvSpPr>
        <p:spPr>
          <a:xfrm>
            <a:off x="3463975" y="2377440"/>
            <a:ext cx="2531287" cy="182880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63975" y="2377440"/>
            <a:ext cx="54864" cy="1828800"/>
          </a:xfrm>
          <a:prstGeom prst="rect">
            <a:avLst/>
          </a:prstGeom>
          <a:solidFill>
            <a:srgbClr val="F6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38295" y="2578608"/>
            <a:ext cx="2074087" cy="640080"/>
          </a:xfrm>
          <a:prstGeom prst="rect">
            <a:avLst/>
          </a:prstGeom>
          <a:noFill/>
        </p:spPr>
        <p:txBody>
          <a:bodyPr wrap="square" anchor="t" lIns="0" rIns="0" tIns="0" bIns="0">
            <a:spAutoFit/>
          </a:bodyPr>
          <a:lstStyle/>
          <a:p>
            <a:pPr algn="l">
              <a:lnSpc>
                <a:spcPct val="115000"/>
              </a:lnSpc>
            </a:pPr>
            <a:r>
              <a:rPr sz="2400" b="1">
                <a:solidFill>
                  <a:srgbClr val="F6F9FC"/>
                </a:solidFill>
                <a:latin typeface="Manrope"/>
              </a:rPr>
              <a:t>≈ 220</a:t>
            </a:r>
          </a:p>
        </p:txBody>
      </p:sp>
      <p:sp>
        <p:nvSpPr>
          <p:cNvPr id="20" name="TextBox 19"/>
          <p:cNvSpPr txBox="1"/>
          <p:nvPr/>
        </p:nvSpPr>
        <p:spPr>
          <a:xfrm>
            <a:off x="3738295" y="3236976"/>
            <a:ext cx="2074087" cy="960120"/>
          </a:xfrm>
          <a:prstGeom prst="rect">
            <a:avLst/>
          </a:prstGeom>
          <a:noFill/>
        </p:spPr>
        <p:txBody>
          <a:bodyPr wrap="square" anchor="t" lIns="0" rIns="0" tIns="0" bIns="0">
            <a:spAutoFit/>
          </a:bodyPr>
          <a:lstStyle/>
          <a:p>
            <a:pPr algn="l">
              <a:lnSpc>
                <a:spcPct val="112000"/>
              </a:lnSpc>
            </a:pPr>
            <a:r>
              <a:rPr sz="1150" b="0">
                <a:solidFill>
                  <a:srgbClr val="A9B4C2"/>
                </a:solidFill>
                <a:latin typeface="DM Sans"/>
              </a:rPr>
              <a:t>DAO avec plus de 1 M$ de trésorerie (DeepDAO, T1 2026)</a:t>
            </a:r>
          </a:p>
        </p:txBody>
      </p:sp>
      <p:sp>
        <p:nvSpPr>
          <p:cNvPr id="21" name="Rounded Rectangle 20"/>
          <p:cNvSpPr/>
          <p:nvPr/>
        </p:nvSpPr>
        <p:spPr>
          <a:xfrm>
            <a:off x="6196430" y="2377440"/>
            <a:ext cx="2531287" cy="182880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6430" y="2377440"/>
            <a:ext cx="54864" cy="1828800"/>
          </a:xfrm>
          <a:prstGeom prst="rect">
            <a:avLst/>
          </a:pr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0750" y="2578608"/>
            <a:ext cx="2074087" cy="640080"/>
          </a:xfrm>
          <a:prstGeom prst="rect">
            <a:avLst/>
          </a:prstGeom>
          <a:noFill/>
        </p:spPr>
        <p:txBody>
          <a:bodyPr wrap="square" anchor="t" lIns="0" rIns="0" tIns="0" bIns="0">
            <a:spAutoFit/>
          </a:bodyPr>
          <a:lstStyle/>
          <a:p>
            <a:pPr algn="l">
              <a:lnSpc>
                <a:spcPct val="115000"/>
              </a:lnSpc>
            </a:pPr>
            <a:r>
              <a:rPr sz="2400" b="1">
                <a:solidFill>
                  <a:srgbClr val="C7FA70"/>
                </a:solidFill>
                <a:latin typeface="Manrope"/>
              </a:rPr>
              <a:t>81 – 121</a:t>
            </a:r>
          </a:p>
        </p:txBody>
      </p:sp>
      <p:sp>
        <p:nvSpPr>
          <p:cNvPr id="24" name="TextBox 23"/>
          <p:cNvSpPr txBox="1"/>
          <p:nvPr/>
        </p:nvSpPr>
        <p:spPr>
          <a:xfrm>
            <a:off x="6470750" y="3236976"/>
            <a:ext cx="2074087" cy="960120"/>
          </a:xfrm>
          <a:prstGeom prst="rect">
            <a:avLst/>
          </a:prstGeom>
          <a:noFill/>
        </p:spPr>
        <p:txBody>
          <a:bodyPr wrap="square" anchor="t" lIns="0" rIns="0" tIns="0" bIns="0">
            <a:spAutoFit/>
          </a:bodyPr>
          <a:lstStyle/>
          <a:p>
            <a:pPr algn="l">
              <a:lnSpc>
                <a:spcPct val="112000"/>
              </a:lnSpc>
            </a:pPr>
            <a:r>
              <a:rPr sz="1150" b="0">
                <a:solidFill>
                  <a:srgbClr val="A9B4C2"/>
                </a:solidFill>
                <a:latin typeface="DM Sans"/>
              </a:rPr>
              <a:t>organisations adressables sur Avalanche (71 protocoles &gt; 1 M$, 10 à 50 équipes de L1)</a:t>
            </a:r>
          </a:p>
        </p:txBody>
      </p:sp>
      <p:sp>
        <p:nvSpPr>
          <p:cNvPr id="25" name="Rounded Rectangle 24"/>
          <p:cNvSpPr/>
          <p:nvPr/>
        </p:nvSpPr>
        <p:spPr>
          <a:xfrm>
            <a:off x="8928885" y="2377440"/>
            <a:ext cx="2531287" cy="182880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28885" y="2377440"/>
            <a:ext cx="54864" cy="1828800"/>
          </a:xfrm>
          <a:prstGeom prst="rect">
            <a:avLst/>
          </a:prstGeom>
          <a:solidFill>
            <a:srgbClr val="F6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03205" y="2578608"/>
            <a:ext cx="2074087" cy="640080"/>
          </a:xfrm>
          <a:prstGeom prst="rect">
            <a:avLst/>
          </a:prstGeom>
          <a:noFill/>
        </p:spPr>
        <p:txBody>
          <a:bodyPr wrap="square" anchor="t" lIns="0" rIns="0" tIns="0" bIns="0">
            <a:spAutoFit/>
          </a:bodyPr>
          <a:lstStyle/>
          <a:p>
            <a:pPr algn="l">
              <a:lnSpc>
                <a:spcPct val="115000"/>
              </a:lnSpc>
            </a:pPr>
            <a:r>
              <a:rPr sz="2400" b="1">
                <a:solidFill>
                  <a:srgbClr val="F6F9FC"/>
                </a:solidFill>
                <a:latin typeface="Manrope"/>
              </a:rPr>
              <a:t>1 359 – 1 579</a:t>
            </a:r>
          </a:p>
        </p:txBody>
      </p:sp>
      <p:sp>
        <p:nvSpPr>
          <p:cNvPr id="28" name="TextBox 27"/>
          <p:cNvSpPr txBox="1"/>
          <p:nvPr/>
        </p:nvSpPr>
        <p:spPr>
          <a:xfrm>
            <a:off x="9203205" y="3236976"/>
            <a:ext cx="2074087" cy="960120"/>
          </a:xfrm>
          <a:prstGeom prst="rect">
            <a:avLst/>
          </a:prstGeom>
          <a:noFill/>
        </p:spPr>
        <p:txBody>
          <a:bodyPr wrap="square" anchor="t" lIns="0" rIns="0" tIns="0" bIns="0">
            <a:spAutoFit/>
          </a:bodyPr>
          <a:lstStyle/>
          <a:p>
            <a:pPr algn="l">
              <a:lnSpc>
                <a:spcPct val="112000"/>
              </a:lnSpc>
            </a:pPr>
            <a:r>
              <a:rPr sz="1150" b="0">
                <a:solidFill>
                  <a:srgbClr val="A9B4C2"/>
                </a:solidFill>
                <a:latin typeface="DM Sans"/>
              </a:rPr>
              <a:t>sur les chaînes EVM, borne basse (fonds et fondations exclus, faute de source)</a:t>
            </a:r>
          </a:p>
        </p:txBody>
      </p:sp>
      <p:sp>
        <p:nvSpPr>
          <p:cNvPr id="29" name="TextBox 28"/>
          <p:cNvSpPr txBox="1"/>
          <p:nvPr/>
        </p:nvSpPr>
        <p:spPr>
          <a:xfrm>
            <a:off x="731520" y="4526280"/>
            <a:ext cx="10728655" cy="1005840"/>
          </a:xfrm>
          <a:prstGeom prst="rect">
            <a:avLst/>
          </a:prstGeom>
          <a:noFill/>
        </p:spPr>
        <p:txBody>
          <a:bodyPr wrap="square" anchor="t" lIns="0" rIns="0" tIns="0" bIns="0">
            <a:spAutoFit/>
          </a:bodyPr>
          <a:lstStyle/>
          <a:p>
            <a:pPr algn="l">
              <a:lnSpc>
                <a:spcPct val="115000"/>
              </a:lnSpc>
            </a:pPr>
            <a:r>
              <a:rPr sz="1600" b="1">
                <a:solidFill>
                  <a:srgbClr val="F6F9FC"/>
                </a:solidFill>
                <a:latin typeface="DM Sans"/>
              </a:rPr>
              <a:t>Protocoles, DAO, startups et fonds crypto : plus de 1 M$ dans un Safe, zéro personne dont c'est le métier. </a:t>
            </a:r>
            <a:r>
              <a:rPr sz="1600" b="0">
                <a:solidFill>
                  <a:srgbClr val="A9B4C2"/>
                </a:solidFill>
                <a:latin typeface="DM Sans"/>
              </a:rPr>
              <a:t>Tous ont déjà un coffre : Safe sécurise 35 Md$ sur 61 millions de comptes. Aucun ne déplacera sa trésorerie pour un essai.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265615" y="-822960"/>
            <a:ext cx="3291840" cy="3679115"/>
          </a:xfrm>
          <a:custGeom>
            <a:avLst/>
            <a:gdLst/>
            <a:ahLst/>
            <a:cxnLst/>
            <a:rect l="l" t="t" r="r" b="b"/>
            <a:pathLst>
              <a:path w="3291840" h="3679115">
                <a:moveTo>
                  <a:pt x="0" y="0"/>
                </a:moveTo>
                <a:lnTo>
                  <a:pt x="2304288" y="0"/>
                </a:lnTo>
                <a:lnTo>
                  <a:pt x="3291840" y="956569"/>
                </a:lnTo>
                <a:lnTo>
                  <a:pt x="3291840" y="3679115"/>
                </a:lnTo>
                <a:lnTo>
                  <a:pt x="987552" y="3679115"/>
                </a:lnTo>
                <a:lnTo>
                  <a:pt x="0" y="2722545"/>
                </a:lnTo>
                <a:close/>
              </a:path>
            </a:pathLst>
          </a:custGeom>
          <a:solidFill>
            <a:srgbClr val="0B17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65615" y="-528631"/>
            <a:ext cx="3291840" cy="3090456"/>
          </a:xfrm>
          <a:prstGeom prst="rect">
            <a:avLst/>
          </a:prstGeom>
          <a:noFill/>
        </p:spPr>
        <p:txBody>
          <a:bodyPr wrap="square" anchor="ctr" lIns="0" rIns="0" tIns="0" bIns="0">
            <a:spAutoFit/>
          </a:bodyPr>
          <a:lstStyle/>
          <a:p>
            <a:pPr algn="ctr">
              <a:lnSpc>
                <a:spcPct val="115000"/>
              </a:lnSpc>
            </a:pPr>
            <a:r>
              <a:rPr sz="12800" b="1">
                <a:solidFill>
                  <a:srgbClr val="0B1728"/>
                </a:solidFill>
                <a:latin typeface="Manrope"/>
              </a:rPr>
              <a:t>B</a:t>
            </a:r>
          </a:p>
        </p:txBody>
      </p:sp>
      <p:sp>
        <p:nvSpPr>
          <p:cNvPr id="5" name="Freeform 4"/>
          <p:cNvSpPr/>
          <p:nvPr/>
        </p:nvSpPr>
        <p:spPr>
          <a:xfrm>
            <a:off x="731520" y="6291072"/>
            <a:ext cx="237744" cy="265713"/>
          </a:xfrm>
          <a:custGeom>
            <a:avLst/>
            <a:gdLst/>
            <a:ahLst/>
            <a:cxnLst/>
            <a:rect l="l" t="t" r="r" b="b"/>
            <a:pathLst>
              <a:path w="237744" h="265713">
                <a:moveTo>
                  <a:pt x="0" y="0"/>
                </a:moveTo>
                <a:lnTo>
                  <a:pt x="166420" y="0"/>
                </a:lnTo>
                <a:lnTo>
                  <a:pt x="237744" y="69085"/>
                </a:lnTo>
                <a:lnTo>
                  <a:pt x="237744" y="265713"/>
                </a:lnTo>
                <a:lnTo>
                  <a:pt x="71323" y="265713"/>
                </a:lnTo>
                <a:lnTo>
                  <a:pt x="0" y="196627"/>
                </a:lnTo>
                <a:close/>
              </a:path>
            </a:pathLst>
          </a:cu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12329"/>
            <a:ext cx="237744" cy="223198"/>
          </a:xfrm>
          <a:prstGeom prst="rect">
            <a:avLst/>
          </a:prstGeom>
          <a:noFill/>
        </p:spPr>
        <p:txBody>
          <a:bodyPr wrap="square" anchor="ctr" lIns="0" rIns="0" tIns="0" bIns="0">
            <a:spAutoFit/>
          </a:bodyPr>
          <a:lstStyle/>
          <a:p>
            <a:pPr algn="ctr">
              <a:lnSpc>
                <a:spcPct val="115000"/>
              </a:lnSpc>
            </a:pPr>
            <a:r>
              <a:rPr sz="900" b="1">
                <a:solidFill>
                  <a:srgbClr val="142008"/>
                </a:solidFill>
                <a:latin typeface="Manrope"/>
              </a:rPr>
              <a:t>B</a:t>
            </a:r>
          </a:p>
        </p:txBody>
      </p:sp>
      <p:sp>
        <p:nvSpPr>
          <p:cNvPr id="7" name="TextBox 6"/>
          <p:cNvSpPr txBox="1"/>
          <p:nvPr/>
        </p:nvSpPr>
        <p:spPr>
          <a:xfrm>
            <a:off x="1060704" y="6245352"/>
            <a:ext cx="1828800" cy="365760"/>
          </a:xfrm>
          <a:prstGeom prst="rect">
            <a:avLst/>
          </a:prstGeom>
          <a:noFill/>
        </p:spPr>
        <p:txBody>
          <a:bodyPr wrap="square" anchor="t" lIns="0" rIns="0" tIns="0" bIns="0">
            <a:spAutoFit/>
          </a:bodyPr>
          <a:lstStyle/>
          <a:p>
            <a:pPr algn="l">
              <a:lnSpc>
                <a:spcPct val="115000"/>
              </a:lnSpc>
            </a:pPr>
            <a:r>
              <a:rPr sz="1300" b="1">
                <a:solidFill>
                  <a:srgbClr val="F6F9FC"/>
                </a:solidFill>
                <a:latin typeface="Manrope"/>
              </a:rPr>
              <a:t>breaker</a:t>
            </a:r>
            <a:r>
              <a:rPr sz="1300" b="1">
                <a:solidFill>
                  <a:srgbClr val="C7FA70"/>
                </a:solidFill>
                <a:latin typeface="Manrope"/>
              </a:rPr>
              <a:t>.</a:t>
            </a:r>
          </a:p>
        </p:txBody>
      </p:sp>
      <p:sp>
        <p:nvSpPr>
          <p:cNvPr id="8" name="TextBox 7"/>
          <p:cNvSpPr txBox="1"/>
          <p:nvPr/>
        </p:nvSpPr>
        <p:spPr>
          <a:xfrm>
            <a:off x="8716975" y="6254496"/>
            <a:ext cx="2743200" cy="320040"/>
          </a:xfrm>
          <a:prstGeom prst="rect">
            <a:avLst/>
          </a:prstGeom>
          <a:noFill/>
        </p:spPr>
        <p:txBody>
          <a:bodyPr wrap="square" anchor="t" lIns="0" rIns="0" tIns="0" bIns="0">
            <a:spAutoFit/>
          </a:bodyPr>
          <a:lstStyle/>
          <a:p>
            <a:pPr algn="r">
              <a:lnSpc>
                <a:spcPct val="115000"/>
              </a:lnSpc>
            </a:pPr>
            <a:r>
              <a:rPr sz="1100" b="0">
                <a:solidFill>
                  <a:srgbClr val="7F8B9B"/>
                </a:solidFill>
                <a:latin typeface="DM Sans"/>
              </a:rPr>
              <a:t>4 / 8</a:t>
            </a:r>
          </a:p>
        </p:txBody>
      </p:sp>
      <p:sp>
        <p:nvSpPr>
          <p:cNvPr id="9" name="TextBox 8"/>
          <p:cNvSpPr txBox="1"/>
          <p:nvPr/>
        </p:nvSpPr>
        <p:spPr>
          <a:xfrm>
            <a:off x="731520" y="502920"/>
            <a:ext cx="10728655" cy="320040"/>
          </a:xfrm>
          <a:prstGeom prst="rect">
            <a:avLst/>
          </a:prstGeom>
          <a:noFill/>
        </p:spPr>
        <p:txBody>
          <a:bodyPr wrap="square" anchor="t" lIns="0" rIns="0" tIns="0" bIns="0">
            <a:spAutoFit/>
          </a:bodyPr>
          <a:lstStyle/>
          <a:p>
            <a:pPr algn="l">
              <a:lnSpc>
                <a:spcPct val="115000"/>
              </a:lnSpc>
            </a:pPr>
            <a:r>
              <a:rPr sz="1100" b="1">
                <a:solidFill>
                  <a:srgbClr val="C7FA70"/>
                </a:solidFill>
                <a:latin typeface="DM Sans"/>
              </a:rPr>
              <a:t>SOLUTION  </a:t>
            </a:r>
            <a:r>
              <a:rPr sz="1100" b="0">
                <a:solidFill>
                  <a:srgbClr val="A9B4C2"/>
                </a:solidFill>
                <a:latin typeface="DM Sans"/>
              </a:rPr>
              <a:t>Breaker n'est pas un coffre</a:t>
            </a:r>
          </a:p>
        </p:txBody>
      </p:sp>
      <p:sp>
        <p:nvSpPr>
          <p:cNvPr id="10" name="Rounded Rectangle 9"/>
          <p:cNvSpPr/>
          <p:nvPr/>
        </p:nvSpPr>
        <p:spPr>
          <a:xfrm>
            <a:off x="10088575" y="457200"/>
            <a:ext cx="1371600" cy="347472"/>
          </a:xfrm>
          <a:prstGeom prst="roundRect">
            <a:avLst>
              <a:gd name="adj" fmla="val 50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88575" y="457200"/>
            <a:ext cx="1371600" cy="347472"/>
          </a:xfrm>
          <a:prstGeom prst="rect">
            <a:avLst/>
          </a:prstGeom>
          <a:noFill/>
        </p:spPr>
        <p:txBody>
          <a:bodyPr wrap="square" anchor="ctr" lIns="0" rIns="0" tIns="0" bIns="0">
            <a:spAutoFit/>
          </a:bodyPr>
          <a:lstStyle/>
          <a:p>
            <a:pPr algn="ctr">
              <a:lnSpc>
                <a:spcPct val="115000"/>
              </a:lnSpc>
            </a:pPr>
            <a:r>
              <a:rPr sz="1000" b="1">
                <a:solidFill>
                  <a:srgbClr val="C7FA70"/>
                </a:solidFill>
                <a:latin typeface="DM Sans"/>
              </a:rPr>
              <a:t>TIMÉO</a:t>
            </a:r>
          </a:p>
        </p:txBody>
      </p:sp>
      <p:sp>
        <p:nvSpPr>
          <p:cNvPr id="12" name="TextBox 11"/>
          <p:cNvSpPr txBox="1"/>
          <p:nvPr/>
        </p:nvSpPr>
        <p:spPr>
          <a:xfrm>
            <a:off x="731520" y="960120"/>
            <a:ext cx="9357055" cy="1463040"/>
          </a:xfrm>
          <a:prstGeom prst="rect">
            <a:avLst/>
          </a:prstGeom>
          <a:noFill/>
        </p:spPr>
        <p:txBody>
          <a:bodyPr wrap="square" anchor="t" lIns="0" rIns="0" tIns="0" bIns="0">
            <a:spAutoFit/>
          </a:bodyPr>
          <a:lstStyle/>
          <a:p>
            <a:pPr algn="l">
              <a:lnSpc>
                <a:spcPct val="102000"/>
              </a:lnSpc>
            </a:pPr>
            <a:r>
              <a:rPr sz="3400" b="1">
                <a:solidFill>
                  <a:srgbClr val="F6F9FC"/>
                </a:solidFill>
                <a:latin typeface="Manrope"/>
              </a:rPr>
              <a:t>Vous avez déjà le coffre. Il vous manque quelqu'un qui regarde.</a:t>
            </a:r>
          </a:p>
        </p:txBody>
      </p:sp>
      <p:sp>
        <p:nvSpPr>
          <p:cNvPr id="13" name="Rounded Rectangle 12"/>
          <p:cNvSpPr/>
          <p:nvPr/>
        </p:nvSpPr>
        <p:spPr>
          <a:xfrm>
            <a:off x="731520" y="2240280"/>
            <a:ext cx="2208961" cy="141732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423160"/>
            <a:ext cx="1843201" cy="457200"/>
          </a:xfrm>
          <a:prstGeom prst="rect">
            <a:avLst/>
          </a:prstGeom>
          <a:noFill/>
        </p:spPr>
        <p:txBody>
          <a:bodyPr wrap="square" anchor="t" lIns="0" rIns="0" tIns="0" bIns="0">
            <a:spAutoFit/>
          </a:bodyPr>
          <a:lstStyle/>
          <a:p>
            <a:pPr algn="l">
              <a:lnSpc>
                <a:spcPct val="115000"/>
              </a:lnSpc>
            </a:pPr>
            <a:r>
              <a:rPr sz="1600" b="1">
                <a:solidFill>
                  <a:srgbClr val="F6F9FC"/>
                </a:solidFill>
                <a:latin typeface="Manrope"/>
              </a:rPr>
              <a:t>Votre Safe</a:t>
            </a:r>
          </a:p>
        </p:txBody>
      </p:sp>
      <p:sp>
        <p:nvSpPr>
          <p:cNvPr id="15" name="TextBox 14"/>
          <p:cNvSpPr txBox="1"/>
          <p:nvPr/>
        </p:nvSpPr>
        <p:spPr>
          <a:xfrm>
            <a:off x="960120" y="2862072"/>
            <a:ext cx="1843201" cy="685800"/>
          </a:xfrm>
          <a:prstGeom prst="rect">
            <a:avLst/>
          </a:prstGeom>
          <a:noFill/>
        </p:spPr>
        <p:txBody>
          <a:bodyPr wrap="square" anchor="t" lIns="0" rIns="0" tIns="0" bIns="0">
            <a:spAutoFit/>
          </a:bodyPr>
          <a:lstStyle/>
          <a:p>
            <a:pPr algn="l">
              <a:lnSpc>
                <a:spcPct val="115000"/>
              </a:lnSpc>
            </a:pPr>
            <a:r>
              <a:rPr sz="1150" b="0">
                <a:solidFill>
                  <a:srgbClr val="A9B4C2"/>
                </a:solidFill>
                <a:latin typeface="DM Sans"/>
              </a:rPr>
              <a:t>vos signataires, votre adresse, votre historique : rien ne bouge</a:t>
            </a:r>
          </a:p>
        </p:txBody>
      </p:sp>
      <p:sp>
        <p:nvSpPr>
          <p:cNvPr id="16" name="TextBox 15"/>
          <p:cNvSpPr txBox="1"/>
          <p:nvPr/>
        </p:nvSpPr>
        <p:spPr>
          <a:xfrm>
            <a:off x="3050209" y="2720340"/>
            <a:ext cx="411480" cy="457200"/>
          </a:xfrm>
          <a:prstGeom prst="rect">
            <a:avLst/>
          </a:prstGeom>
          <a:noFill/>
        </p:spPr>
        <p:txBody>
          <a:bodyPr wrap="square" anchor="ctr" lIns="0" rIns="0" tIns="0" bIns="0">
            <a:spAutoFit/>
          </a:bodyPr>
          <a:lstStyle/>
          <a:p>
            <a:pPr algn="ctr">
              <a:lnSpc>
                <a:spcPct val="115000"/>
              </a:lnSpc>
            </a:pPr>
            <a:r>
              <a:rPr sz="2200" b="0">
                <a:solidFill>
                  <a:srgbClr val="C7FA70"/>
                </a:solidFill>
                <a:latin typeface="DM Sans"/>
              </a:rPr>
              <a:t>→</a:t>
            </a:r>
          </a:p>
        </p:txBody>
      </p:sp>
      <p:sp>
        <p:nvSpPr>
          <p:cNvPr id="17" name="Rounded Rectangle 16"/>
          <p:cNvSpPr/>
          <p:nvPr/>
        </p:nvSpPr>
        <p:spPr>
          <a:xfrm>
            <a:off x="3571417" y="2240280"/>
            <a:ext cx="2208961" cy="1417320"/>
          </a:xfrm>
          <a:prstGeom prst="roundRect">
            <a:avLst>
              <a:gd name="adj" fmla="val 8000"/>
            </a:avLst>
          </a:prstGeom>
          <a:solidFill>
            <a:srgbClr val="101C2E"/>
          </a:solidFill>
          <a:ln w="9525">
            <a:solidFill>
              <a:srgbClr val="C7F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71417" y="2240280"/>
            <a:ext cx="54864" cy="1417320"/>
          </a:xfrm>
          <a:prstGeom prst="rect">
            <a:avLst/>
          </a:pr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00017" y="2423160"/>
            <a:ext cx="1843201" cy="457200"/>
          </a:xfrm>
          <a:prstGeom prst="rect">
            <a:avLst/>
          </a:prstGeom>
          <a:noFill/>
        </p:spPr>
        <p:txBody>
          <a:bodyPr wrap="square" anchor="t" lIns="0" rIns="0" tIns="0" bIns="0">
            <a:spAutoFit/>
          </a:bodyPr>
          <a:lstStyle/>
          <a:p>
            <a:pPr algn="l">
              <a:lnSpc>
                <a:spcPct val="115000"/>
              </a:lnSpc>
            </a:pPr>
            <a:r>
              <a:rPr sz="1600" b="1">
                <a:solidFill>
                  <a:srgbClr val="F6F9FC"/>
                </a:solidFill>
                <a:latin typeface="Manrope"/>
              </a:rPr>
              <a:t>Guard Breaker</a:t>
            </a:r>
          </a:p>
        </p:txBody>
      </p:sp>
      <p:sp>
        <p:nvSpPr>
          <p:cNvPr id="20" name="TextBox 19"/>
          <p:cNvSpPr txBox="1"/>
          <p:nvPr/>
        </p:nvSpPr>
        <p:spPr>
          <a:xfrm>
            <a:off x="3800017" y="2862072"/>
            <a:ext cx="1843201" cy="685800"/>
          </a:xfrm>
          <a:prstGeom prst="rect">
            <a:avLst/>
          </a:prstGeom>
          <a:noFill/>
        </p:spPr>
        <p:txBody>
          <a:bodyPr wrap="square" anchor="t" lIns="0" rIns="0" tIns="0" bIns="0">
            <a:spAutoFit/>
          </a:bodyPr>
          <a:lstStyle/>
          <a:p>
            <a:pPr algn="l">
              <a:lnSpc>
                <a:spcPct val="115000"/>
              </a:lnSpc>
            </a:pPr>
            <a:r>
              <a:rPr sz="1150" b="0">
                <a:solidFill>
                  <a:srgbClr val="A9B4C2"/>
                </a:solidFill>
                <a:latin typeface="DM Sans"/>
              </a:rPr>
              <a:t>appelé avant chaque paiement : signature en plus, attente, gel, probation des clés</a:t>
            </a:r>
          </a:p>
        </p:txBody>
      </p:sp>
      <p:sp>
        <p:nvSpPr>
          <p:cNvPr id="21" name="TextBox 20"/>
          <p:cNvSpPr txBox="1"/>
          <p:nvPr/>
        </p:nvSpPr>
        <p:spPr>
          <a:xfrm>
            <a:off x="5890106" y="2720340"/>
            <a:ext cx="411480" cy="457200"/>
          </a:xfrm>
          <a:prstGeom prst="rect">
            <a:avLst/>
          </a:prstGeom>
          <a:noFill/>
        </p:spPr>
        <p:txBody>
          <a:bodyPr wrap="square" anchor="ctr" lIns="0" rIns="0" tIns="0" bIns="0">
            <a:spAutoFit/>
          </a:bodyPr>
          <a:lstStyle/>
          <a:p>
            <a:pPr algn="ctr">
              <a:lnSpc>
                <a:spcPct val="115000"/>
              </a:lnSpc>
            </a:pPr>
            <a:r>
              <a:rPr sz="2200" b="0">
                <a:solidFill>
                  <a:srgbClr val="C7FA70"/>
                </a:solidFill>
                <a:latin typeface="DM Sans"/>
              </a:rPr>
              <a:t>→</a:t>
            </a:r>
          </a:p>
        </p:txBody>
      </p:sp>
      <p:sp>
        <p:nvSpPr>
          <p:cNvPr id="22" name="Rounded Rectangle 21"/>
          <p:cNvSpPr/>
          <p:nvPr/>
        </p:nvSpPr>
        <p:spPr>
          <a:xfrm>
            <a:off x="6411314" y="2240280"/>
            <a:ext cx="2208961" cy="1417320"/>
          </a:xfrm>
          <a:prstGeom prst="roundRect">
            <a:avLst>
              <a:gd name="adj" fmla="val 8000"/>
            </a:avLst>
          </a:prstGeom>
          <a:solidFill>
            <a:srgbClr val="101C2E"/>
          </a:solidFill>
          <a:ln w="9525">
            <a:solidFill>
              <a:srgbClr val="C7F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11314" y="2240280"/>
            <a:ext cx="54864" cy="1417320"/>
          </a:xfrm>
          <a:prstGeom prst="rect">
            <a:avLst/>
          </a:pr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39914" y="2423160"/>
            <a:ext cx="1843201" cy="457200"/>
          </a:xfrm>
          <a:prstGeom prst="rect">
            <a:avLst/>
          </a:prstGeom>
          <a:noFill/>
        </p:spPr>
        <p:txBody>
          <a:bodyPr wrap="square" anchor="t" lIns="0" rIns="0" tIns="0" bIns="0">
            <a:spAutoFit/>
          </a:bodyPr>
          <a:lstStyle/>
          <a:p>
            <a:pPr algn="l">
              <a:lnSpc>
                <a:spcPct val="115000"/>
              </a:lnSpc>
            </a:pPr>
            <a:r>
              <a:rPr sz="1600" b="1">
                <a:solidFill>
                  <a:srgbClr val="F6F9FC"/>
                </a:solidFill>
                <a:latin typeface="Manrope"/>
              </a:rPr>
              <a:t>Moteur Breaker</a:t>
            </a:r>
          </a:p>
        </p:txBody>
      </p:sp>
      <p:sp>
        <p:nvSpPr>
          <p:cNvPr id="25" name="TextBox 24"/>
          <p:cNvSpPr txBox="1"/>
          <p:nvPr/>
        </p:nvSpPr>
        <p:spPr>
          <a:xfrm>
            <a:off x="6639914" y="2862072"/>
            <a:ext cx="1843201" cy="685800"/>
          </a:xfrm>
          <a:prstGeom prst="rect">
            <a:avLst/>
          </a:prstGeom>
          <a:noFill/>
        </p:spPr>
        <p:txBody>
          <a:bodyPr wrap="square" anchor="t" lIns="0" rIns="0" tIns="0" bIns="0">
            <a:spAutoFit/>
          </a:bodyPr>
          <a:lstStyle/>
          <a:p>
            <a:pPr algn="l">
              <a:lnSpc>
                <a:spcPct val="115000"/>
              </a:lnSpc>
            </a:pPr>
            <a:r>
              <a:rPr sz="1150" b="0">
                <a:solidFill>
                  <a:srgbClr val="A9B4C2"/>
                </a:solidFill>
                <a:latin typeface="DM Sans"/>
              </a:rPr>
              <a:t>règles sur votre historique · modèle d'anomalie · oracle Web · listes OFAC · explication en français</a:t>
            </a:r>
          </a:p>
        </p:txBody>
      </p:sp>
      <p:sp>
        <p:nvSpPr>
          <p:cNvPr id="26" name="TextBox 25"/>
          <p:cNvSpPr txBox="1"/>
          <p:nvPr/>
        </p:nvSpPr>
        <p:spPr>
          <a:xfrm>
            <a:off x="8730003" y="2720340"/>
            <a:ext cx="411480" cy="457200"/>
          </a:xfrm>
          <a:prstGeom prst="rect">
            <a:avLst/>
          </a:prstGeom>
          <a:noFill/>
        </p:spPr>
        <p:txBody>
          <a:bodyPr wrap="square" anchor="ctr" lIns="0" rIns="0" tIns="0" bIns="0">
            <a:spAutoFit/>
          </a:bodyPr>
          <a:lstStyle/>
          <a:p>
            <a:pPr algn="ctr">
              <a:lnSpc>
                <a:spcPct val="115000"/>
              </a:lnSpc>
            </a:pPr>
            <a:r>
              <a:rPr sz="2200" b="0">
                <a:solidFill>
                  <a:srgbClr val="C7FA70"/>
                </a:solidFill>
                <a:latin typeface="DM Sans"/>
              </a:rPr>
              <a:t>→</a:t>
            </a:r>
          </a:p>
        </p:txBody>
      </p:sp>
      <p:sp>
        <p:nvSpPr>
          <p:cNvPr id="27" name="Rounded Rectangle 26"/>
          <p:cNvSpPr/>
          <p:nvPr/>
        </p:nvSpPr>
        <p:spPr>
          <a:xfrm>
            <a:off x="9251211" y="2240280"/>
            <a:ext cx="2208961" cy="141732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79811" y="2423160"/>
            <a:ext cx="1843201" cy="457200"/>
          </a:xfrm>
          <a:prstGeom prst="rect">
            <a:avLst/>
          </a:prstGeom>
          <a:noFill/>
        </p:spPr>
        <p:txBody>
          <a:bodyPr wrap="square" anchor="t" lIns="0" rIns="0" tIns="0" bIns="0">
            <a:spAutoFit/>
          </a:bodyPr>
          <a:lstStyle/>
          <a:p>
            <a:pPr algn="l">
              <a:lnSpc>
                <a:spcPct val="115000"/>
              </a:lnSpc>
            </a:pPr>
            <a:r>
              <a:rPr sz="1600" b="1">
                <a:solidFill>
                  <a:srgbClr val="F6F9FC"/>
                </a:solidFill>
                <a:latin typeface="Manrope"/>
              </a:rPr>
              <a:t>Vos signataires</a:t>
            </a:r>
          </a:p>
        </p:txBody>
      </p:sp>
      <p:sp>
        <p:nvSpPr>
          <p:cNvPr id="29" name="TextBox 28"/>
          <p:cNvSpPr txBox="1"/>
          <p:nvPr/>
        </p:nvSpPr>
        <p:spPr>
          <a:xfrm>
            <a:off x="9479811" y="2862072"/>
            <a:ext cx="1843201" cy="685800"/>
          </a:xfrm>
          <a:prstGeom prst="rect">
            <a:avLst/>
          </a:prstGeom>
          <a:noFill/>
        </p:spPr>
        <p:txBody>
          <a:bodyPr wrap="square" anchor="t" lIns="0" rIns="0" tIns="0" bIns="0">
            <a:spAutoFit/>
          </a:bodyPr>
          <a:lstStyle/>
          <a:p>
            <a:pPr algn="l">
              <a:lnSpc>
                <a:spcPct val="115000"/>
              </a:lnSpc>
            </a:pPr>
            <a:r>
              <a:rPr sz="1150" b="0">
                <a:solidFill>
                  <a:srgbClr val="A9B4C2"/>
                </a:solidFill>
                <a:latin typeface="DM Sans"/>
              </a:rPr>
              <a:t>décident, toujours. L'unanimité lève tout.</a:t>
            </a:r>
          </a:p>
        </p:txBody>
      </p:sp>
      <p:sp>
        <p:nvSpPr>
          <p:cNvPr id="30" name="TextBox 29"/>
          <p:cNvSpPr txBox="1"/>
          <p:nvPr/>
        </p:nvSpPr>
        <p:spPr>
          <a:xfrm>
            <a:off x="731520" y="3794760"/>
            <a:ext cx="457200" cy="548640"/>
          </a:xfrm>
          <a:prstGeom prst="rect">
            <a:avLst/>
          </a:prstGeom>
          <a:noFill/>
        </p:spPr>
        <p:txBody>
          <a:bodyPr wrap="square" anchor="t" lIns="0" rIns="0" tIns="0" bIns="0">
            <a:spAutoFit/>
          </a:bodyPr>
          <a:lstStyle/>
          <a:p>
            <a:pPr algn="l">
              <a:lnSpc>
                <a:spcPct val="115000"/>
              </a:lnSpc>
            </a:pPr>
            <a:r>
              <a:rPr sz="3000" b="1">
                <a:solidFill>
                  <a:srgbClr val="C7FA70"/>
                </a:solidFill>
                <a:latin typeface="Manrope"/>
              </a:rPr>
              <a:t>1</a:t>
            </a:r>
          </a:p>
        </p:txBody>
      </p:sp>
      <p:sp>
        <p:nvSpPr>
          <p:cNvPr id="31" name="TextBox 30"/>
          <p:cNvSpPr txBox="1"/>
          <p:nvPr/>
        </p:nvSpPr>
        <p:spPr>
          <a:xfrm>
            <a:off x="1234440" y="3840480"/>
            <a:ext cx="2905658" cy="365760"/>
          </a:xfrm>
          <a:prstGeom prst="rect">
            <a:avLst/>
          </a:prstGeom>
          <a:noFill/>
        </p:spPr>
        <p:txBody>
          <a:bodyPr wrap="square" anchor="t" lIns="0" rIns="0" tIns="0" bIns="0">
            <a:spAutoFit/>
          </a:bodyPr>
          <a:lstStyle/>
          <a:p>
            <a:pPr algn="l">
              <a:lnSpc>
                <a:spcPct val="115000"/>
              </a:lnSpc>
            </a:pPr>
            <a:r>
              <a:rPr sz="1600" b="1">
                <a:solidFill>
                  <a:srgbClr val="F6F9FC"/>
                </a:solidFill>
                <a:latin typeface="Manrope"/>
              </a:rPr>
              <a:t>Regarde</a:t>
            </a:r>
          </a:p>
        </p:txBody>
      </p:sp>
      <p:sp>
        <p:nvSpPr>
          <p:cNvPr id="32" name="TextBox 31"/>
          <p:cNvSpPr txBox="1"/>
          <p:nvPr/>
        </p:nvSpPr>
        <p:spPr>
          <a:xfrm>
            <a:off x="1234440" y="4206240"/>
            <a:ext cx="2905658" cy="960120"/>
          </a:xfrm>
          <a:prstGeom prst="rect">
            <a:avLst/>
          </a:prstGeom>
          <a:noFill/>
        </p:spPr>
        <p:txBody>
          <a:bodyPr wrap="square" anchor="t" lIns="0" rIns="0" tIns="0" bIns="0">
            <a:spAutoFit/>
          </a:bodyPr>
          <a:lstStyle/>
          <a:p>
            <a:pPr algn="l">
              <a:lnSpc>
                <a:spcPct val="115000"/>
              </a:lnSpc>
            </a:pPr>
            <a:r>
              <a:rPr sz="1150" b="0">
                <a:solidFill>
                  <a:srgbClr val="A9B4C2"/>
                </a:solidFill>
                <a:latin typeface="DM Sans"/>
              </a:rPr>
              <a:t>Bénéficiaire nouveau ? Montant 4× vos habitudes ? Trois paiements en dix minutes ? Adresse sosie, fonds souillés, sanctions ?</a:t>
            </a:r>
          </a:p>
        </p:txBody>
      </p:sp>
      <p:sp>
        <p:nvSpPr>
          <p:cNvPr id="33" name="TextBox 32"/>
          <p:cNvSpPr txBox="1"/>
          <p:nvPr/>
        </p:nvSpPr>
        <p:spPr>
          <a:xfrm>
            <a:off x="4368698" y="3794760"/>
            <a:ext cx="457200" cy="548640"/>
          </a:xfrm>
          <a:prstGeom prst="rect">
            <a:avLst/>
          </a:prstGeom>
          <a:noFill/>
        </p:spPr>
        <p:txBody>
          <a:bodyPr wrap="square" anchor="t" lIns="0" rIns="0" tIns="0" bIns="0">
            <a:spAutoFit/>
          </a:bodyPr>
          <a:lstStyle/>
          <a:p>
            <a:pPr algn="l">
              <a:lnSpc>
                <a:spcPct val="115000"/>
              </a:lnSpc>
            </a:pPr>
            <a:r>
              <a:rPr sz="3000" b="1">
                <a:solidFill>
                  <a:srgbClr val="A8BFFF"/>
                </a:solidFill>
                <a:latin typeface="Manrope"/>
              </a:rPr>
              <a:t>2</a:t>
            </a:r>
          </a:p>
        </p:txBody>
      </p:sp>
      <p:sp>
        <p:nvSpPr>
          <p:cNvPr id="34" name="TextBox 33"/>
          <p:cNvSpPr txBox="1"/>
          <p:nvPr/>
        </p:nvSpPr>
        <p:spPr>
          <a:xfrm>
            <a:off x="4871618" y="3840480"/>
            <a:ext cx="2905658" cy="365760"/>
          </a:xfrm>
          <a:prstGeom prst="rect">
            <a:avLst/>
          </a:prstGeom>
          <a:noFill/>
        </p:spPr>
        <p:txBody>
          <a:bodyPr wrap="square" anchor="t" lIns="0" rIns="0" tIns="0" bIns="0">
            <a:spAutoFit/>
          </a:bodyPr>
          <a:lstStyle/>
          <a:p>
            <a:pPr algn="l">
              <a:lnSpc>
                <a:spcPct val="115000"/>
              </a:lnSpc>
            </a:pPr>
            <a:r>
              <a:rPr sz="1600" b="1">
                <a:solidFill>
                  <a:srgbClr val="F6F9FC"/>
                </a:solidFill>
                <a:latin typeface="Manrope"/>
              </a:rPr>
              <a:t>Explique</a:t>
            </a:r>
          </a:p>
        </p:txBody>
      </p:sp>
      <p:sp>
        <p:nvSpPr>
          <p:cNvPr id="35" name="TextBox 34"/>
          <p:cNvSpPr txBox="1"/>
          <p:nvPr/>
        </p:nvSpPr>
        <p:spPr>
          <a:xfrm>
            <a:off x="4871618" y="4206240"/>
            <a:ext cx="2905658" cy="960120"/>
          </a:xfrm>
          <a:prstGeom prst="rect">
            <a:avLst/>
          </a:prstGeom>
          <a:noFill/>
        </p:spPr>
        <p:txBody>
          <a:bodyPr wrap="square" anchor="t" lIns="0" rIns="0" tIns="0" bIns="0">
            <a:spAutoFit/>
          </a:bodyPr>
          <a:lstStyle/>
          <a:p>
            <a:pPr algn="l">
              <a:lnSpc>
                <a:spcPct val="115000"/>
              </a:lnSpc>
            </a:pPr>
            <a:r>
              <a:rPr sz="1150" b="0">
                <a:solidFill>
                  <a:srgbClr val="A9B4C2"/>
                </a:solidFill>
                <a:latin typeface="DM Sans"/>
              </a:rPr>
              <a:t>En français, pour des non-experts : « premier paiement à cette adresse, montant quatre fois supérieur à vos habitudes ».</a:t>
            </a:r>
          </a:p>
        </p:txBody>
      </p:sp>
      <p:sp>
        <p:nvSpPr>
          <p:cNvPr id="36" name="TextBox 35"/>
          <p:cNvSpPr txBox="1"/>
          <p:nvPr/>
        </p:nvSpPr>
        <p:spPr>
          <a:xfrm>
            <a:off x="8005876" y="3794760"/>
            <a:ext cx="457200" cy="548640"/>
          </a:xfrm>
          <a:prstGeom prst="rect">
            <a:avLst/>
          </a:prstGeom>
          <a:noFill/>
        </p:spPr>
        <p:txBody>
          <a:bodyPr wrap="square" anchor="t" lIns="0" rIns="0" tIns="0" bIns="0">
            <a:spAutoFit/>
          </a:bodyPr>
          <a:lstStyle/>
          <a:p>
            <a:pPr algn="l">
              <a:lnSpc>
                <a:spcPct val="115000"/>
              </a:lnSpc>
            </a:pPr>
            <a:r>
              <a:rPr sz="3000" b="1">
                <a:solidFill>
                  <a:srgbClr val="FFC481"/>
                </a:solidFill>
                <a:latin typeface="Manrope"/>
              </a:rPr>
              <a:t>3</a:t>
            </a:r>
          </a:p>
        </p:txBody>
      </p:sp>
      <p:sp>
        <p:nvSpPr>
          <p:cNvPr id="37" name="TextBox 36"/>
          <p:cNvSpPr txBox="1"/>
          <p:nvPr/>
        </p:nvSpPr>
        <p:spPr>
          <a:xfrm>
            <a:off x="8508796" y="3840480"/>
            <a:ext cx="2905658" cy="365760"/>
          </a:xfrm>
          <a:prstGeom prst="rect">
            <a:avLst/>
          </a:prstGeom>
          <a:noFill/>
        </p:spPr>
        <p:txBody>
          <a:bodyPr wrap="square" anchor="t" lIns="0" rIns="0" tIns="0" bIns="0">
            <a:spAutoFit/>
          </a:bodyPr>
          <a:lstStyle/>
          <a:p>
            <a:pPr algn="l">
              <a:lnSpc>
                <a:spcPct val="115000"/>
              </a:lnSpc>
            </a:pPr>
            <a:r>
              <a:rPr sz="1600" b="1">
                <a:solidFill>
                  <a:srgbClr val="F6F9FC"/>
                </a:solidFill>
                <a:latin typeface="Manrope"/>
              </a:rPr>
              <a:t>Freine</a:t>
            </a:r>
          </a:p>
        </p:txBody>
      </p:sp>
      <p:sp>
        <p:nvSpPr>
          <p:cNvPr id="38" name="TextBox 37"/>
          <p:cNvSpPr txBox="1"/>
          <p:nvPr/>
        </p:nvSpPr>
        <p:spPr>
          <a:xfrm>
            <a:off x="8508796" y="4206240"/>
            <a:ext cx="2905658" cy="960120"/>
          </a:xfrm>
          <a:prstGeom prst="rect">
            <a:avLst/>
          </a:prstGeom>
          <a:noFill/>
        </p:spPr>
        <p:txBody>
          <a:bodyPr wrap="square" anchor="t" lIns="0" rIns="0" tIns="0" bIns="0">
            <a:spAutoFit/>
          </a:bodyPr>
          <a:lstStyle/>
          <a:p>
            <a:pPr algn="l">
              <a:lnSpc>
                <a:spcPct val="115000"/>
              </a:lnSpc>
            </a:pPr>
            <a:r>
              <a:rPr sz="1150" b="0">
                <a:solidFill>
                  <a:srgbClr val="A9B4C2"/>
                </a:solidFill>
                <a:latin typeface="DM Sans"/>
              </a:rPr>
              <a:t>Une signature de plus, ou une attente. Jamais un blocage définitif : le pire bug possible est un faux ralentissement.</a:t>
            </a:r>
          </a:p>
        </p:txBody>
      </p:sp>
      <p:sp>
        <p:nvSpPr>
          <p:cNvPr id="39" name="Rounded Rectangle 38"/>
          <p:cNvSpPr/>
          <p:nvPr/>
        </p:nvSpPr>
        <p:spPr>
          <a:xfrm>
            <a:off x="731520" y="5120640"/>
            <a:ext cx="10728655" cy="530352"/>
          </a:xfrm>
          <a:prstGeom prst="roundRect">
            <a:avLst>
              <a:gd name="adj" fmla="val 30000"/>
            </a:avLst>
          </a:prstGeom>
          <a:solidFill>
            <a:srgbClr val="101C2E"/>
          </a:solidFill>
          <a:ln w="9525">
            <a:solidFill>
              <a:srgbClr val="C7F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31520" y="5120640"/>
            <a:ext cx="54864" cy="530352"/>
          </a:xfrm>
          <a:prstGeom prst="rect">
            <a:avLst/>
          </a:pr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 y="5120640"/>
            <a:ext cx="10271455" cy="530352"/>
          </a:xfrm>
          <a:prstGeom prst="rect">
            <a:avLst/>
          </a:prstGeom>
          <a:noFill/>
        </p:spPr>
        <p:txBody>
          <a:bodyPr wrap="square" anchor="ctr" lIns="0" rIns="0" tIns="0" bIns="0">
            <a:spAutoFit/>
          </a:bodyPr>
          <a:lstStyle/>
          <a:p>
            <a:pPr algn="l">
              <a:lnSpc>
                <a:spcPct val="115000"/>
              </a:lnSpc>
            </a:pPr>
            <a:r>
              <a:rPr sz="1300" b="1">
                <a:solidFill>
                  <a:srgbClr val="F6F9FC"/>
                </a:solidFill>
                <a:latin typeface="DM Sans"/>
              </a:rPr>
              <a:t>Et protège la personne  ·  </a:t>
            </a:r>
            <a:r>
              <a:rPr sz="1500" b="1">
                <a:solidFill>
                  <a:srgbClr val="C7FA70"/>
                </a:solidFill>
                <a:latin typeface="Manrope"/>
              </a:rPr>
              <a:t>Clé d'identité froide</a:t>
            </a:r>
            <a:r>
              <a:rPr sz="1250" b="0">
                <a:solidFill>
                  <a:srgbClr val="F6F9FC"/>
                </a:solidFill>
                <a:latin typeface="DM Sans"/>
              </a:rPr>
              <a:t> : une seconde clé, gardée hors ligne, pour révoquer seul sa clé volée, sans quorum, même coffre gelé.</a:t>
            </a:r>
            <a:r>
              <a:rPr sz="1200" b="0">
                <a:solidFill>
                  <a:srgbClr val="A9B4C2"/>
                </a:solidFill>
                <a:latin typeface="DM Sans"/>
              </a:rPr>
              <a:t>  ·  Clé de contrainte : dit « oui » à l'écran, gèle en silence  ·  Probation des clés neuves.</a:t>
            </a:r>
          </a:p>
        </p:txBody>
      </p:sp>
      <p:sp>
        <p:nvSpPr>
          <p:cNvPr id="42" name="TextBox 41"/>
          <p:cNvSpPr txBox="1"/>
          <p:nvPr/>
        </p:nvSpPr>
        <p:spPr>
          <a:xfrm>
            <a:off x="731520" y="5724144"/>
            <a:ext cx="10728655" cy="457200"/>
          </a:xfrm>
          <a:prstGeom prst="rect">
            <a:avLst/>
          </a:prstGeom>
          <a:noFill/>
        </p:spPr>
        <p:txBody>
          <a:bodyPr wrap="square" anchor="t" lIns="0" rIns="0" tIns="0" bIns="0">
            <a:spAutoFit/>
          </a:bodyPr>
          <a:lstStyle/>
          <a:p>
            <a:pPr algn="l">
              <a:lnSpc>
                <a:spcPct val="115000"/>
              </a:lnSpc>
            </a:pPr>
            <a:r>
              <a:rPr sz="1300" b="1">
                <a:solidFill>
                  <a:srgbClr val="F6F9FC"/>
                </a:solidFill>
                <a:latin typeface="DM Sans"/>
              </a:rPr>
              <a:t>Deux modes, au choix du client : </a:t>
            </a:r>
            <a:r>
              <a:rPr sz="1300" b="1">
                <a:solidFill>
                  <a:srgbClr val="C7FA70"/>
                </a:solidFill>
                <a:latin typeface="DM Sans"/>
              </a:rPr>
              <a:t>Protection</a:t>
            </a:r>
            <a:r>
              <a:rPr sz="1300" b="0">
                <a:solidFill>
                  <a:srgbClr val="A9B4C2"/>
                </a:solidFill>
                <a:latin typeface="DM Sans"/>
              </a:rPr>
              <a:t> (Essentiel, Standard : signature en plus, mise en attente ; rien n'est jamais bloqué) · </a:t>
            </a:r>
            <a:r>
              <a:rPr sz="1300" b="1">
                <a:solidFill>
                  <a:srgbClr val="FFC481"/>
                </a:solidFill>
                <a:latin typeface="DM Sans"/>
              </a:rPr>
              <a:t>Cosignataire</a:t>
            </a:r>
            <a:r>
              <a:rPr sz="1300" b="0">
                <a:solidFill>
                  <a:srgbClr val="A9B4C2"/>
                </a:solidFill>
                <a:latin typeface="DM Sans"/>
              </a:rPr>
              <a:t> (Premium : un agent occupe un siège de signataire et refuse ; dérogation humaine après délai).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265615" y="-822960"/>
            <a:ext cx="3291840" cy="3679115"/>
          </a:xfrm>
          <a:custGeom>
            <a:avLst/>
            <a:gdLst/>
            <a:ahLst/>
            <a:cxnLst/>
            <a:rect l="l" t="t" r="r" b="b"/>
            <a:pathLst>
              <a:path w="3291840" h="3679115">
                <a:moveTo>
                  <a:pt x="0" y="0"/>
                </a:moveTo>
                <a:lnTo>
                  <a:pt x="2304288" y="0"/>
                </a:lnTo>
                <a:lnTo>
                  <a:pt x="3291840" y="956569"/>
                </a:lnTo>
                <a:lnTo>
                  <a:pt x="3291840" y="3679115"/>
                </a:lnTo>
                <a:lnTo>
                  <a:pt x="987552" y="3679115"/>
                </a:lnTo>
                <a:lnTo>
                  <a:pt x="0" y="2722545"/>
                </a:lnTo>
                <a:close/>
              </a:path>
            </a:pathLst>
          </a:custGeom>
          <a:solidFill>
            <a:srgbClr val="0B17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65615" y="-528631"/>
            <a:ext cx="3291840" cy="3090456"/>
          </a:xfrm>
          <a:prstGeom prst="rect">
            <a:avLst/>
          </a:prstGeom>
          <a:noFill/>
        </p:spPr>
        <p:txBody>
          <a:bodyPr wrap="square" anchor="ctr" lIns="0" rIns="0" tIns="0" bIns="0">
            <a:spAutoFit/>
          </a:bodyPr>
          <a:lstStyle/>
          <a:p>
            <a:pPr algn="ctr">
              <a:lnSpc>
                <a:spcPct val="115000"/>
              </a:lnSpc>
            </a:pPr>
            <a:r>
              <a:rPr sz="12800" b="1">
                <a:solidFill>
                  <a:srgbClr val="0B1728"/>
                </a:solidFill>
                <a:latin typeface="Manrope"/>
              </a:rPr>
              <a:t>B</a:t>
            </a:r>
          </a:p>
        </p:txBody>
      </p:sp>
      <p:sp>
        <p:nvSpPr>
          <p:cNvPr id="5" name="Freeform 4"/>
          <p:cNvSpPr/>
          <p:nvPr/>
        </p:nvSpPr>
        <p:spPr>
          <a:xfrm>
            <a:off x="731520" y="6291072"/>
            <a:ext cx="237744" cy="265713"/>
          </a:xfrm>
          <a:custGeom>
            <a:avLst/>
            <a:gdLst/>
            <a:ahLst/>
            <a:cxnLst/>
            <a:rect l="l" t="t" r="r" b="b"/>
            <a:pathLst>
              <a:path w="237744" h="265713">
                <a:moveTo>
                  <a:pt x="0" y="0"/>
                </a:moveTo>
                <a:lnTo>
                  <a:pt x="166420" y="0"/>
                </a:lnTo>
                <a:lnTo>
                  <a:pt x="237744" y="69085"/>
                </a:lnTo>
                <a:lnTo>
                  <a:pt x="237744" y="265713"/>
                </a:lnTo>
                <a:lnTo>
                  <a:pt x="71323" y="265713"/>
                </a:lnTo>
                <a:lnTo>
                  <a:pt x="0" y="196627"/>
                </a:lnTo>
                <a:close/>
              </a:path>
            </a:pathLst>
          </a:cu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12329"/>
            <a:ext cx="237744" cy="223198"/>
          </a:xfrm>
          <a:prstGeom prst="rect">
            <a:avLst/>
          </a:prstGeom>
          <a:noFill/>
        </p:spPr>
        <p:txBody>
          <a:bodyPr wrap="square" anchor="ctr" lIns="0" rIns="0" tIns="0" bIns="0">
            <a:spAutoFit/>
          </a:bodyPr>
          <a:lstStyle/>
          <a:p>
            <a:pPr algn="ctr">
              <a:lnSpc>
                <a:spcPct val="115000"/>
              </a:lnSpc>
            </a:pPr>
            <a:r>
              <a:rPr sz="900" b="1">
                <a:solidFill>
                  <a:srgbClr val="142008"/>
                </a:solidFill>
                <a:latin typeface="Manrope"/>
              </a:rPr>
              <a:t>B</a:t>
            </a:r>
          </a:p>
        </p:txBody>
      </p:sp>
      <p:sp>
        <p:nvSpPr>
          <p:cNvPr id="7" name="TextBox 6"/>
          <p:cNvSpPr txBox="1"/>
          <p:nvPr/>
        </p:nvSpPr>
        <p:spPr>
          <a:xfrm>
            <a:off x="1060704" y="6245352"/>
            <a:ext cx="1828800" cy="365760"/>
          </a:xfrm>
          <a:prstGeom prst="rect">
            <a:avLst/>
          </a:prstGeom>
          <a:noFill/>
        </p:spPr>
        <p:txBody>
          <a:bodyPr wrap="square" anchor="t" lIns="0" rIns="0" tIns="0" bIns="0">
            <a:spAutoFit/>
          </a:bodyPr>
          <a:lstStyle/>
          <a:p>
            <a:pPr algn="l">
              <a:lnSpc>
                <a:spcPct val="115000"/>
              </a:lnSpc>
            </a:pPr>
            <a:r>
              <a:rPr sz="1300" b="1">
                <a:solidFill>
                  <a:srgbClr val="F6F9FC"/>
                </a:solidFill>
                <a:latin typeface="Manrope"/>
              </a:rPr>
              <a:t>breaker</a:t>
            </a:r>
            <a:r>
              <a:rPr sz="1300" b="1">
                <a:solidFill>
                  <a:srgbClr val="C7FA70"/>
                </a:solidFill>
                <a:latin typeface="Manrope"/>
              </a:rPr>
              <a:t>.</a:t>
            </a:r>
          </a:p>
        </p:txBody>
      </p:sp>
      <p:sp>
        <p:nvSpPr>
          <p:cNvPr id="8" name="TextBox 7"/>
          <p:cNvSpPr txBox="1"/>
          <p:nvPr/>
        </p:nvSpPr>
        <p:spPr>
          <a:xfrm>
            <a:off x="8716975" y="6254496"/>
            <a:ext cx="2743200" cy="320040"/>
          </a:xfrm>
          <a:prstGeom prst="rect">
            <a:avLst/>
          </a:prstGeom>
          <a:noFill/>
        </p:spPr>
        <p:txBody>
          <a:bodyPr wrap="square" anchor="t" lIns="0" rIns="0" tIns="0" bIns="0">
            <a:spAutoFit/>
          </a:bodyPr>
          <a:lstStyle/>
          <a:p>
            <a:pPr algn="r">
              <a:lnSpc>
                <a:spcPct val="115000"/>
              </a:lnSpc>
            </a:pPr>
            <a:r>
              <a:rPr sz="1100" b="0">
                <a:solidFill>
                  <a:srgbClr val="7F8B9B"/>
                </a:solidFill>
                <a:latin typeface="DM Sans"/>
              </a:rPr>
              <a:t>5 / 8</a:t>
            </a:r>
          </a:p>
        </p:txBody>
      </p:sp>
      <p:sp>
        <p:nvSpPr>
          <p:cNvPr id="9" name="TextBox 8"/>
          <p:cNvSpPr txBox="1"/>
          <p:nvPr/>
        </p:nvSpPr>
        <p:spPr>
          <a:xfrm>
            <a:off x="731520" y="502920"/>
            <a:ext cx="10728655" cy="320040"/>
          </a:xfrm>
          <a:prstGeom prst="rect">
            <a:avLst/>
          </a:prstGeom>
          <a:noFill/>
        </p:spPr>
        <p:txBody>
          <a:bodyPr wrap="square" anchor="t" lIns="0" rIns="0" tIns="0" bIns="0">
            <a:spAutoFit/>
          </a:bodyPr>
          <a:lstStyle/>
          <a:p>
            <a:pPr algn="l">
              <a:lnSpc>
                <a:spcPct val="115000"/>
              </a:lnSpc>
            </a:pPr>
            <a:r>
              <a:rPr sz="1100" b="1">
                <a:solidFill>
                  <a:srgbClr val="C7FA70"/>
                </a:solidFill>
                <a:latin typeface="DM Sans"/>
              </a:rPr>
              <a:t>DÉMO &amp; PREUVES  </a:t>
            </a:r>
            <a:r>
              <a:rPr sz="1100" b="0">
                <a:solidFill>
                  <a:srgbClr val="A9B4C2"/>
                </a:solidFill>
                <a:latin typeface="DM Sans"/>
              </a:rPr>
              <a:t>mesuré, avant d'être affirmé : une seule fois, sur un jeu préparé à l'aveugle par l'autre membre</a:t>
            </a:r>
          </a:p>
        </p:txBody>
      </p:sp>
      <p:sp>
        <p:nvSpPr>
          <p:cNvPr id="10" name="Rounded Rectangle 9"/>
          <p:cNvSpPr/>
          <p:nvPr/>
        </p:nvSpPr>
        <p:spPr>
          <a:xfrm>
            <a:off x="10088575" y="457200"/>
            <a:ext cx="1371600" cy="347472"/>
          </a:xfrm>
          <a:prstGeom prst="roundRect">
            <a:avLst>
              <a:gd name="adj" fmla="val 50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88575" y="457200"/>
            <a:ext cx="1371600" cy="347472"/>
          </a:xfrm>
          <a:prstGeom prst="rect">
            <a:avLst/>
          </a:prstGeom>
          <a:noFill/>
        </p:spPr>
        <p:txBody>
          <a:bodyPr wrap="square" anchor="ctr" lIns="0" rIns="0" tIns="0" bIns="0">
            <a:spAutoFit/>
          </a:bodyPr>
          <a:lstStyle/>
          <a:p>
            <a:pPr algn="ctr">
              <a:lnSpc>
                <a:spcPct val="115000"/>
              </a:lnSpc>
            </a:pPr>
            <a:r>
              <a:rPr sz="1000" b="1">
                <a:solidFill>
                  <a:srgbClr val="C7FA70"/>
                </a:solidFill>
                <a:latin typeface="DM Sans"/>
              </a:rPr>
              <a:t>TIMÉO</a:t>
            </a:r>
          </a:p>
        </p:txBody>
      </p:sp>
      <p:sp>
        <p:nvSpPr>
          <p:cNvPr id="12" name="TextBox 11"/>
          <p:cNvSpPr txBox="1"/>
          <p:nvPr/>
        </p:nvSpPr>
        <p:spPr>
          <a:xfrm>
            <a:off x="731520" y="960120"/>
            <a:ext cx="9357055" cy="1463040"/>
          </a:xfrm>
          <a:prstGeom prst="rect">
            <a:avLst/>
          </a:prstGeom>
          <a:noFill/>
        </p:spPr>
        <p:txBody>
          <a:bodyPr wrap="square" anchor="t" lIns="0" rIns="0" tIns="0" bIns="0">
            <a:spAutoFit/>
          </a:bodyPr>
          <a:lstStyle/>
          <a:p>
            <a:pPr algn="l">
              <a:lnSpc>
                <a:spcPct val="102000"/>
              </a:lnSpc>
            </a:pPr>
            <a:r>
              <a:rPr sz="3400" b="1">
                <a:solidFill>
                  <a:srgbClr val="F6F9FC"/>
                </a:solidFill>
                <a:latin typeface="Manrope"/>
              </a:rPr>
              <a:t>Sur Avalanche Fuji : 280 500 tentés, zéro sorti.</a:t>
            </a:r>
          </a:p>
        </p:txBody>
      </p:sp>
      <p:sp>
        <p:nvSpPr>
          <p:cNvPr id="13" name="Rounded Rectangle 12"/>
          <p:cNvSpPr/>
          <p:nvPr/>
        </p:nvSpPr>
        <p:spPr>
          <a:xfrm>
            <a:off x="731520" y="2103120"/>
            <a:ext cx="2531287" cy="164592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103120"/>
            <a:ext cx="54864" cy="1645920"/>
          </a:xfrm>
          <a:prstGeom prst="rect">
            <a:avLst/>
          </a:pr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304288"/>
            <a:ext cx="2074087" cy="640080"/>
          </a:xfrm>
          <a:prstGeom prst="rect">
            <a:avLst/>
          </a:prstGeom>
          <a:noFill/>
        </p:spPr>
        <p:txBody>
          <a:bodyPr wrap="square" anchor="t" lIns="0" rIns="0" tIns="0" bIns="0">
            <a:spAutoFit/>
          </a:bodyPr>
          <a:lstStyle/>
          <a:p>
            <a:pPr algn="l">
              <a:lnSpc>
                <a:spcPct val="115000"/>
              </a:lnSpc>
            </a:pPr>
            <a:r>
              <a:rPr sz="3200" b="1">
                <a:solidFill>
                  <a:srgbClr val="C7FA70"/>
                </a:solidFill>
                <a:latin typeface="Manrope"/>
              </a:rPr>
              <a:t>95 %</a:t>
            </a:r>
          </a:p>
        </p:txBody>
      </p:sp>
      <p:sp>
        <p:nvSpPr>
          <p:cNvPr id="16" name="TextBox 15"/>
          <p:cNvSpPr txBox="1"/>
          <p:nvPr/>
        </p:nvSpPr>
        <p:spPr>
          <a:xfrm>
            <a:off x="1005840" y="2962656"/>
            <a:ext cx="2074087" cy="777240"/>
          </a:xfrm>
          <a:prstGeom prst="rect">
            <a:avLst/>
          </a:prstGeom>
          <a:noFill/>
        </p:spPr>
        <p:txBody>
          <a:bodyPr wrap="square" anchor="t" lIns="0" rIns="0" tIns="0" bIns="0">
            <a:spAutoFit/>
          </a:bodyPr>
          <a:lstStyle/>
          <a:p>
            <a:pPr algn="l">
              <a:lnSpc>
                <a:spcPct val="112000"/>
              </a:lnSpc>
            </a:pPr>
            <a:r>
              <a:rPr sz="1150" b="0">
                <a:solidFill>
                  <a:srgbClr val="A9B4C2"/>
                </a:solidFill>
                <a:latin typeface="DM Sans"/>
              </a:rPr>
              <a:t>des fraudes freinées ou mises en attente, formes jamais vues</a:t>
            </a:r>
          </a:p>
        </p:txBody>
      </p:sp>
      <p:sp>
        <p:nvSpPr>
          <p:cNvPr id="17" name="Rounded Rectangle 16"/>
          <p:cNvSpPr/>
          <p:nvPr/>
        </p:nvSpPr>
        <p:spPr>
          <a:xfrm>
            <a:off x="3463975" y="2103120"/>
            <a:ext cx="2531287" cy="164592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63975" y="2103120"/>
            <a:ext cx="54864" cy="1645920"/>
          </a:xfrm>
          <a:prstGeom prst="rect">
            <a:avLst/>
          </a:pr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38295" y="2304288"/>
            <a:ext cx="2074087" cy="640080"/>
          </a:xfrm>
          <a:prstGeom prst="rect">
            <a:avLst/>
          </a:prstGeom>
          <a:noFill/>
        </p:spPr>
        <p:txBody>
          <a:bodyPr wrap="square" anchor="t" lIns="0" rIns="0" tIns="0" bIns="0">
            <a:spAutoFit/>
          </a:bodyPr>
          <a:lstStyle/>
          <a:p>
            <a:pPr algn="l">
              <a:lnSpc>
                <a:spcPct val="115000"/>
              </a:lnSpc>
            </a:pPr>
            <a:r>
              <a:rPr sz="3200" b="1">
                <a:solidFill>
                  <a:srgbClr val="C7FA70"/>
                </a:solidFill>
                <a:latin typeface="Manrope"/>
              </a:rPr>
              <a:t>91 %</a:t>
            </a:r>
          </a:p>
        </p:txBody>
      </p:sp>
      <p:sp>
        <p:nvSpPr>
          <p:cNvPr id="20" name="TextBox 19"/>
          <p:cNvSpPr txBox="1"/>
          <p:nvPr/>
        </p:nvSpPr>
        <p:spPr>
          <a:xfrm>
            <a:off x="3738295" y="2962656"/>
            <a:ext cx="2074087" cy="777240"/>
          </a:xfrm>
          <a:prstGeom prst="rect">
            <a:avLst/>
          </a:prstGeom>
          <a:noFill/>
        </p:spPr>
        <p:txBody>
          <a:bodyPr wrap="square" anchor="t" lIns="0" rIns="0" tIns="0" bIns="0">
            <a:spAutoFit/>
          </a:bodyPr>
          <a:lstStyle/>
          <a:p>
            <a:pPr algn="l">
              <a:lnSpc>
                <a:spcPct val="112000"/>
              </a:lnSpc>
            </a:pPr>
            <a:r>
              <a:rPr sz="1150" b="0">
                <a:solidFill>
                  <a:srgbClr val="A9B4C2"/>
                </a:solidFill>
                <a:latin typeface="DM Sans"/>
              </a:rPr>
              <a:t>des montants frauduleux mis en attente (1,12 M sur 1,23 M)</a:t>
            </a:r>
          </a:p>
        </p:txBody>
      </p:sp>
      <p:sp>
        <p:nvSpPr>
          <p:cNvPr id="21" name="Rounded Rectangle 20"/>
          <p:cNvSpPr/>
          <p:nvPr/>
        </p:nvSpPr>
        <p:spPr>
          <a:xfrm>
            <a:off x="6196430" y="2103120"/>
            <a:ext cx="2531287" cy="164592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6430" y="2103120"/>
            <a:ext cx="54864" cy="1645920"/>
          </a:xfrm>
          <a:prstGeom prst="rect">
            <a:avLst/>
          </a:prstGeom>
          <a:solidFill>
            <a:srgbClr val="FFC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0750" y="2304288"/>
            <a:ext cx="2074087" cy="640080"/>
          </a:xfrm>
          <a:prstGeom prst="rect">
            <a:avLst/>
          </a:prstGeom>
          <a:noFill/>
        </p:spPr>
        <p:txBody>
          <a:bodyPr wrap="square" anchor="t" lIns="0" rIns="0" tIns="0" bIns="0">
            <a:spAutoFit/>
          </a:bodyPr>
          <a:lstStyle/>
          <a:p>
            <a:pPr algn="l">
              <a:lnSpc>
                <a:spcPct val="115000"/>
              </a:lnSpc>
            </a:pPr>
            <a:r>
              <a:rPr sz="3200" b="1">
                <a:solidFill>
                  <a:srgbClr val="FFC481"/>
                </a:solidFill>
                <a:latin typeface="Manrope"/>
              </a:rPr>
              <a:t>5,1 %</a:t>
            </a:r>
          </a:p>
        </p:txBody>
      </p:sp>
      <p:sp>
        <p:nvSpPr>
          <p:cNvPr id="24" name="TextBox 23"/>
          <p:cNvSpPr txBox="1"/>
          <p:nvPr/>
        </p:nvSpPr>
        <p:spPr>
          <a:xfrm>
            <a:off x="6470750" y="2962656"/>
            <a:ext cx="2074087" cy="777240"/>
          </a:xfrm>
          <a:prstGeom prst="rect">
            <a:avLst/>
          </a:prstGeom>
          <a:noFill/>
        </p:spPr>
        <p:txBody>
          <a:bodyPr wrap="square" anchor="t" lIns="0" rIns="0" tIns="0" bIns="0">
            <a:spAutoFit/>
          </a:bodyPr>
          <a:lstStyle/>
          <a:p>
            <a:pPr algn="l">
              <a:lnSpc>
                <a:spcPct val="112000"/>
              </a:lnSpc>
            </a:pPr>
            <a:r>
              <a:rPr sz="1150" b="0">
                <a:solidFill>
                  <a:srgbClr val="A9B4C2"/>
                </a:solidFill>
                <a:latin typeface="DM Sans"/>
              </a:rPr>
              <a:t>de paiements légitimes retardés, tous des premiers paiements</a:t>
            </a:r>
          </a:p>
        </p:txBody>
      </p:sp>
      <p:sp>
        <p:nvSpPr>
          <p:cNvPr id="25" name="Rounded Rectangle 24"/>
          <p:cNvSpPr/>
          <p:nvPr/>
        </p:nvSpPr>
        <p:spPr>
          <a:xfrm>
            <a:off x="8928885" y="2103120"/>
            <a:ext cx="2531287" cy="164592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28885" y="2103120"/>
            <a:ext cx="54864" cy="1645920"/>
          </a:xfrm>
          <a:prstGeom prst="rect">
            <a:avLst/>
          </a:prstGeom>
          <a:solidFill>
            <a:srgbClr val="A8B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03205" y="2304288"/>
            <a:ext cx="2074087" cy="640080"/>
          </a:xfrm>
          <a:prstGeom prst="rect">
            <a:avLst/>
          </a:prstGeom>
          <a:noFill/>
        </p:spPr>
        <p:txBody>
          <a:bodyPr wrap="square" anchor="t" lIns="0" rIns="0" tIns="0" bIns="0">
            <a:spAutoFit/>
          </a:bodyPr>
          <a:lstStyle/>
          <a:p>
            <a:pPr algn="l">
              <a:lnSpc>
                <a:spcPct val="115000"/>
              </a:lnSpc>
            </a:pPr>
            <a:r>
              <a:rPr sz="3200" b="1">
                <a:solidFill>
                  <a:srgbClr val="A8BFFF"/>
                </a:solidFill>
                <a:latin typeface="Manrope"/>
              </a:rPr>
              <a:t>5 – 6 s</a:t>
            </a:r>
          </a:p>
        </p:txBody>
      </p:sp>
      <p:sp>
        <p:nvSpPr>
          <p:cNvPr id="28" name="TextBox 27"/>
          <p:cNvSpPr txBox="1"/>
          <p:nvPr/>
        </p:nvSpPr>
        <p:spPr>
          <a:xfrm>
            <a:off x="9203205" y="2962656"/>
            <a:ext cx="2074087" cy="777240"/>
          </a:xfrm>
          <a:prstGeom prst="rect">
            <a:avLst/>
          </a:prstGeom>
          <a:noFill/>
        </p:spPr>
        <p:txBody>
          <a:bodyPr wrap="square" anchor="t" lIns="0" rIns="0" tIns="0" bIns="0">
            <a:spAutoFit/>
          </a:bodyPr>
          <a:lstStyle/>
          <a:p>
            <a:pPr algn="l">
              <a:lnSpc>
                <a:spcPct val="112000"/>
              </a:lnSpc>
            </a:pPr>
            <a:r>
              <a:rPr sz="1150" b="0">
                <a:solidFill>
                  <a:srgbClr val="A9B4C2"/>
                </a:solidFill>
                <a:latin typeface="DM Sans"/>
              </a:rPr>
              <a:t>pour signaler, sur 30 s d'examen · 0,002 $ de gas par alerte</a:t>
            </a:r>
          </a:p>
        </p:txBody>
      </p:sp>
      <p:sp>
        <p:nvSpPr>
          <p:cNvPr id="29" name="Rounded Rectangle 28"/>
          <p:cNvSpPr/>
          <p:nvPr/>
        </p:nvSpPr>
        <p:spPr>
          <a:xfrm>
            <a:off x="731520" y="3977639"/>
            <a:ext cx="3442106" cy="146304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1520" y="3977639"/>
            <a:ext cx="54864" cy="1463040"/>
          </a:xfrm>
          <a:prstGeom prst="rect">
            <a:avLst/>
          </a:prstGeom>
          <a:solidFill>
            <a:srgbClr val="F6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178807"/>
            <a:ext cx="2984906" cy="640080"/>
          </a:xfrm>
          <a:prstGeom prst="rect">
            <a:avLst/>
          </a:prstGeom>
          <a:noFill/>
        </p:spPr>
        <p:txBody>
          <a:bodyPr wrap="square" anchor="t" lIns="0" rIns="0" tIns="0" bIns="0">
            <a:spAutoFit/>
          </a:bodyPr>
          <a:lstStyle/>
          <a:p>
            <a:pPr algn="l">
              <a:lnSpc>
                <a:spcPct val="115000"/>
              </a:lnSpc>
            </a:pPr>
            <a:r>
              <a:rPr sz="2400" b="1">
                <a:solidFill>
                  <a:srgbClr val="F6F9FC"/>
                </a:solidFill>
                <a:latin typeface="Manrope"/>
              </a:rPr>
              <a:t>100 %</a:t>
            </a:r>
          </a:p>
        </p:txBody>
      </p:sp>
      <p:sp>
        <p:nvSpPr>
          <p:cNvPr id="32" name="TextBox 31"/>
          <p:cNvSpPr txBox="1"/>
          <p:nvPr/>
        </p:nvSpPr>
        <p:spPr>
          <a:xfrm>
            <a:off x="1005840" y="4837175"/>
            <a:ext cx="2984906" cy="594360"/>
          </a:xfrm>
          <a:prstGeom prst="rect">
            <a:avLst/>
          </a:prstGeom>
          <a:noFill/>
        </p:spPr>
        <p:txBody>
          <a:bodyPr wrap="square" anchor="t" lIns="0" rIns="0" tIns="0" bIns="0">
            <a:spAutoFit/>
          </a:bodyPr>
          <a:lstStyle/>
          <a:p>
            <a:pPr algn="l">
              <a:lnSpc>
                <a:spcPct val="112000"/>
              </a:lnSpc>
            </a:pPr>
            <a:r>
              <a:rPr sz="1150" b="0">
                <a:solidFill>
                  <a:srgbClr val="A9B4C2"/>
                </a:solidFill>
                <a:latin typeface="DM Sans"/>
              </a:rPr>
              <a:t>oracle Web : précision et rappel sur 35 adresses · 7 injections déjouées</a:t>
            </a:r>
          </a:p>
        </p:txBody>
      </p:sp>
      <p:sp>
        <p:nvSpPr>
          <p:cNvPr id="33" name="Rounded Rectangle 32"/>
          <p:cNvSpPr/>
          <p:nvPr/>
        </p:nvSpPr>
        <p:spPr>
          <a:xfrm>
            <a:off x="4374794" y="3977639"/>
            <a:ext cx="3442106" cy="146304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74794" y="3977639"/>
            <a:ext cx="54864" cy="1463040"/>
          </a:xfrm>
          <a:prstGeom prst="rect">
            <a:avLst/>
          </a:prstGeom>
          <a:solidFill>
            <a:srgbClr val="F6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49114" y="4178807"/>
            <a:ext cx="2984906" cy="640080"/>
          </a:xfrm>
          <a:prstGeom prst="rect">
            <a:avLst/>
          </a:prstGeom>
          <a:noFill/>
        </p:spPr>
        <p:txBody>
          <a:bodyPr wrap="square" anchor="t" lIns="0" rIns="0" tIns="0" bIns="0">
            <a:spAutoFit/>
          </a:bodyPr>
          <a:lstStyle/>
          <a:p>
            <a:pPr algn="l">
              <a:lnSpc>
                <a:spcPct val="115000"/>
              </a:lnSpc>
            </a:pPr>
            <a:r>
              <a:rPr sz="2400" b="1">
                <a:solidFill>
                  <a:srgbClr val="F6F9FC"/>
                </a:solidFill>
                <a:latin typeface="Manrope"/>
              </a:rPr>
              <a:t>0 · 50 · 7 000</a:t>
            </a:r>
          </a:p>
        </p:txBody>
      </p:sp>
      <p:sp>
        <p:nvSpPr>
          <p:cNvPr id="36" name="TextBox 35"/>
          <p:cNvSpPr txBox="1"/>
          <p:nvPr/>
        </p:nvSpPr>
        <p:spPr>
          <a:xfrm>
            <a:off x="4649114" y="4837175"/>
            <a:ext cx="2984906" cy="594360"/>
          </a:xfrm>
          <a:prstGeom prst="rect">
            <a:avLst/>
          </a:prstGeom>
          <a:noFill/>
        </p:spPr>
        <p:txBody>
          <a:bodyPr wrap="square" anchor="t" lIns="0" rIns="0" tIns="0" bIns="0">
            <a:spAutoFit/>
          </a:bodyPr>
          <a:lstStyle/>
          <a:p>
            <a:pPr algn="l">
              <a:lnSpc>
                <a:spcPct val="112000"/>
              </a:lnSpc>
            </a:pPr>
            <a:r>
              <a:rPr sz="1150" b="0">
                <a:solidFill>
                  <a:srgbClr val="A9B4C2"/>
                </a:solidFill>
                <a:latin typeface="DM Sans"/>
              </a:rPr>
              <a:t>détection grave (Slither) · tests · appels aléatoires, 0 invariant violé</a:t>
            </a:r>
          </a:p>
        </p:txBody>
      </p:sp>
      <p:sp>
        <p:nvSpPr>
          <p:cNvPr id="37" name="Rounded Rectangle 36"/>
          <p:cNvSpPr/>
          <p:nvPr/>
        </p:nvSpPr>
        <p:spPr>
          <a:xfrm>
            <a:off x="8018068" y="3977639"/>
            <a:ext cx="3442106" cy="146304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18068" y="3977639"/>
            <a:ext cx="54864" cy="1463040"/>
          </a:xfrm>
          <a:prstGeom prst="rect">
            <a:avLst/>
          </a:prstGeom>
          <a:solidFill>
            <a:srgbClr val="FFC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92388" y="4178807"/>
            <a:ext cx="2984906" cy="640080"/>
          </a:xfrm>
          <a:prstGeom prst="rect">
            <a:avLst/>
          </a:prstGeom>
          <a:noFill/>
        </p:spPr>
        <p:txBody>
          <a:bodyPr wrap="square" anchor="t" lIns="0" rIns="0" tIns="0" bIns="0">
            <a:spAutoFit/>
          </a:bodyPr>
          <a:lstStyle/>
          <a:p>
            <a:pPr algn="l">
              <a:lnSpc>
                <a:spcPct val="115000"/>
              </a:lnSpc>
            </a:pPr>
            <a:r>
              <a:rPr sz="2400" b="1">
                <a:solidFill>
                  <a:srgbClr val="FFC481"/>
                </a:solidFill>
                <a:latin typeface="Manrope"/>
              </a:rPr>
              <a:t>synthétique</a:t>
            </a:r>
          </a:p>
        </p:txBody>
      </p:sp>
      <p:sp>
        <p:nvSpPr>
          <p:cNvPr id="40" name="TextBox 39"/>
          <p:cNvSpPr txBox="1"/>
          <p:nvPr/>
        </p:nvSpPr>
        <p:spPr>
          <a:xfrm>
            <a:off x="8292388" y="4837175"/>
            <a:ext cx="2984906" cy="594360"/>
          </a:xfrm>
          <a:prstGeom prst="rect">
            <a:avLst/>
          </a:prstGeom>
          <a:noFill/>
        </p:spPr>
        <p:txBody>
          <a:bodyPr wrap="square" anchor="t" lIns="0" rIns="0" tIns="0" bIns="0">
            <a:spAutoFit/>
          </a:bodyPr>
          <a:lstStyle/>
          <a:p>
            <a:pPr algn="l">
              <a:lnSpc>
                <a:spcPct val="112000"/>
              </a:lnSpc>
            </a:pPr>
            <a:r>
              <a:rPr sz="1150" b="0">
                <a:solidFill>
                  <a:srgbClr val="A9B4C2"/>
                </a:solidFill>
                <a:latin typeface="DM Sans"/>
              </a:rPr>
              <a:t>données fabriquées par nous · contrat pas encore audité par un tiers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265615" y="-822960"/>
            <a:ext cx="3291840" cy="3679115"/>
          </a:xfrm>
          <a:custGeom>
            <a:avLst/>
            <a:gdLst/>
            <a:ahLst/>
            <a:cxnLst/>
            <a:rect l="l" t="t" r="r" b="b"/>
            <a:pathLst>
              <a:path w="3291840" h="3679115">
                <a:moveTo>
                  <a:pt x="0" y="0"/>
                </a:moveTo>
                <a:lnTo>
                  <a:pt x="2304288" y="0"/>
                </a:lnTo>
                <a:lnTo>
                  <a:pt x="3291840" y="956569"/>
                </a:lnTo>
                <a:lnTo>
                  <a:pt x="3291840" y="3679115"/>
                </a:lnTo>
                <a:lnTo>
                  <a:pt x="987552" y="3679115"/>
                </a:lnTo>
                <a:lnTo>
                  <a:pt x="0" y="2722545"/>
                </a:lnTo>
                <a:close/>
              </a:path>
            </a:pathLst>
          </a:custGeom>
          <a:solidFill>
            <a:srgbClr val="0B17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65615" y="-528631"/>
            <a:ext cx="3291840" cy="3090456"/>
          </a:xfrm>
          <a:prstGeom prst="rect">
            <a:avLst/>
          </a:prstGeom>
          <a:noFill/>
        </p:spPr>
        <p:txBody>
          <a:bodyPr wrap="square" anchor="ctr" lIns="0" rIns="0" tIns="0" bIns="0">
            <a:spAutoFit/>
          </a:bodyPr>
          <a:lstStyle/>
          <a:p>
            <a:pPr algn="ctr">
              <a:lnSpc>
                <a:spcPct val="115000"/>
              </a:lnSpc>
            </a:pPr>
            <a:r>
              <a:rPr sz="12800" b="1">
                <a:solidFill>
                  <a:srgbClr val="0B1728"/>
                </a:solidFill>
                <a:latin typeface="Manrope"/>
              </a:rPr>
              <a:t>B</a:t>
            </a:r>
          </a:p>
        </p:txBody>
      </p:sp>
      <p:sp>
        <p:nvSpPr>
          <p:cNvPr id="5" name="Freeform 4"/>
          <p:cNvSpPr/>
          <p:nvPr/>
        </p:nvSpPr>
        <p:spPr>
          <a:xfrm>
            <a:off x="731520" y="6291072"/>
            <a:ext cx="237744" cy="265713"/>
          </a:xfrm>
          <a:custGeom>
            <a:avLst/>
            <a:gdLst/>
            <a:ahLst/>
            <a:cxnLst/>
            <a:rect l="l" t="t" r="r" b="b"/>
            <a:pathLst>
              <a:path w="237744" h="265713">
                <a:moveTo>
                  <a:pt x="0" y="0"/>
                </a:moveTo>
                <a:lnTo>
                  <a:pt x="166420" y="0"/>
                </a:lnTo>
                <a:lnTo>
                  <a:pt x="237744" y="69085"/>
                </a:lnTo>
                <a:lnTo>
                  <a:pt x="237744" y="265713"/>
                </a:lnTo>
                <a:lnTo>
                  <a:pt x="71323" y="265713"/>
                </a:lnTo>
                <a:lnTo>
                  <a:pt x="0" y="196627"/>
                </a:lnTo>
                <a:close/>
              </a:path>
            </a:pathLst>
          </a:cu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12329"/>
            <a:ext cx="237744" cy="223198"/>
          </a:xfrm>
          <a:prstGeom prst="rect">
            <a:avLst/>
          </a:prstGeom>
          <a:noFill/>
        </p:spPr>
        <p:txBody>
          <a:bodyPr wrap="square" anchor="ctr" lIns="0" rIns="0" tIns="0" bIns="0">
            <a:spAutoFit/>
          </a:bodyPr>
          <a:lstStyle/>
          <a:p>
            <a:pPr algn="ctr">
              <a:lnSpc>
                <a:spcPct val="115000"/>
              </a:lnSpc>
            </a:pPr>
            <a:r>
              <a:rPr sz="900" b="1">
                <a:solidFill>
                  <a:srgbClr val="142008"/>
                </a:solidFill>
                <a:latin typeface="Manrope"/>
              </a:rPr>
              <a:t>B</a:t>
            </a:r>
          </a:p>
        </p:txBody>
      </p:sp>
      <p:sp>
        <p:nvSpPr>
          <p:cNvPr id="7" name="TextBox 6"/>
          <p:cNvSpPr txBox="1"/>
          <p:nvPr/>
        </p:nvSpPr>
        <p:spPr>
          <a:xfrm>
            <a:off x="1060704" y="6245352"/>
            <a:ext cx="1828800" cy="365760"/>
          </a:xfrm>
          <a:prstGeom prst="rect">
            <a:avLst/>
          </a:prstGeom>
          <a:noFill/>
        </p:spPr>
        <p:txBody>
          <a:bodyPr wrap="square" anchor="t" lIns="0" rIns="0" tIns="0" bIns="0">
            <a:spAutoFit/>
          </a:bodyPr>
          <a:lstStyle/>
          <a:p>
            <a:pPr algn="l">
              <a:lnSpc>
                <a:spcPct val="115000"/>
              </a:lnSpc>
            </a:pPr>
            <a:r>
              <a:rPr sz="1300" b="1">
                <a:solidFill>
                  <a:srgbClr val="F6F9FC"/>
                </a:solidFill>
                <a:latin typeface="Manrope"/>
              </a:rPr>
              <a:t>breaker</a:t>
            </a:r>
            <a:r>
              <a:rPr sz="1300" b="1">
                <a:solidFill>
                  <a:srgbClr val="C7FA70"/>
                </a:solidFill>
                <a:latin typeface="Manrope"/>
              </a:rPr>
              <a:t>.</a:t>
            </a:r>
          </a:p>
        </p:txBody>
      </p:sp>
      <p:sp>
        <p:nvSpPr>
          <p:cNvPr id="8" name="TextBox 7"/>
          <p:cNvSpPr txBox="1"/>
          <p:nvPr/>
        </p:nvSpPr>
        <p:spPr>
          <a:xfrm>
            <a:off x="8716975" y="6254496"/>
            <a:ext cx="2743200" cy="320040"/>
          </a:xfrm>
          <a:prstGeom prst="rect">
            <a:avLst/>
          </a:prstGeom>
          <a:noFill/>
        </p:spPr>
        <p:txBody>
          <a:bodyPr wrap="square" anchor="t" lIns="0" rIns="0" tIns="0" bIns="0">
            <a:spAutoFit/>
          </a:bodyPr>
          <a:lstStyle/>
          <a:p>
            <a:pPr algn="r">
              <a:lnSpc>
                <a:spcPct val="115000"/>
              </a:lnSpc>
            </a:pPr>
            <a:r>
              <a:rPr sz="1100" b="0">
                <a:solidFill>
                  <a:srgbClr val="7F8B9B"/>
                </a:solidFill>
                <a:latin typeface="DM Sans"/>
              </a:rPr>
              <a:t>6 / 8</a:t>
            </a:r>
          </a:p>
        </p:txBody>
      </p:sp>
      <p:sp>
        <p:nvSpPr>
          <p:cNvPr id="9" name="TextBox 8"/>
          <p:cNvSpPr txBox="1"/>
          <p:nvPr/>
        </p:nvSpPr>
        <p:spPr>
          <a:xfrm>
            <a:off x="731520" y="502920"/>
            <a:ext cx="10728655" cy="320040"/>
          </a:xfrm>
          <a:prstGeom prst="rect">
            <a:avLst/>
          </a:prstGeom>
          <a:noFill/>
        </p:spPr>
        <p:txBody>
          <a:bodyPr wrap="square" anchor="t" lIns="0" rIns="0" tIns="0" bIns="0">
            <a:spAutoFit/>
          </a:bodyPr>
          <a:lstStyle/>
          <a:p>
            <a:pPr algn="l">
              <a:lnSpc>
                <a:spcPct val="115000"/>
              </a:lnSpc>
            </a:pPr>
            <a:r>
              <a:rPr sz="1100" b="1">
                <a:solidFill>
                  <a:srgbClr val="C7FA70"/>
                </a:solidFill>
                <a:latin typeface="DM Sans"/>
              </a:rPr>
              <a:t>OFFRE  </a:t>
            </a:r>
            <a:r>
              <a:rPr sz="1100" b="0">
                <a:solidFill>
                  <a:srgbClr val="A9B4C2"/>
                </a:solidFill>
                <a:latin typeface="DM Sans"/>
              </a:rPr>
              <a:t>une gradation, une offre : une personne de plus, du temps, un refus</a:t>
            </a:r>
          </a:p>
        </p:txBody>
      </p:sp>
      <p:sp>
        <p:nvSpPr>
          <p:cNvPr id="10" name="Rounded Rectangle 9"/>
          <p:cNvSpPr/>
          <p:nvPr/>
        </p:nvSpPr>
        <p:spPr>
          <a:xfrm>
            <a:off x="10088575" y="457200"/>
            <a:ext cx="1371600" cy="347472"/>
          </a:xfrm>
          <a:prstGeom prst="roundRect">
            <a:avLst>
              <a:gd name="adj" fmla="val 50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88575" y="457200"/>
            <a:ext cx="1371600" cy="347472"/>
          </a:xfrm>
          <a:prstGeom prst="rect">
            <a:avLst/>
          </a:prstGeom>
          <a:noFill/>
        </p:spPr>
        <p:txBody>
          <a:bodyPr wrap="square" anchor="ctr" lIns="0" rIns="0" tIns="0" bIns="0">
            <a:spAutoFit/>
          </a:bodyPr>
          <a:lstStyle/>
          <a:p>
            <a:pPr algn="ctr">
              <a:lnSpc>
                <a:spcPct val="115000"/>
              </a:lnSpc>
            </a:pPr>
            <a:r>
              <a:rPr sz="1000" b="1">
                <a:solidFill>
                  <a:srgbClr val="C7FA70"/>
                </a:solidFill>
                <a:latin typeface="DM Sans"/>
              </a:rPr>
              <a:t>ROMAIN</a:t>
            </a:r>
          </a:p>
        </p:txBody>
      </p:sp>
      <p:sp>
        <p:nvSpPr>
          <p:cNvPr id="12" name="TextBox 11"/>
          <p:cNvSpPr txBox="1"/>
          <p:nvPr/>
        </p:nvSpPr>
        <p:spPr>
          <a:xfrm>
            <a:off x="731520" y="960120"/>
            <a:ext cx="9357055" cy="1463040"/>
          </a:xfrm>
          <a:prstGeom prst="rect">
            <a:avLst/>
          </a:prstGeom>
          <a:noFill/>
        </p:spPr>
        <p:txBody>
          <a:bodyPr wrap="square" anchor="t" lIns="0" rIns="0" tIns="0" bIns="0">
            <a:spAutoFit/>
          </a:bodyPr>
          <a:lstStyle/>
          <a:p>
            <a:pPr algn="l">
              <a:lnSpc>
                <a:spcPct val="102000"/>
              </a:lnSpc>
            </a:pPr>
            <a:r>
              <a:rPr sz="3600" b="1">
                <a:solidFill>
                  <a:srgbClr val="F6F9FC"/>
                </a:solidFill>
                <a:latin typeface="Manrope"/>
              </a:rPr>
              <a:t>Un prix affiché, selon le pouvoir que vous déléguez</a:t>
            </a:r>
          </a:p>
        </p:txBody>
      </p:sp>
      <p:sp>
        <p:nvSpPr>
          <p:cNvPr id="13" name="Rounded Rectangle 12"/>
          <p:cNvSpPr/>
          <p:nvPr/>
        </p:nvSpPr>
        <p:spPr>
          <a:xfrm>
            <a:off x="731520" y="2103120"/>
            <a:ext cx="2545003" cy="2514600"/>
          </a:xfrm>
          <a:prstGeom prst="roundRect">
            <a:avLst>
              <a:gd name="adj" fmla="val 6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103120"/>
            <a:ext cx="54864" cy="2514600"/>
          </a:xfrm>
          <a:prstGeom prst="rect">
            <a:avLst/>
          </a:prstGeom>
          <a:solidFill>
            <a:srgbClr val="F6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286000"/>
            <a:ext cx="2087803" cy="320040"/>
          </a:xfrm>
          <a:prstGeom prst="rect">
            <a:avLst/>
          </a:prstGeom>
          <a:noFill/>
        </p:spPr>
        <p:txBody>
          <a:bodyPr wrap="square" anchor="t" lIns="0" rIns="0" tIns="0" bIns="0">
            <a:spAutoFit/>
          </a:bodyPr>
          <a:lstStyle/>
          <a:p>
            <a:pPr algn="l">
              <a:lnSpc>
                <a:spcPct val="115000"/>
              </a:lnSpc>
            </a:pPr>
            <a:r>
              <a:rPr sz="1250" b="1">
                <a:solidFill>
                  <a:srgbClr val="A9B4C2"/>
                </a:solidFill>
                <a:latin typeface="DM Sans"/>
              </a:rPr>
              <a:t>Observation</a:t>
            </a:r>
          </a:p>
        </p:txBody>
      </p:sp>
      <p:sp>
        <p:nvSpPr>
          <p:cNvPr id="16" name="TextBox 15"/>
          <p:cNvSpPr txBox="1"/>
          <p:nvPr/>
        </p:nvSpPr>
        <p:spPr>
          <a:xfrm>
            <a:off x="1005840" y="2560320"/>
            <a:ext cx="2087803" cy="548640"/>
          </a:xfrm>
          <a:prstGeom prst="rect">
            <a:avLst/>
          </a:prstGeom>
          <a:noFill/>
        </p:spPr>
        <p:txBody>
          <a:bodyPr wrap="square" anchor="t" lIns="0" rIns="0" tIns="0" bIns="0">
            <a:spAutoFit/>
          </a:bodyPr>
          <a:lstStyle/>
          <a:p>
            <a:pPr algn="l">
              <a:lnSpc>
                <a:spcPct val="115000"/>
              </a:lnSpc>
            </a:pPr>
            <a:r>
              <a:rPr sz="3000" b="1">
                <a:solidFill>
                  <a:srgbClr val="F6F9FC"/>
                </a:solidFill>
                <a:latin typeface="Manrope"/>
              </a:rPr>
              <a:t>0 €</a:t>
            </a:r>
            <a:r>
              <a:rPr sz="1100" b="0">
                <a:solidFill>
                  <a:srgbClr val="7F8B9B"/>
                </a:solidFill>
                <a:latin typeface="DM Sans"/>
              </a:rPr>
              <a:t>  30 jours</a:t>
            </a:r>
          </a:p>
        </p:txBody>
      </p:sp>
      <p:sp>
        <p:nvSpPr>
          <p:cNvPr id="17" name="TextBox 16"/>
          <p:cNvSpPr txBox="1"/>
          <p:nvPr/>
        </p:nvSpPr>
        <p:spPr>
          <a:xfrm>
            <a:off x="1005840" y="3154680"/>
            <a:ext cx="2087803" cy="365760"/>
          </a:xfrm>
          <a:prstGeom prst="rect">
            <a:avLst/>
          </a:prstGeom>
          <a:noFill/>
        </p:spPr>
        <p:txBody>
          <a:bodyPr wrap="square" anchor="t" lIns="0" rIns="0" tIns="0" bIns="0">
            <a:spAutoFit/>
          </a:bodyPr>
          <a:lstStyle/>
          <a:p>
            <a:pPr algn="l">
              <a:lnSpc>
                <a:spcPct val="115000"/>
              </a:lnSpc>
            </a:pPr>
            <a:r>
              <a:rPr sz="1500" b="1">
                <a:solidFill>
                  <a:srgbClr val="F6F9FC"/>
                </a:solidFill>
                <a:latin typeface="Manrope"/>
              </a:rPr>
              <a:t>Regarde, explique</a:t>
            </a:r>
          </a:p>
        </p:txBody>
      </p:sp>
      <p:sp>
        <p:nvSpPr>
          <p:cNvPr id="18" name="TextBox 17"/>
          <p:cNvSpPr txBox="1"/>
          <p:nvPr/>
        </p:nvSpPr>
        <p:spPr>
          <a:xfrm>
            <a:off x="1005840" y="3520440"/>
            <a:ext cx="2087803" cy="1005840"/>
          </a:xfrm>
          <a:prstGeom prst="rect">
            <a:avLst/>
          </a:prstGeom>
          <a:noFill/>
        </p:spPr>
        <p:txBody>
          <a:bodyPr wrap="square" anchor="t" lIns="0" rIns="0" tIns="0" bIns="0">
            <a:spAutoFit/>
          </a:bodyPr>
          <a:lstStyle/>
          <a:p>
            <a:pPr algn="l">
              <a:lnSpc>
                <a:spcPct val="112000"/>
              </a:lnSpc>
            </a:pPr>
            <a:r>
              <a:rPr sz="1050" b="0">
                <a:solidFill>
                  <a:srgbClr val="A9B4C2"/>
                </a:solidFill>
                <a:latin typeface="DM Sans"/>
              </a:rPr>
              <a:t>rien ne change à vos paiements · alertes et explications en lecture seule · rapport de fin d'observation</a:t>
            </a:r>
          </a:p>
        </p:txBody>
      </p:sp>
      <p:sp>
        <p:nvSpPr>
          <p:cNvPr id="19" name="Rounded Rectangle 18"/>
          <p:cNvSpPr/>
          <p:nvPr/>
        </p:nvSpPr>
        <p:spPr>
          <a:xfrm>
            <a:off x="3459403" y="2103120"/>
            <a:ext cx="2545003" cy="2514600"/>
          </a:xfrm>
          <a:prstGeom prst="roundRect">
            <a:avLst>
              <a:gd name="adj" fmla="val 6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59403" y="2103120"/>
            <a:ext cx="54864" cy="2514600"/>
          </a:xfrm>
          <a:prstGeom prst="rect">
            <a:avLst/>
          </a:prstGeom>
          <a:solidFill>
            <a:srgbClr val="A8B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33723" y="2286000"/>
            <a:ext cx="2087803" cy="320040"/>
          </a:xfrm>
          <a:prstGeom prst="rect">
            <a:avLst/>
          </a:prstGeom>
          <a:noFill/>
        </p:spPr>
        <p:txBody>
          <a:bodyPr wrap="square" anchor="t" lIns="0" rIns="0" tIns="0" bIns="0">
            <a:spAutoFit/>
          </a:bodyPr>
          <a:lstStyle/>
          <a:p>
            <a:pPr algn="l">
              <a:lnSpc>
                <a:spcPct val="115000"/>
              </a:lnSpc>
            </a:pPr>
            <a:r>
              <a:rPr sz="1250" b="1">
                <a:solidFill>
                  <a:srgbClr val="A9B4C2"/>
                </a:solidFill>
                <a:latin typeface="DM Sans"/>
              </a:rPr>
              <a:t>Essentiel</a:t>
            </a:r>
          </a:p>
        </p:txBody>
      </p:sp>
      <p:sp>
        <p:nvSpPr>
          <p:cNvPr id="22" name="TextBox 21"/>
          <p:cNvSpPr txBox="1"/>
          <p:nvPr/>
        </p:nvSpPr>
        <p:spPr>
          <a:xfrm>
            <a:off x="3733723" y="2560320"/>
            <a:ext cx="2087803" cy="548640"/>
          </a:xfrm>
          <a:prstGeom prst="rect">
            <a:avLst/>
          </a:prstGeom>
          <a:noFill/>
        </p:spPr>
        <p:txBody>
          <a:bodyPr wrap="square" anchor="t" lIns="0" rIns="0" tIns="0" bIns="0">
            <a:spAutoFit/>
          </a:bodyPr>
          <a:lstStyle/>
          <a:p>
            <a:pPr algn="l">
              <a:lnSpc>
                <a:spcPct val="115000"/>
              </a:lnSpc>
            </a:pPr>
            <a:r>
              <a:rPr sz="3000" b="1">
                <a:solidFill>
                  <a:srgbClr val="F6F9FC"/>
                </a:solidFill>
                <a:latin typeface="Manrope"/>
              </a:rPr>
              <a:t>149 €</a:t>
            </a:r>
            <a:r>
              <a:rPr sz="1100" b="0">
                <a:solidFill>
                  <a:srgbClr val="7F8B9B"/>
                </a:solidFill>
                <a:latin typeface="DM Sans"/>
              </a:rPr>
              <a:t>  / mois</a:t>
            </a:r>
          </a:p>
        </p:txBody>
      </p:sp>
      <p:sp>
        <p:nvSpPr>
          <p:cNvPr id="23" name="TextBox 22"/>
          <p:cNvSpPr txBox="1"/>
          <p:nvPr/>
        </p:nvSpPr>
        <p:spPr>
          <a:xfrm>
            <a:off x="3733723" y="3154680"/>
            <a:ext cx="2087803" cy="365760"/>
          </a:xfrm>
          <a:prstGeom prst="rect">
            <a:avLst/>
          </a:prstGeom>
          <a:noFill/>
        </p:spPr>
        <p:txBody>
          <a:bodyPr wrap="square" anchor="t" lIns="0" rIns="0" tIns="0" bIns="0">
            <a:spAutoFit/>
          </a:bodyPr>
          <a:lstStyle/>
          <a:p>
            <a:pPr algn="l">
              <a:lnSpc>
                <a:spcPct val="115000"/>
              </a:lnSpc>
            </a:pPr>
            <a:r>
              <a:rPr sz="1500" b="1">
                <a:solidFill>
                  <a:srgbClr val="A8BFFF"/>
                </a:solidFill>
                <a:latin typeface="Manrope"/>
              </a:rPr>
              <a:t>+ une personne</a:t>
            </a:r>
          </a:p>
        </p:txBody>
      </p:sp>
      <p:sp>
        <p:nvSpPr>
          <p:cNvPr id="24" name="TextBox 23"/>
          <p:cNvSpPr txBox="1"/>
          <p:nvPr/>
        </p:nvSpPr>
        <p:spPr>
          <a:xfrm>
            <a:off x="3733723" y="3520440"/>
            <a:ext cx="2087803" cy="1005840"/>
          </a:xfrm>
          <a:prstGeom prst="rect">
            <a:avLst/>
          </a:prstGeom>
          <a:noFill/>
        </p:spPr>
        <p:txBody>
          <a:bodyPr wrap="square" anchor="t" lIns="0" rIns="0" tIns="0" bIns="0">
            <a:spAutoFit/>
          </a:bodyPr>
          <a:lstStyle/>
          <a:p>
            <a:pPr algn="l">
              <a:lnSpc>
                <a:spcPct val="112000"/>
              </a:lnSpc>
            </a:pPr>
            <a:r>
              <a:rPr sz="1050" b="0">
                <a:solidFill>
                  <a:srgbClr val="A9B4C2"/>
                </a:solidFill>
                <a:latin typeface="DM Sans"/>
              </a:rPr>
              <a:t>signature en plus sur les paiements inhabituels · explications en français · listes OFAC / ScamSniffer · notifications</a:t>
            </a:r>
          </a:p>
        </p:txBody>
      </p:sp>
      <p:sp>
        <p:nvSpPr>
          <p:cNvPr id="25" name="Rounded Rectangle 24"/>
          <p:cNvSpPr/>
          <p:nvPr/>
        </p:nvSpPr>
        <p:spPr>
          <a:xfrm>
            <a:off x="6187286" y="2103120"/>
            <a:ext cx="2545003" cy="2514600"/>
          </a:xfrm>
          <a:prstGeom prst="roundRect">
            <a:avLst>
              <a:gd name="adj" fmla="val 6000"/>
            </a:avLst>
          </a:prstGeom>
          <a:solidFill>
            <a:srgbClr val="101C2E"/>
          </a:solidFill>
          <a:ln w="9525">
            <a:solidFill>
              <a:srgbClr val="C7F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7286" y="2103120"/>
            <a:ext cx="54864" cy="2514600"/>
          </a:xfrm>
          <a:prstGeom prst="rect">
            <a:avLst/>
          </a:prstGeom>
          <a:solidFill>
            <a:srgbClr val="FFC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61606" y="2286000"/>
            <a:ext cx="2087803" cy="320040"/>
          </a:xfrm>
          <a:prstGeom prst="rect">
            <a:avLst/>
          </a:prstGeom>
          <a:noFill/>
        </p:spPr>
        <p:txBody>
          <a:bodyPr wrap="square" anchor="t" lIns="0" rIns="0" tIns="0" bIns="0">
            <a:spAutoFit/>
          </a:bodyPr>
          <a:lstStyle/>
          <a:p>
            <a:pPr algn="l">
              <a:lnSpc>
                <a:spcPct val="115000"/>
              </a:lnSpc>
            </a:pPr>
            <a:r>
              <a:rPr sz="1250" b="1">
                <a:solidFill>
                  <a:srgbClr val="A9B4C2"/>
                </a:solidFill>
                <a:latin typeface="DM Sans"/>
              </a:rPr>
              <a:t>Standard</a:t>
            </a:r>
          </a:p>
        </p:txBody>
      </p:sp>
      <p:sp>
        <p:nvSpPr>
          <p:cNvPr id="28" name="TextBox 27"/>
          <p:cNvSpPr txBox="1"/>
          <p:nvPr/>
        </p:nvSpPr>
        <p:spPr>
          <a:xfrm>
            <a:off x="6461606" y="2560320"/>
            <a:ext cx="2087803" cy="548640"/>
          </a:xfrm>
          <a:prstGeom prst="rect">
            <a:avLst/>
          </a:prstGeom>
          <a:noFill/>
        </p:spPr>
        <p:txBody>
          <a:bodyPr wrap="square" anchor="t" lIns="0" rIns="0" tIns="0" bIns="0">
            <a:spAutoFit/>
          </a:bodyPr>
          <a:lstStyle/>
          <a:p>
            <a:pPr algn="l">
              <a:lnSpc>
                <a:spcPct val="115000"/>
              </a:lnSpc>
            </a:pPr>
            <a:r>
              <a:rPr sz="3000" b="1">
                <a:solidFill>
                  <a:srgbClr val="F6F9FC"/>
                </a:solidFill>
                <a:latin typeface="Manrope"/>
              </a:rPr>
              <a:t>449 €</a:t>
            </a:r>
            <a:r>
              <a:rPr sz="1100" b="0">
                <a:solidFill>
                  <a:srgbClr val="7F8B9B"/>
                </a:solidFill>
                <a:latin typeface="DM Sans"/>
              </a:rPr>
              <a:t>  / mois</a:t>
            </a:r>
          </a:p>
        </p:txBody>
      </p:sp>
      <p:sp>
        <p:nvSpPr>
          <p:cNvPr id="29" name="TextBox 28"/>
          <p:cNvSpPr txBox="1"/>
          <p:nvPr/>
        </p:nvSpPr>
        <p:spPr>
          <a:xfrm>
            <a:off x="6461606" y="3154680"/>
            <a:ext cx="2087803" cy="365760"/>
          </a:xfrm>
          <a:prstGeom prst="rect">
            <a:avLst/>
          </a:prstGeom>
          <a:noFill/>
        </p:spPr>
        <p:txBody>
          <a:bodyPr wrap="square" anchor="t" lIns="0" rIns="0" tIns="0" bIns="0">
            <a:spAutoFit/>
          </a:bodyPr>
          <a:lstStyle/>
          <a:p>
            <a:pPr algn="l">
              <a:lnSpc>
                <a:spcPct val="115000"/>
              </a:lnSpc>
            </a:pPr>
            <a:r>
              <a:rPr sz="1500" b="1">
                <a:solidFill>
                  <a:srgbClr val="FFC481"/>
                </a:solidFill>
                <a:latin typeface="Manrope"/>
              </a:rPr>
              <a:t>+ du temps</a:t>
            </a:r>
          </a:p>
        </p:txBody>
      </p:sp>
      <p:sp>
        <p:nvSpPr>
          <p:cNvPr id="30" name="TextBox 29"/>
          <p:cNvSpPr txBox="1"/>
          <p:nvPr/>
        </p:nvSpPr>
        <p:spPr>
          <a:xfrm>
            <a:off x="6461606" y="3520440"/>
            <a:ext cx="2087803" cy="1005840"/>
          </a:xfrm>
          <a:prstGeom prst="rect">
            <a:avLst/>
          </a:prstGeom>
          <a:noFill/>
        </p:spPr>
        <p:txBody>
          <a:bodyPr wrap="square" anchor="t" lIns="0" rIns="0" tIns="0" bIns="0">
            <a:spAutoFit/>
          </a:bodyPr>
          <a:lstStyle/>
          <a:p>
            <a:pPr algn="l">
              <a:lnSpc>
                <a:spcPct val="112000"/>
              </a:lnSpc>
            </a:pPr>
            <a:r>
              <a:rPr sz="1050" b="0">
                <a:solidFill>
                  <a:srgbClr val="A9B4C2"/>
                </a:solidFill>
                <a:latin typeface="DM Sans"/>
              </a:rPr>
              <a:t>mise en attente : rien ne part, même avec toutes les signatures · oracle Web, traçage, sosies · clé d'identité froide, clé de contrainte, gel · rapport d'incident</a:t>
            </a:r>
          </a:p>
        </p:txBody>
      </p:sp>
      <p:sp>
        <p:nvSpPr>
          <p:cNvPr id="31" name="Rounded Rectangle 30"/>
          <p:cNvSpPr/>
          <p:nvPr/>
        </p:nvSpPr>
        <p:spPr>
          <a:xfrm>
            <a:off x="8915169" y="2103120"/>
            <a:ext cx="2545003" cy="2514600"/>
          </a:xfrm>
          <a:prstGeom prst="roundRect">
            <a:avLst>
              <a:gd name="adj" fmla="val 6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915169" y="2103120"/>
            <a:ext cx="54864" cy="2514600"/>
          </a:xfrm>
          <a:prstGeom prst="rect">
            <a:avLst/>
          </a:pr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89489" y="2286000"/>
            <a:ext cx="2087803" cy="320040"/>
          </a:xfrm>
          <a:prstGeom prst="rect">
            <a:avLst/>
          </a:prstGeom>
          <a:noFill/>
        </p:spPr>
        <p:txBody>
          <a:bodyPr wrap="square" anchor="t" lIns="0" rIns="0" tIns="0" bIns="0">
            <a:spAutoFit/>
          </a:bodyPr>
          <a:lstStyle/>
          <a:p>
            <a:pPr algn="l">
              <a:lnSpc>
                <a:spcPct val="115000"/>
              </a:lnSpc>
            </a:pPr>
            <a:r>
              <a:rPr sz="1250" b="1">
                <a:solidFill>
                  <a:srgbClr val="A9B4C2"/>
                </a:solidFill>
                <a:latin typeface="DM Sans"/>
              </a:rPr>
              <a:t>Premium</a:t>
            </a:r>
          </a:p>
        </p:txBody>
      </p:sp>
      <p:sp>
        <p:nvSpPr>
          <p:cNvPr id="34" name="TextBox 33"/>
          <p:cNvSpPr txBox="1"/>
          <p:nvPr/>
        </p:nvSpPr>
        <p:spPr>
          <a:xfrm>
            <a:off x="9189489" y="2560320"/>
            <a:ext cx="2087803" cy="548640"/>
          </a:xfrm>
          <a:prstGeom prst="rect">
            <a:avLst/>
          </a:prstGeom>
          <a:noFill/>
        </p:spPr>
        <p:txBody>
          <a:bodyPr wrap="square" anchor="t" lIns="0" rIns="0" tIns="0" bIns="0">
            <a:spAutoFit/>
          </a:bodyPr>
          <a:lstStyle/>
          <a:p>
            <a:pPr algn="l">
              <a:lnSpc>
                <a:spcPct val="115000"/>
              </a:lnSpc>
            </a:pPr>
            <a:r>
              <a:rPr sz="3000" b="1">
                <a:solidFill>
                  <a:srgbClr val="F6F9FC"/>
                </a:solidFill>
                <a:latin typeface="Manrope"/>
              </a:rPr>
              <a:t>990 €</a:t>
            </a:r>
            <a:r>
              <a:rPr sz="1100" b="0">
                <a:solidFill>
                  <a:srgbClr val="7F8B9B"/>
                </a:solidFill>
                <a:latin typeface="DM Sans"/>
              </a:rPr>
              <a:t>  / mois</a:t>
            </a:r>
          </a:p>
        </p:txBody>
      </p:sp>
      <p:sp>
        <p:nvSpPr>
          <p:cNvPr id="35" name="TextBox 34"/>
          <p:cNvSpPr txBox="1"/>
          <p:nvPr/>
        </p:nvSpPr>
        <p:spPr>
          <a:xfrm>
            <a:off x="9189489" y="3154680"/>
            <a:ext cx="2087803" cy="365760"/>
          </a:xfrm>
          <a:prstGeom prst="rect">
            <a:avLst/>
          </a:prstGeom>
          <a:noFill/>
        </p:spPr>
        <p:txBody>
          <a:bodyPr wrap="square" anchor="t" lIns="0" rIns="0" tIns="0" bIns="0">
            <a:spAutoFit/>
          </a:bodyPr>
          <a:lstStyle/>
          <a:p>
            <a:pPr algn="l">
              <a:lnSpc>
                <a:spcPct val="115000"/>
              </a:lnSpc>
            </a:pPr>
            <a:r>
              <a:rPr sz="1500" b="1">
                <a:solidFill>
                  <a:srgbClr val="C7FA70"/>
                </a:solidFill>
                <a:latin typeface="Manrope"/>
              </a:rPr>
              <a:t>+ un refus</a:t>
            </a:r>
          </a:p>
        </p:txBody>
      </p:sp>
      <p:sp>
        <p:nvSpPr>
          <p:cNvPr id="36" name="TextBox 35"/>
          <p:cNvSpPr txBox="1"/>
          <p:nvPr/>
        </p:nvSpPr>
        <p:spPr>
          <a:xfrm>
            <a:off x="9189489" y="3520440"/>
            <a:ext cx="2087803" cy="1005840"/>
          </a:xfrm>
          <a:prstGeom prst="rect">
            <a:avLst/>
          </a:prstGeom>
          <a:noFill/>
        </p:spPr>
        <p:txBody>
          <a:bodyPr wrap="square" anchor="t" lIns="0" rIns="0" tIns="0" bIns="0">
            <a:spAutoFit/>
          </a:bodyPr>
          <a:lstStyle/>
          <a:p>
            <a:pPr algn="l">
              <a:lnSpc>
                <a:spcPct val="112000"/>
              </a:lnSpc>
            </a:pPr>
            <a:r>
              <a:rPr sz="1050" b="0">
                <a:solidFill>
                  <a:srgbClr val="A9B4C2"/>
                </a:solidFill>
                <a:latin typeface="DM Sans"/>
              </a:rPr>
              <a:t>mode Cosignataire : un agent occupe un siège de signataire et peut dire non, dérogation humaine après délai · réglages sur mesure · support, disponibilité garantie</a:t>
            </a:r>
          </a:p>
        </p:txBody>
      </p:sp>
      <p:sp>
        <p:nvSpPr>
          <p:cNvPr id="37" name="TextBox 36"/>
          <p:cNvSpPr txBox="1"/>
          <p:nvPr/>
        </p:nvSpPr>
        <p:spPr>
          <a:xfrm>
            <a:off x="731520" y="4864608"/>
            <a:ext cx="1325880" cy="310896"/>
          </a:xfrm>
          <a:prstGeom prst="rect">
            <a:avLst/>
          </a:prstGeom>
          <a:noFill/>
        </p:spPr>
        <p:txBody>
          <a:bodyPr wrap="square" anchor="t" lIns="0" rIns="0" tIns="0" bIns="0">
            <a:spAutoFit/>
          </a:bodyPr>
          <a:lstStyle/>
          <a:p>
            <a:pPr algn="l">
              <a:lnSpc>
                <a:spcPct val="105000"/>
              </a:lnSpc>
            </a:pPr>
            <a:r>
              <a:rPr sz="1000" b="0">
                <a:solidFill>
                  <a:srgbClr val="7F8B9B"/>
                </a:solidFill>
                <a:latin typeface="DM Sans"/>
              </a:rPr>
              <a:t>Pourquoi ces prix</a:t>
            </a:r>
          </a:p>
        </p:txBody>
      </p:sp>
      <p:sp>
        <p:nvSpPr>
          <p:cNvPr id="38" name="TextBox 37"/>
          <p:cNvSpPr txBox="1"/>
          <p:nvPr/>
        </p:nvSpPr>
        <p:spPr>
          <a:xfrm>
            <a:off x="2194560" y="4864608"/>
            <a:ext cx="9128455" cy="310896"/>
          </a:xfrm>
          <a:prstGeom prst="rect">
            <a:avLst/>
          </a:prstGeom>
          <a:noFill/>
        </p:spPr>
        <p:txBody>
          <a:bodyPr wrap="square" anchor="t" lIns="0" rIns="0" tIns="0" bIns="0">
            <a:spAutoFit/>
          </a:bodyPr>
          <a:lstStyle/>
          <a:p>
            <a:pPr algn="l">
              <a:lnSpc>
                <a:spcPct val="105000"/>
              </a:lnSpc>
            </a:pPr>
            <a:r>
              <a:rPr sz="1000" b="0">
                <a:solidFill>
                  <a:srgbClr val="7F8B9B"/>
                </a:solidFill>
                <a:latin typeface="DM Sans"/>
              </a:rPr>
              <a:t/>
            </a:r>
          </a:p>
        </p:txBody>
      </p:sp>
      <p:sp>
        <p:nvSpPr>
          <p:cNvPr id="39" name="Rectangle 38"/>
          <p:cNvSpPr/>
          <p:nvPr/>
        </p:nvSpPr>
        <p:spPr>
          <a:xfrm>
            <a:off x="731520" y="5105496"/>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175504"/>
            <a:ext cx="1325880" cy="310896"/>
          </a:xfrm>
          <a:prstGeom prst="rect">
            <a:avLst/>
          </a:prstGeom>
          <a:noFill/>
        </p:spPr>
        <p:txBody>
          <a:bodyPr wrap="square" anchor="t" lIns="0" rIns="0" tIns="0" bIns="0">
            <a:spAutoFit/>
          </a:bodyPr>
          <a:lstStyle/>
          <a:p>
            <a:pPr algn="l">
              <a:lnSpc>
                <a:spcPct val="105000"/>
              </a:lnSpc>
            </a:pPr>
            <a:r>
              <a:rPr sz="1100" b="1">
                <a:solidFill>
                  <a:srgbClr val="F6F9FC"/>
                </a:solidFill>
                <a:latin typeface="DM Sans"/>
              </a:rPr>
              <a:t>449 €</a:t>
            </a:r>
          </a:p>
        </p:txBody>
      </p:sp>
      <p:sp>
        <p:nvSpPr>
          <p:cNvPr id="41" name="TextBox 40"/>
          <p:cNvSpPr txBox="1"/>
          <p:nvPr/>
        </p:nvSpPr>
        <p:spPr>
          <a:xfrm>
            <a:off x="2194560" y="5175504"/>
            <a:ext cx="9128455" cy="310896"/>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5 % de la perte annuelle évitée (9,5 % d'incidents × 1,3 M$ médiane × 91 % ≈ 112 k$/an) · repère : Safe Pro Business, 669 €/mois</a:t>
            </a:r>
          </a:p>
        </p:txBody>
      </p:sp>
      <p:sp>
        <p:nvSpPr>
          <p:cNvPr id="42" name="Rectangle 41"/>
          <p:cNvSpPr/>
          <p:nvPr/>
        </p:nvSpPr>
        <p:spPr>
          <a:xfrm>
            <a:off x="731520" y="5416392"/>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5486400"/>
            <a:ext cx="1325880" cy="310896"/>
          </a:xfrm>
          <a:prstGeom prst="rect">
            <a:avLst/>
          </a:prstGeom>
          <a:noFill/>
        </p:spPr>
        <p:txBody>
          <a:bodyPr wrap="square" anchor="t" lIns="0" rIns="0" tIns="0" bIns="0">
            <a:spAutoFit/>
          </a:bodyPr>
          <a:lstStyle/>
          <a:p>
            <a:pPr algn="l">
              <a:lnSpc>
                <a:spcPct val="105000"/>
              </a:lnSpc>
            </a:pPr>
            <a:r>
              <a:rPr sz="1100" b="1">
                <a:solidFill>
                  <a:srgbClr val="F6F9FC"/>
                </a:solidFill>
                <a:latin typeface="DM Sans"/>
              </a:rPr>
              <a:t>990 €</a:t>
            </a:r>
          </a:p>
        </p:txBody>
      </p:sp>
      <p:sp>
        <p:nvSpPr>
          <p:cNvPr id="44" name="TextBox 43"/>
          <p:cNvSpPr txBox="1"/>
          <p:nvPr/>
        </p:nvSpPr>
        <p:spPr>
          <a:xfrm>
            <a:off x="2194560" y="5486400"/>
            <a:ext cx="9128455" cy="310896"/>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10 % de la perte évitée, le plafond : le seul niveau où quelqu'un dit non à votre place quand tous vos signataires sont trompés · repère : Fireblocks, 999 $/mois</a:t>
            </a:r>
          </a:p>
        </p:txBody>
      </p:sp>
      <p:sp>
        <p:nvSpPr>
          <p:cNvPr id="45" name="Rectangle 44"/>
          <p:cNvSpPr/>
          <p:nvPr/>
        </p:nvSpPr>
        <p:spPr>
          <a:xfrm>
            <a:off x="731520" y="5727288"/>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5797296"/>
            <a:ext cx="1325880" cy="310896"/>
          </a:xfrm>
          <a:prstGeom prst="rect">
            <a:avLst/>
          </a:prstGeom>
          <a:noFill/>
        </p:spPr>
        <p:txBody>
          <a:bodyPr wrap="square" anchor="t" lIns="0" rIns="0" tIns="0" bIns="0">
            <a:spAutoFit/>
          </a:bodyPr>
          <a:lstStyle/>
          <a:p>
            <a:pPr algn="l">
              <a:lnSpc>
                <a:spcPct val="105000"/>
              </a:lnSpc>
            </a:pPr>
            <a:r>
              <a:rPr sz="1100" b="1">
                <a:solidFill>
                  <a:srgbClr val="F6F9FC"/>
                </a:solidFill>
                <a:latin typeface="DM Sans"/>
              </a:rPr>
              <a:t>Entreprise</a:t>
            </a:r>
          </a:p>
        </p:txBody>
      </p:sp>
      <p:sp>
        <p:nvSpPr>
          <p:cNvPr id="47" name="TextBox 46"/>
          <p:cNvSpPr txBox="1"/>
          <p:nvPr/>
        </p:nvSpPr>
        <p:spPr>
          <a:xfrm>
            <a:off x="2194560" y="5797296"/>
            <a:ext cx="9128455" cy="310896"/>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sur devis : plusieurs entités, audit, intégrations · coût marginal ≈ 1,2 $/client/mois : la valeur dicte le prix</a:t>
            </a:r>
          </a:p>
        </p:txBody>
      </p:sp>
      <p:sp>
        <p:nvSpPr>
          <p:cNvPr id="48" name="Rectangle 47"/>
          <p:cNvSpPr/>
          <p:nvPr/>
        </p:nvSpPr>
        <p:spPr>
          <a:xfrm>
            <a:off x="731520" y="6038184"/>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265615" y="-822960"/>
            <a:ext cx="3291840" cy="3679115"/>
          </a:xfrm>
          <a:custGeom>
            <a:avLst/>
            <a:gdLst/>
            <a:ahLst/>
            <a:cxnLst/>
            <a:rect l="l" t="t" r="r" b="b"/>
            <a:pathLst>
              <a:path w="3291840" h="3679115">
                <a:moveTo>
                  <a:pt x="0" y="0"/>
                </a:moveTo>
                <a:lnTo>
                  <a:pt x="2304288" y="0"/>
                </a:lnTo>
                <a:lnTo>
                  <a:pt x="3291840" y="956569"/>
                </a:lnTo>
                <a:lnTo>
                  <a:pt x="3291840" y="3679115"/>
                </a:lnTo>
                <a:lnTo>
                  <a:pt x="987552" y="3679115"/>
                </a:lnTo>
                <a:lnTo>
                  <a:pt x="0" y="2722545"/>
                </a:lnTo>
                <a:close/>
              </a:path>
            </a:pathLst>
          </a:custGeom>
          <a:solidFill>
            <a:srgbClr val="0B17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65615" y="-528631"/>
            <a:ext cx="3291840" cy="3090456"/>
          </a:xfrm>
          <a:prstGeom prst="rect">
            <a:avLst/>
          </a:prstGeom>
          <a:noFill/>
        </p:spPr>
        <p:txBody>
          <a:bodyPr wrap="square" anchor="ctr" lIns="0" rIns="0" tIns="0" bIns="0">
            <a:spAutoFit/>
          </a:bodyPr>
          <a:lstStyle/>
          <a:p>
            <a:pPr algn="ctr">
              <a:lnSpc>
                <a:spcPct val="115000"/>
              </a:lnSpc>
            </a:pPr>
            <a:r>
              <a:rPr sz="12800" b="1">
                <a:solidFill>
                  <a:srgbClr val="0B1728"/>
                </a:solidFill>
                <a:latin typeface="Manrope"/>
              </a:rPr>
              <a:t>B</a:t>
            </a:r>
          </a:p>
        </p:txBody>
      </p:sp>
      <p:sp>
        <p:nvSpPr>
          <p:cNvPr id="5" name="Freeform 4"/>
          <p:cNvSpPr/>
          <p:nvPr/>
        </p:nvSpPr>
        <p:spPr>
          <a:xfrm>
            <a:off x="731520" y="6291072"/>
            <a:ext cx="237744" cy="265713"/>
          </a:xfrm>
          <a:custGeom>
            <a:avLst/>
            <a:gdLst/>
            <a:ahLst/>
            <a:cxnLst/>
            <a:rect l="l" t="t" r="r" b="b"/>
            <a:pathLst>
              <a:path w="237744" h="265713">
                <a:moveTo>
                  <a:pt x="0" y="0"/>
                </a:moveTo>
                <a:lnTo>
                  <a:pt x="166420" y="0"/>
                </a:lnTo>
                <a:lnTo>
                  <a:pt x="237744" y="69085"/>
                </a:lnTo>
                <a:lnTo>
                  <a:pt x="237744" y="265713"/>
                </a:lnTo>
                <a:lnTo>
                  <a:pt x="71323" y="265713"/>
                </a:lnTo>
                <a:lnTo>
                  <a:pt x="0" y="196627"/>
                </a:lnTo>
                <a:close/>
              </a:path>
            </a:pathLst>
          </a:cu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12329"/>
            <a:ext cx="237744" cy="223198"/>
          </a:xfrm>
          <a:prstGeom prst="rect">
            <a:avLst/>
          </a:prstGeom>
          <a:noFill/>
        </p:spPr>
        <p:txBody>
          <a:bodyPr wrap="square" anchor="ctr" lIns="0" rIns="0" tIns="0" bIns="0">
            <a:spAutoFit/>
          </a:bodyPr>
          <a:lstStyle/>
          <a:p>
            <a:pPr algn="ctr">
              <a:lnSpc>
                <a:spcPct val="115000"/>
              </a:lnSpc>
            </a:pPr>
            <a:r>
              <a:rPr sz="900" b="1">
                <a:solidFill>
                  <a:srgbClr val="142008"/>
                </a:solidFill>
                <a:latin typeface="Manrope"/>
              </a:rPr>
              <a:t>B</a:t>
            </a:r>
          </a:p>
        </p:txBody>
      </p:sp>
      <p:sp>
        <p:nvSpPr>
          <p:cNvPr id="7" name="TextBox 6"/>
          <p:cNvSpPr txBox="1"/>
          <p:nvPr/>
        </p:nvSpPr>
        <p:spPr>
          <a:xfrm>
            <a:off x="1060704" y="6245352"/>
            <a:ext cx="1828800" cy="365760"/>
          </a:xfrm>
          <a:prstGeom prst="rect">
            <a:avLst/>
          </a:prstGeom>
          <a:noFill/>
        </p:spPr>
        <p:txBody>
          <a:bodyPr wrap="square" anchor="t" lIns="0" rIns="0" tIns="0" bIns="0">
            <a:spAutoFit/>
          </a:bodyPr>
          <a:lstStyle/>
          <a:p>
            <a:pPr algn="l">
              <a:lnSpc>
                <a:spcPct val="115000"/>
              </a:lnSpc>
            </a:pPr>
            <a:r>
              <a:rPr sz="1300" b="1">
                <a:solidFill>
                  <a:srgbClr val="F6F9FC"/>
                </a:solidFill>
                <a:latin typeface="Manrope"/>
              </a:rPr>
              <a:t>breaker</a:t>
            </a:r>
            <a:r>
              <a:rPr sz="1300" b="1">
                <a:solidFill>
                  <a:srgbClr val="C7FA70"/>
                </a:solidFill>
                <a:latin typeface="Manrope"/>
              </a:rPr>
              <a:t>.</a:t>
            </a:r>
          </a:p>
        </p:txBody>
      </p:sp>
      <p:sp>
        <p:nvSpPr>
          <p:cNvPr id="8" name="TextBox 7"/>
          <p:cNvSpPr txBox="1"/>
          <p:nvPr/>
        </p:nvSpPr>
        <p:spPr>
          <a:xfrm>
            <a:off x="8716975" y="6254496"/>
            <a:ext cx="2743200" cy="320040"/>
          </a:xfrm>
          <a:prstGeom prst="rect">
            <a:avLst/>
          </a:prstGeom>
          <a:noFill/>
        </p:spPr>
        <p:txBody>
          <a:bodyPr wrap="square" anchor="t" lIns="0" rIns="0" tIns="0" bIns="0">
            <a:spAutoFit/>
          </a:bodyPr>
          <a:lstStyle/>
          <a:p>
            <a:pPr algn="r">
              <a:lnSpc>
                <a:spcPct val="115000"/>
              </a:lnSpc>
            </a:pPr>
            <a:r>
              <a:rPr sz="1100" b="0">
                <a:solidFill>
                  <a:srgbClr val="7F8B9B"/>
                </a:solidFill>
                <a:latin typeface="DM Sans"/>
              </a:rPr>
              <a:t>7 / 8</a:t>
            </a:r>
          </a:p>
        </p:txBody>
      </p:sp>
      <p:sp>
        <p:nvSpPr>
          <p:cNvPr id="9" name="TextBox 8"/>
          <p:cNvSpPr txBox="1"/>
          <p:nvPr/>
        </p:nvSpPr>
        <p:spPr>
          <a:xfrm>
            <a:off x="731520" y="502920"/>
            <a:ext cx="10728655" cy="320040"/>
          </a:xfrm>
          <a:prstGeom prst="rect">
            <a:avLst/>
          </a:prstGeom>
          <a:noFill/>
        </p:spPr>
        <p:txBody>
          <a:bodyPr wrap="square" anchor="t" lIns="0" rIns="0" tIns="0" bIns="0">
            <a:spAutoFit/>
          </a:bodyPr>
          <a:lstStyle/>
          <a:p>
            <a:pPr algn="l">
              <a:lnSpc>
                <a:spcPct val="115000"/>
              </a:lnSpc>
            </a:pPr>
            <a:r>
              <a:rPr sz="1100" b="1">
                <a:solidFill>
                  <a:srgbClr val="C7FA70"/>
                </a:solidFill>
                <a:latin typeface="DM Sans"/>
              </a:rPr>
              <a:t>MISE SUR LE MARCHÉ  </a:t>
            </a:r>
            <a:r>
              <a:rPr sz="1100" b="0">
                <a:solidFill>
                  <a:srgbClr val="A9B4C2"/>
                </a:solidFill>
                <a:latin typeface="DM Sans"/>
              </a:rPr>
              <a:t>aucun pourcentage de part de marché : un entonnoir, chaque étape sourcée</a:t>
            </a:r>
          </a:p>
        </p:txBody>
      </p:sp>
      <p:sp>
        <p:nvSpPr>
          <p:cNvPr id="10" name="Rounded Rectangle 9"/>
          <p:cNvSpPr/>
          <p:nvPr/>
        </p:nvSpPr>
        <p:spPr>
          <a:xfrm>
            <a:off x="10088575" y="457200"/>
            <a:ext cx="1371600" cy="347472"/>
          </a:xfrm>
          <a:prstGeom prst="roundRect">
            <a:avLst>
              <a:gd name="adj" fmla="val 50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88575" y="457200"/>
            <a:ext cx="1371600" cy="347472"/>
          </a:xfrm>
          <a:prstGeom prst="rect">
            <a:avLst/>
          </a:prstGeom>
          <a:noFill/>
        </p:spPr>
        <p:txBody>
          <a:bodyPr wrap="square" anchor="ctr" lIns="0" rIns="0" tIns="0" bIns="0">
            <a:spAutoFit/>
          </a:bodyPr>
          <a:lstStyle/>
          <a:p>
            <a:pPr algn="ctr">
              <a:lnSpc>
                <a:spcPct val="115000"/>
              </a:lnSpc>
            </a:pPr>
            <a:r>
              <a:rPr sz="1000" b="1">
                <a:solidFill>
                  <a:srgbClr val="C7FA70"/>
                </a:solidFill>
                <a:latin typeface="DM Sans"/>
              </a:rPr>
              <a:t>ROMAIN</a:t>
            </a:r>
          </a:p>
        </p:txBody>
      </p:sp>
      <p:sp>
        <p:nvSpPr>
          <p:cNvPr id="12" name="TextBox 11"/>
          <p:cNvSpPr txBox="1"/>
          <p:nvPr/>
        </p:nvSpPr>
        <p:spPr>
          <a:xfrm>
            <a:off x="731520" y="960120"/>
            <a:ext cx="9357055" cy="1463040"/>
          </a:xfrm>
          <a:prstGeom prst="rect">
            <a:avLst/>
          </a:prstGeom>
          <a:noFill/>
        </p:spPr>
        <p:txBody>
          <a:bodyPr wrap="square" anchor="t" lIns="0" rIns="0" tIns="0" bIns="0">
            <a:spAutoFit/>
          </a:bodyPr>
          <a:lstStyle/>
          <a:p>
            <a:pPr algn="l">
              <a:lnSpc>
                <a:spcPct val="102000"/>
              </a:lnSpc>
            </a:pPr>
            <a:r>
              <a:rPr sz="3200" b="1">
                <a:solidFill>
                  <a:srgbClr val="F6F9FC"/>
                </a:solidFill>
                <a:latin typeface="Manrope"/>
              </a:rPr>
              <a:t>Première année : 111 organisations présentées, 5 à 10 clients payants.</a:t>
            </a:r>
          </a:p>
        </p:txBody>
      </p:sp>
      <p:sp>
        <p:nvSpPr>
          <p:cNvPr id="13" name="Rounded Rectangle 12"/>
          <p:cNvSpPr/>
          <p:nvPr/>
        </p:nvSpPr>
        <p:spPr>
          <a:xfrm>
            <a:off x="731520" y="2194560"/>
            <a:ext cx="3155594" cy="137160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377440"/>
            <a:ext cx="2789834" cy="457200"/>
          </a:xfrm>
          <a:prstGeom prst="rect">
            <a:avLst/>
          </a:prstGeom>
          <a:noFill/>
        </p:spPr>
        <p:txBody>
          <a:bodyPr wrap="square" anchor="t" lIns="0" rIns="0" tIns="0" bIns="0">
            <a:spAutoFit/>
          </a:bodyPr>
          <a:lstStyle/>
          <a:p>
            <a:pPr algn="l">
              <a:lnSpc>
                <a:spcPct val="115000"/>
              </a:lnSpc>
            </a:pPr>
            <a:r>
              <a:rPr sz="1600" b="1">
                <a:solidFill>
                  <a:srgbClr val="F6F9FC"/>
                </a:solidFill>
                <a:latin typeface="Manrope"/>
              </a:rPr>
              <a:t>111 contactables</a:t>
            </a:r>
          </a:p>
        </p:txBody>
      </p:sp>
      <p:sp>
        <p:nvSpPr>
          <p:cNvPr id="15" name="TextBox 14"/>
          <p:cNvSpPr txBox="1"/>
          <p:nvPr/>
        </p:nvSpPr>
        <p:spPr>
          <a:xfrm>
            <a:off x="960120" y="2816352"/>
            <a:ext cx="2789834" cy="640080"/>
          </a:xfrm>
          <a:prstGeom prst="rect">
            <a:avLst/>
          </a:prstGeom>
          <a:noFill/>
        </p:spPr>
        <p:txBody>
          <a:bodyPr wrap="square" anchor="t" lIns="0" rIns="0" tIns="0" bIns="0">
            <a:spAutoFit/>
          </a:bodyPr>
          <a:lstStyle/>
          <a:p>
            <a:pPr algn="l">
              <a:lnSpc>
                <a:spcPct val="115000"/>
              </a:lnSpc>
            </a:pPr>
            <a:r>
              <a:rPr sz="1150" b="0">
                <a:solidFill>
                  <a:srgbClr val="A9B4C2"/>
                </a:solidFill>
                <a:latin typeface="DM Sans"/>
              </a:rPr>
              <a:t>Retro9000 30 + équipes de L1 10 + protocoles &gt; 1 M$ sur Avalanche 71, présentées par l'écosystème</a:t>
            </a:r>
          </a:p>
        </p:txBody>
      </p:sp>
      <p:sp>
        <p:nvSpPr>
          <p:cNvPr id="16" name="TextBox 15"/>
          <p:cNvSpPr txBox="1"/>
          <p:nvPr/>
        </p:nvSpPr>
        <p:spPr>
          <a:xfrm>
            <a:off x="3996842" y="2651760"/>
            <a:ext cx="411480" cy="457200"/>
          </a:xfrm>
          <a:prstGeom prst="rect">
            <a:avLst/>
          </a:prstGeom>
          <a:noFill/>
        </p:spPr>
        <p:txBody>
          <a:bodyPr wrap="square" anchor="ctr" lIns="0" rIns="0" tIns="0" bIns="0">
            <a:spAutoFit/>
          </a:bodyPr>
          <a:lstStyle/>
          <a:p>
            <a:pPr algn="ctr">
              <a:lnSpc>
                <a:spcPct val="115000"/>
              </a:lnSpc>
            </a:pPr>
            <a:r>
              <a:rPr sz="2200" b="0">
                <a:solidFill>
                  <a:srgbClr val="C7FA70"/>
                </a:solidFill>
                <a:latin typeface="DM Sans"/>
              </a:rPr>
              <a:t>→</a:t>
            </a:r>
          </a:p>
        </p:txBody>
      </p:sp>
      <p:sp>
        <p:nvSpPr>
          <p:cNvPr id="17" name="Rounded Rectangle 16"/>
          <p:cNvSpPr/>
          <p:nvPr/>
        </p:nvSpPr>
        <p:spPr>
          <a:xfrm>
            <a:off x="4518050" y="2194560"/>
            <a:ext cx="3155594" cy="137160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46650" y="2377440"/>
            <a:ext cx="2789834" cy="457200"/>
          </a:xfrm>
          <a:prstGeom prst="rect">
            <a:avLst/>
          </a:prstGeom>
          <a:noFill/>
        </p:spPr>
        <p:txBody>
          <a:bodyPr wrap="square" anchor="t" lIns="0" rIns="0" tIns="0" bIns="0">
            <a:spAutoFit/>
          </a:bodyPr>
          <a:lstStyle/>
          <a:p>
            <a:pPr algn="l">
              <a:lnSpc>
                <a:spcPct val="115000"/>
              </a:lnSpc>
            </a:pPr>
            <a:r>
              <a:rPr sz="1600" b="1">
                <a:solidFill>
                  <a:srgbClr val="F6F9FC"/>
                </a:solidFill>
                <a:latin typeface="Manrope"/>
              </a:rPr>
              <a:t>56 en observation</a:t>
            </a:r>
          </a:p>
        </p:txBody>
      </p:sp>
      <p:sp>
        <p:nvSpPr>
          <p:cNvPr id="19" name="TextBox 18"/>
          <p:cNvSpPr txBox="1"/>
          <p:nvPr/>
        </p:nvSpPr>
        <p:spPr>
          <a:xfrm>
            <a:off x="4746650" y="2816352"/>
            <a:ext cx="2789834" cy="640080"/>
          </a:xfrm>
          <a:prstGeom prst="rect">
            <a:avLst/>
          </a:prstGeom>
          <a:noFill/>
        </p:spPr>
        <p:txBody>
          <a:bodyPr wrap="square" anchor="t" lIns="0" rIns="0" tIns="0" bIns="0">
            <a:spAutoFit/>
          </a:bodyPr>
          <a:lstStyle/>
          <a:p>
            <a:pPr algn="l">
              <a:lnSpc>
                <a:spcPct val="115000"/>
              </a:lnSpc>
            </a:pPr>
            <a:r>
              <a:rPr sz="1150" b="0">
                <a:solidFill>
                  <a:srgbClr val="A9B4C2"/>
                </a:solidFill>
                <a:latin typeface="DM Sans"/>
              </a:rPr>
              <a:t>× 50 % : une équipe sur deux accepte l'essai gratuit ; seule hypothèse non sourcée, mesurée dès octobre</a:t>
            </a:r>
          </a:p>
        </p:txBody>
      </p:sp>
      <p:sp>
        <p:nvSpPr>
          <p:cNvPr id="20" name="TextBox 19"/>
          <p:cNvSpPr txBox="1"/>
          <p:nvPr/>
        </p:nvSpPr>
        <p:spPr>
          <a:xfrm>
            <a:off x="7783372" y="2651760"/>
            <a:ext cx="411480" cy="457200"/>
          </a:xfrm>
          <a:prstGeom prst="rect">
            <a:avLst/>
          </a:prstGeom>
          <a:noFill/>
        </p:spPr>
        <p:txBody>
          <a:bodyPr wrap="square" anchor="ctr" lIns="0" rIns="0" tIns="0" bIns="0">
            <a:spAutoFit/>
          </a:bodyPr>
          <a:lstStyle/>
          <a:p>
            <a:pPr algn="ctr">
              <a:lnSpc>
                <a:spcPct val="115000"/>
              </a:lnSpc>
            </a:pPr>
            <a:r>
              <a:rPr sz="2200" b="0">
                <a:solidFill>
                  <a:srgbClr val="C7FA70"/>
                </a:solidFill>
                <a:latin typeface="DM Sans"/>
              </a:rPr>
              <a:t>→</a:t>
            </a:r>
          </a:p>
        </p:txBody>
      </p:sp>
      <p:sp>
        <p:nvSpPr>
          <p:cNvPr id="21" name="Rounded Rectangle 20"/>
          <p:cNvSpPr/>
          <p:nvPr/>
        </p:nvSpPr>
        <p:spPr>
          <a:xfrm>
            <a:off x="8304580" y="2194560"/>
            <a:ext cx="3155594" cy="1371600"/>
          </a:xfrm>
          <a:prstGeom prst="roundRect">
            <a:avLst>
              <a:gd name="adj" fmla="val 8000"/>
            </a:avLst>
          </a:prstGeom>
          <a:solidFill>
            <a:srgbClr val="101C2E"/>
          </a:solidFill>
          <a:ln w="9525">
            <a:solidFill>
              <a:srgbClr val="C7F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04580" y="2194560"/>
            <a:ext cx="54864" cy="1371600"/>
          </a:xfrm>
          <a:prstGeom prst="rect">
            <a:avLst/>
          </a:pr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33180" y="2377440"/>
            <a:ext cx="2789834" cy="457200"/>
          </a:xfrm>
          <a:prstGeom prst="rect">
            <a:avLst/>
          </a:prstGeom>
          <a:noFill/>
        </p:spPr>
        <p:txBody>
          <a:bodyPr wrap="square" anchor="t" lIns="0" rIns="0" tIns="0" bIns="0">
            <a:spAutoFit/>
          </a:bodyPr>
          <a:lstStyle/>
          <a:p>
            <a:pPr algn="l">
              <a:lnSpc>
                <a:spcPct val="115000"/>
              </a:lnSpc>
            </a:pPr>
            <a:r>
              <a:rPr sz="1600" b="1">
                <a:solidFill>
                  <a:srgbClr val="F6F9FC"/>
                </a:solidFill>
                <a:latin typeface="Manrope"/>
              </a:rPr>
              <a:t>5 à 10 payants</a:t>
            </a:r>
          </a:p>
        </p:txBody>
      </p:sp>
      <p:sp>
        <p:nvSpPr>
          <p:cNvPr id="24" name="TextBox 23"/>
          <p:cNvSpPr txBox="1"/>
          <p:nvPr/>
        </p:nvSpPr>
        <p:spPr>
          <a:xfrm>
            <a:off x="8533180" y="2816352"/>
            <a:ext cx="2789834" cy="640080"/>
          </a:xfrm>
          <a:prstGeom prst="rect">
            <a:avLst/>
          </a:prstGeom>
          <a:noFill/>
        </p:spPr>
        <p:txBody>
          <a:bodyPr wrap="square" anchor="t" lIns="0" rIns="0" tIns="0" bIns="0">
            <a:spAutoFit/>
          </a:bodyPr>
          <a:lstStyle/>
          <a:p>
            <a:pPr algn="l">
              <a:lnSpc>
                <a:spcPct val="115000"/>
              </a:lnSpc>
            </a:pPr>
            <a:r>
              <a:rPr sz="1150" b="0">
                <a:solidFill>
                  <a:srgbClr val="A9B4C2"/>
                </a:solidFill>
                <a:latin typeface="DM Sans"/>
              </a:rPr>
              <a:t>× 8,9 – 18,5 % : conversion essai → payant du SaaS B2B sans carte bancaire</a:t>
            </a:r>
          </a:p>
        </p:txBody>
      </p:sp>
      <p:sp>
        <p:nvSpPr>
          <p:cNvPr id="25" name="TextBox 24"/>
          <p:cNvSpPr txBox="1"/>
          <p:nvPr/>
        </p:nvSpPr>
        <p:spPr>
          <a:xfrm>
            <a:off x="731520" y="3813047"/>
            <a:ext cx="2240280" cy="310896"/>
          </a:xfrm>
          <a:prstGeom prst="rect">
            <a:avLst/>
          </a:prstGeom>
          <a:noFill/>
        </p:spPr>
        <p:txBody>
          <a:bodyPr wrap="square" anchor="t" lIns="0" rIns="0" tIns="0" bIns="0">
            <a:spAutoFit/>
          </a:bodyPr>
          <a:lstStyle/>
          <a:p>
            <a:pPr algn="l">
              <a:lnSpc>
                <a:spcPct val="105000"/>
              </a:lnSpc>
            </a:pPr>
            <a:r>
              <a:rPr sz="1000" b="0">
                <a:solidFill>
                  <a:srgbClr val="7F8B9B"/>
                </a:solidFill>
                <a:latin typeface="DM Sans"/>
              </a:rPr>
              <a:t>Quand</a:t>
            </a:r>
          </a:p>
        </p:txBody>
      </p:sp>
      <p:sp>
        <p:nvSpPr>
          <p:cNvPr id="26" name="TextBox 25"/>
          <p:cNvSpPr txBox="1"/>
          <p:nvPr/>
        </p:nvSpPr>
        <p:spPr>
          <a:xfrm>
            <a:off x="3108960" y="3813047"/>
            <a:ext cx="8214055" cy="310896"/>
          </a:xfrm>
          <a:prstGeom prst="rect">
            <a:avLst/>
          </a:prstGeom>
          <a:noFill/>
        </p:spPr>
        <p:txBody>
          <a:bodyPr wrap="square" anchor="t" lIns="0" rIns="0" tIns="0" bIns="0">
            <a:spAutoFit/>
          </a:bodyPr>
          <a:lstStyle/>
          <a:p>
            <a:pPr algn="l">
              <a:lnSpc>
                <a:spcPct val="105000"/>
              </a:lnSpc>
            </a:pPr>
            <a:r>
              <a:rPr sz="1000" b="0">
                <a:solidFill>
                  <a:srgbClr val="7F8B9B"/>
                </a:solidFill>
                <a:latin typeface="DM Sans"/>
              </a:rPr>
              <a:t>Jalon</a:t>
            </a:r>
          </a:p>
        </p:txBody>
      </p:sp>
      <p:sp>
        <p:nvSpPr>
          <p:cNvPr id="27" name="Rectangle 26"/>
          <p:cNvSpPr/>
          <p:nvPr/>
        </p:nvSpPr>
        <p:spPr>
          <a:xfrm>
            <a:off x="731520" y="4053935"/>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123943"/>
            <a:ext cx="2240280" cy="310896"/>
          </a:xfrm>
          <a:prstGeom prst="rect">
            <a:avLst/>
          </a:prstGeom>
          <a:noFill/>
        </p:spPr>
        <p:txBody>
          <a:bodyPr wrap="square" anchor="t" lIns="0" rIns="0" tIns="0" bIns="0">
            <a:spAutoFit/>
          </a:bodyPr>
          <a:lstStyle/>
          <a:p>
            <a:pPr algn="l">
              <a:lnSpc>
                <a:spcPct val="105000"/>
              </a:lnSpc>
            </a:pPr>
            <a:r>
              <a:rPr sz="1150" b="1">
                <a:solidFill>
                  <a:srgbClr val="F6F9FC"/>
                </a:solidFill>
                <a:latin typeface="DM Sans"/>
              </a:rPr>
              <a:t>oct. 2026</a:t>
            </a:r>
          </a:p>
        </p:txBody>
      </p:sp>
      <p:sp>
        <p:nvSpPr>
          <p:cNvPr id="29" name="TextBox 28"/>
          <p:cNvSpPr txBox="1"/>
          <p:nvPr/>
        </p:nvSpPr>
        <p:spPr>
          <a:xfrm>
            <a:off x="3108960" y="4123943"/>
            <a:ext cx="8214055" cy="310896"/>
          </a:xfrm>
          <a:prstGeom prst="rect">
            <a:avLst/>
          </a:prstGeom>
          <a:noFill/>
        </p:spPr>
        <p:txBody>
          <a:bodyPr wrap="square" anchor="t" lIns="0" rIns="0" tIns="0" bIns="0">
            <a:spAutoFit/>
          </a:bodyPr>
          <a:lstStyle/>
          <a:p>
            <a:pPr algn="l">
              <a:lnSpc>
                <a:spcPct val="105000"/>
              </a:lnSpc>
            </a:pPr>
            <a:r>
              <a:rPr sz="1150" b="0">
                <a:solidFill>
                  <a:srgbClr val="E7EDF4"/>
                </a:solidFill>
                <a:latin typeface="DM Sans"/>
              </a:rPr>
              <a:t>dépôt public · ≥ 10 organisations en observation · dossier subvention</a:t>
            </a:r>
          </a:p>
        </p:txBody>
      </p:sp>
      <p:sp>
        <p:nvSpPr>
          <p:cNvPr id="30" name="Rectangle 29"/>
          <p:cNvSpPr/>
          <p:nvPr/>
        </p:nvSpPr>
        <p:spPr>
          <a:xfrm>
            <a:off x="731520" y="4364831"/>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434839"/>
            <a:ext cx="2240280" cy="310896"/>
          </a:xfrm>
          <a:prstGeom prst="rect">
            <a:avLst/>
          </a:prstGeom>
          <a:noFill/>
        </p:spPr>
        <p:txBody>
          <a:bodyPr wrap="square" anchor="t" lIns="0" rIns="0" tIns="0" bIns="0">
            <a:spAutoFit/>
          </a:bodyPr>
          <a:lstStyle/>
          <a:p>
            <a:pPr algn="l">
              <a:lnSpc>
                <a:spcPct val="105000"/>
              </a:lnSpc>
            </a:pPr>
            <a:r>
              <a:rPr sz="1150" b="1">
                <a:solidFill>
                  <a:srgbClr val="F6F9FC"/>
                </a:solidFill>
                <a:latin typeface="DM Sans"/>
              </a:rPr>
              <a:t>nov. – déc.</a:t>
            </a:r>
          </a:p>
        </p:txBody>
      </p:sp>
      <p:sp>
        <p:nvSpPr>
          <p:cNvPr id="32" name="TextBox 31"/>
          <p:cNvSpPr txBox="1"/>
          <p:nvPr/>
        </p:nvSpPr>
        <p:spPr>
          <a:xfrm>
            <a:off x="3108960" y="4434839"/>
            <a:ext cx="8214055" cy="310896"/>
          </a:xfrm>
          <a:prstGeom prst="rect">
            <a:avLst/>
          </a:prstGeom>
          <a:noFill/>
        </p:spPr>
        <p:txBody>
          <a:bodyPr wrap="square" anchor="t" lIns="0" rIns="0" tIns="0" bIns="0">
            <a:spAutoFit/>
          </a:bodyPr>
          <a:lstStyle/>
          <a:p>
            <a:pPr algn="l">
              <a:lnSpc>
                <a:spcPct val="105000"/>
              </a:lnSpc>
            </a:pPr>
            <a:r>
              <a:rPr sz="1150" b="0">
                <a:solidFill>
                  <a:srgbClr val="E7EDF4"/>
                </a:solidFill>
                <a:latin typeface="DM Sans"/>
              </a:rPr>
              <a:t>greffon sur le Safe du client · mesurer la part des équipes qui acceptent l'essai (hypothèse : une sur deux)</a:t>
            </a:r>
          </a:p>
        </p:txBody>
      </p:sp>
      <p:sp>
        <p:nvSpPr>
          <p:cNvPr id="33" name="Rectangle 32"/>
          <p:cNvSpPr/>
          <p:nvPr/>
        </p:nvSpPr>
        <p:spPr>
          <a:xfrm>
            <a:off x="731520" y="4675727"/>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4745735"/>
            <a:ext cx="2240280" cy="310896"/>
          </a:xfrm>
          <a:prstGeom prst="rect">
            <a:avLst/>
          </a:prstGeom>
          <a:noFill/>
        </p:spPr>
        <p:txBody>
          <a:bodyPr wrap="square" anchor="t" lIns="0" rIns="0" tIns="0" bIns="0">
            <a:spAutoFit/>
          </a:bodyPr>
          <a:lstStyle/>
          <a:p>
            <a:pPr algn="l">
              <a:lnSpc>
                <a:spcPct val="105000"/>
              </a:lnSpc>
            </a:pPr>
            <a:r>
              <a:rPr sz="1150" b="1">
                <a:solidFill>
                  <a:srgbClr val="F6F9FC"/>
                </a:solidFill>
                <a:latin typeface="DM Sans"/>
              </a:rPr>
              <a:t>janv. 2027</a:t>
            </a:r>
          </a:p>
        </p:txBody>
      </p:sp>
      <p:sp>
        <p:nvSpPr>
          <p:cNvPr id="35" name="TextBox 34"/>
          <p:cNvSpPr txBox="1"/>
          <p:nvPr/>
        </p:nvSpPr>
        <p:spPr>
          <a:xfrm>
            <a:off x="3108960" y="4745735"/>
            <a:ext cx="8214055" cy="310896"/>
          </a:xfrm>
          <a:prstGeom prst="rect">
            <a:avLst/>
          </a:prstGeom>
          <a:noFill/>
        </p:spPr>
        <p:txBody>
          <a:bodyPr wrap="square" anchor="t" lIns="0" rIns="0" tIns="0" bIns="0">
            <a:spAutoFit/>
          </a:bodyPr>
          <a:lstStyle/>
          <a:p>
            <a:pPr algn="l">
              <a:lnSpc>
                <a:spcPct val="105000"/>
              </a:lnSpc>
            </a:pPr>
            <a:r>
              <a:rPr sz="1150" b="0">
                <a:solidFill>
                  <a:srgbClr val="E7EDF4"/>
                </a:solidFill>
                <a:latin typeface="DM Sans"/>
              </a:rPr>
              <a:t>contrat gelé, audit externe, puis premiers clients payants</a:t>
            </a:r>
          </a:p>
        </p:txBody>
      </p:sp>
      <p:sp>
        <p:nvSpPr>
          <p:cNvPr id="36" name="Rectangle 35"/>
          <p:cNvSpPr/>
          <p:nvPr/>
        </p:nvSpPr>
        <p:spPr>
          <a:xfrm>
            <a:off x="731520" y="4986623"/>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056631"/>
            <a:ext cx="2240280" cy="310896"/>
          </a:xfrm>
          <a:prstGeom prst="rect">
            <a:avLst/>
          </a:prstGeom>
          <a:noFill/>
        </p:spPr>
        <p:txBody>
          <a:bodyPr wrap="square" anchor="t" lIns="0" rIns="0" tIns="0" bIns="0">
            <a:spAutoFit/>
          </a:bodyPr>
          <a:lstStyle/>
          <a:p>
            <a:pPr algn="l">
              <a:lnSpc>
                <a:spcPct val="105000"/>
              </a:lnSpc>
            </a:pPr>
            <a:r>
              <a:rPr sz="1150" b="1">
                <a:solidFill>
                  <a:srgbClr val="F6F9FC"/>
                </a:solidFill>
                <a:latin typeface="DM Sans"/>
              </a:rPr>
              <a:t>mars 2027</a:t>
            </a:r>
          </a:p>
        </p:txBody>
      </p:sp>
      <p:sp>
        <p:nvSpPr>
          <p:cNvPr id="38" name="TextBox 37"/>
          <p:cNvSpPr txBox="1"/>
          <p:nvPr/>
        </p:nvSpPr>
        <p:spPr>
          <a:xfrm>
            <a:off x="3108960" y="5056631"/>
            <a:ext cx="8214055" cy="310896"/>
          </a:xfrm>
          <a:prstGeom prst="rect">
            <a:avLst/>
          </a:prstGeom>
          <a:noFill/>
        </p:spPr>
        <p:txBody>
          <a:bodyPr wrap="square" anchor="t" lIns="0" rIns="0" tIns="0" bIns="0">
            <a:spAutoFit/>
          </a:bodyPr>
          <a:lstStyle/>
          <a:p>
            <a:pPr algn="l">
              <a:lnSpc>
                <a:spcPct val="105000"/>
              </a:lnSpc>
            </a:pPr>
            <a:r>
              <a:rPr sz="1150" b="0">
                <a:solidFill>
                  <a:srgbClr val="E7EDF4"/>
                </a:solidFill>
                <a:latin typeface="DM Sans"/>
              </a:rPr>
              <a:t>même code sur une 2e chaîne EVM : marché × 11 à 19</a:t>
            </a:r>
          </a:p>
        </p:txBody>
      </p:sp>
      <p:sp>
        <p:nvSpPr>
          <p:cNvPr id="39" name="Rectangle 38"/>
          <p:cNvSpPr/>
          <p:nvPr/>
        </p:nvSpPr>
        <p:spPr>
          <a:xfrm>
            <a:off x="731520" y="5297519"/>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367527"/>
            <a:ext cx="2240280" cy="310896"/>
          </a:xfrm>
          <a:prstGeom prst="rect">
            <a:avLst/>
          </a:prstGeom>
          <a:noFill/>
        </p:spPr>
        <p:txBody>
          <a:bodyPr wrap="square" anchor="t" lIns="0" rIns="0" tIns="0" bIns="0">
            <a:spAutoFit/>
          </a:bodyPr>
          <a:lstStyle/>
          <a:p>
            <a:pPr algn="l">
              <a:lnSpc>
                <a:spcPct val="105000"/>
              </a:lnSpc>
            </a:pPr>
            <a:r>
              <a:rPr sz="1150" b="1">
                <a:solidFill>
                  <a:srgbClr val="F6F9FC"/>
                </a:solidFill>
                <a:latin typeface="DM Sans"/>
              </a:rPr>
              <a:t>T2 – T3 2027</a:t>
            </a:r>
          </a:p>
        </p:txBody>
      </p:sp>
      <p:sp>
        <p:nvSpPr>
          <p:cNvPr id="41" name="TextBox 40"/>
          <p:cNvSpPr txBox="1"/>
          <p:nvPr/>
        </p:nvSpPr>
        <p:spPr>
          <a:xfrm>
            <a:off x="3108960" y="5367527"/>
            <a:ext cx="8214055" cy="310896"/>
          </a:xfrm>
          <a:prstGeom prst="rect">
            <a:avLst/>
          </a:prstGeom>
          <a:noFill/>
        </p:spPr>
        <p:txBody>
          <a:bodyPr wrap="square" anchor="t" lIns="0" rIns="0" tIns="0" bIns="0">
            <a:spAutoFit/>
          </a:bodyPr>
          <a:lstStyle/>
          <a:p>
            <a:pPr algn="l">
              <a:lnSpc>
                <a:spcPct val="105000"/>
              </a:lnSpc>
            </a:pPr>
            <a:r>
              <a:rPr sz="1150" b="0">
                <a:solidFill>
                  <a:srgbClr val="E7EDF4"/>
                </a:solidFill>
                <a:latin typeface="DM Sans"/>
              </a:rPr>
              <a:t>point mort : 10 clients Standard (coûts fixes 4 300 €/mois : 2 fondateurs à 2 000 € + 300 € d'infra) ; Avalanche seul suffit à 18,5 % de conversion, un écosystème EVM de plus à 8,9 % ; plus tôt avec un Premium</a:t>
            </a:r>
          </a:p>
        </p:txBody>
      </p:sp>
      <p:sp>
        <p:nvSpPr>
          <p:cNvPr id="42" name="Rectangle 41"/>
          <p:cNvSpPr/>
          <p:nvPr/>
        </p:nvSpPr>
        <p:spPr>
          <a:xfrm>
            <a:off x="731520" y="5608415"/>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265615" y="-822960"/>
            <a:ext cx="3291840" cy="3679115"/>
          </a:xfrm>
          <a:custGeom>
            <a:avLst/>
            <a:gdLst/>
            <a:ahLst/>
            <a:cxnLst/>
            <a:rect l="l" t="t" r="r" b="b"/>
            <a:pathLst>
              <a:path w="3291840" h="3679115">
                <a:moveTo>
                  <a:pt x="0" y="0"/>
                </a:moveTo>
                <a:lnTo>
                  <a:pt x="2304288" y="0"/>
                </a:lnTo>
                <a:lnTo>
                  <a:pt x="3291840" y="956569"/>
                </a:lnTo>
                <a:lnTo>
                  <a:pt x="3291840" y="3679115"/>
                </a:lnTo>
                <a:lnTo>
                  <a:pt x="987552" y="3679115"/>
                </a:lnTo>
                <a:lnTo>
                  <a:pt x="0" y="2722545"/>
                </a:lnTo>
                <a:close/>
              </a:path>
            </a:pathLst>
          </a:custGeom>
          <a:solidFill>
            <a:srgbClr val="0B17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65615" y="-528631"/>
            <a:ext cx="3291840" cy="3090456"/>
          </a:xfrm>
          <a:prstGeom prst="rect">
            <a:avLst/>
          </a:prstGeom>
          <a:noFill/>
        </p:spPr>
        <p:txBody>
          <a:bodyPr wrap="square" anchor="ctr" lIns="0" rIns="0" tIns="0" bIns="0">
            <a:spAutoFit/>
          </a:bodyPr>
          <a:lstStyle/>
          <a:p>
            <a:pPr algn="ctr">
              <a:lnSpc>
                <a:spcPct val="115000"/>
              </a:lnSpc>
            </a:pPr>
            <a:r>
              <a:rPr sz="12800" b="1">
                <a:solidFill>
                  <a:srgbClr val="0B1728"/>
                </a:solidFill>
                <a:latin typeface="Manrope"/>
              </a:rPr>
              <a:t>B</a:t>
            </a:r>
          </a:p>
        </p:txBody>
      </p:sp>
      <p:sp>
        <p:nvSpPr>
          <p:cNvPr id="5" name="Freeform 4"/>
          <p:cNvSpPr/>
          <p:nvPr/>
        </p:nvSpPr>
        <p:spPr>
          <a:xfrm>
            <a:off x="731520" y="6291072"/>
            <a:ext cx="237744" cy="265713"/>
          </a:xfrm>
          <a:custGeom>
            <a:avLst/>
            <a:gdLst/>
            <a:ahLst/>
            <a:cxnLst/>
            <a:rect l="l" t="t" r="r" b="b"/>
            <a:pathLst>
              <a:path w="237744" h="265713">
                <a:moveTo>
                  <a:pt x="0" y="0"/>
                </a:moveTo>
                <a:lnTo>
                  <a:pt x="166420" y="0"/>
                </a:lnTo>
                <a:lnTo>
                  <a:pt x="237744" y="69085"/>
                </a:lnTo>
                <a:lnTo>
                  <a:pt x="237744" y="265713"/>
                </a:lnTo>
                <a:lnTo>
                  <a:pt x="71323" y="265713"/>
                </a:lnTo>
                <a:lnTo>
                  <a:pt x="0" y="196627"/>
                </a:lnTo>
                <a:close/>
              </a:path>
            </a:pathLst>
          </a:cu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12329"/>
            <a:ext cx="237744" cy="223198"/>
          </a:xfrm>
          <a:prstGeom prst="rect">
            <a:avLst/>
          </a:prstGeom>
          <a:noFill/>
        </p:spPr>
        <p:txBody>
          <a:bodyPr wrap="square" anchor="ctr" lIns="0" rIns="0" tIns="0" bIns="0">
            <a:spAutoFit/>
          </a:bodyPr>
          <a:lstStyle/>
          <a:p>
            <a:pPr algn="ctr">
              <a:lnSpc>
                <a:spcPct val="115000"/>
              </a:lnSpc>
            </a:pPr>
            <a:r>
              <a:rPr sz="900" b="1">
                <a:solidFill>
                  <a:srgbClr val="142008"/>
                </a:solidFill>
                <a:latin typeface="Manrope"/>
              </a:rPr>
              <a:t>B</a:t>
            </a:r>
          </a:p>
        </p:txBody>
      </p:sp>
      <p:sp>
        <p:nvSpPr>
          <p:cNvPr id="7" name="TextBox 6"/>
          <p:cNvSpPr txBox="1"/>
          <p:nvPr/>
        </p:nvSpPr>
        <p:spPr>
          <a:xfrm>
            <a:off x="1060704" y="6245352"/>
            <a:ext cx="1828800" cy="365760"/>
          </a:xfrm>
          <a:prstGeom prst="rect">
            <a:avLst/>
          </a:prstGeom>
          <a:noFill/>
        </p:spPr>
        <p:txBody>
          <a:bodyPr wrap="square" anchor="t" lIns="0" rIns="0" tIns="0" bIns="0">
            <a:spAutoFit/>
          </a:bodyPr>
          <a:lstStyle/>
          <a:p>
            <a:pPr algn="l">
              <a:lnSpc>
                <a:spcPct val="115000"/>
              </a:lnSpc>
            </a:pPr>
            <a:r>
              <a:rPr sz="1300" b="1">
                <a:solidFill>
                  <a:srgbClr val="F6F9FC"/>
                </a:solidFill>
                <a:latin typeface="Manrope"/>
              </a:rPr>
              <a:t>breaker</a:t>
            </a:r>
            <a:r>
              <a:rPr sz="1300" b="1">
                <a:solidFill>
                  <a:srgbClr val="C7FA70"/>
                </a:solidFill>
                <a:latin typeface="Manrope"/>
              </a:rPr>
              <a:t>.</a:t>
            </a:r>
          </a:p>
        </p:txBody>
      </p:sp>
      <p:sp>
        <p:nvSpPr>
          <p:cNvPr id="8" name="TextBox 7"/>
          <p:cNvSpPr txBox="1"/>
          <p:nvPr/>
        </p:nvSpPr>
        <p:spPr>
          <a:xfrm>
            <a:off x="8716975" y="6254496"/>
            <a:ext cx="2743200" cy="320040"/>
          </a:xfrm>
          <a:prstGeom prst="rect">
            <a:avLst/>
          </a:prstGeom>
          <a:noFill/>
        </p:spPr>
        <p:txBody>
          <a:bodyPr wrap="square" anchor="t" lIns="0" rIns="0" tIns="0" bIns="0">
            <a:spAutoFit/>
          </a:bodyPr>
          <a:lstStyle/>
          <a:p>
            <a:pPr algn="r">
              <a:lnSpc>
                <a:spcPct val="115000"/>
              </a:lnSpc>
            </a:pPr>
            <a:r>
              <a:rPr sz="1100" b="0">
                <a:solidFill>
                  <a:srgbClr val="7F8B9B"/>
                </a:solidFill>
                <a:latin typeface="DM Sans"/>
              </a:rPr>
              <a:t>8 / 8</a:t>
            </a:r>
          </a:p>
        </p:txBody>
      </p:sp>
      <p:sp>
        <p:nvSpPr>
          <p:cNvPr id="9" name="TextBox 8"/>
          <p:cNvSpPr txBox="1"/>
          <p:nvPr/>
        </p:nvSpPr>
        <p:spPr>
          <a:xfrm>
            <a:off x="731520" y="502920"/>
            <a:ext cx="10728655" cy="320040"/>
          </a:xfrm>
          <a:prstGeom prst="rect">
            <a:avLst/>
          </a:prstGeom>
          <a:noFill/>
        </p:spPr>
        <p:txBody>
          <a:bodyPr wrap="square" anchor="t" lIns="0" rIns="0" tIns="0" bIns="0">
            <a:spAutoFit/>
          </a:bodyPr>
          <a:lstStyle/>
          <a:p>
            <a:pPr algn="l">
              <a:lnSpc>
                <a:spcPct val="115000"/>
              </a:lnSpc>
            </a:pPr>
            <a:r>
              <a:rPr sz="1100" b="1">
                <a:solidFill>
                  <a:srgbClr val="C7FA70"/>
                </a:solidFill>
                <a:latin typeface="DM Sans"/>
              </a:rPr>
              <a:t>ÉQUIPE · LIMITES · SUITE  </a:t>
            </a:r>
            <a:r>
              <a:rPr sz="1100" b="0">
                <a:solidFill>
                  <a:srgbClr val="A9B4C2"/>
                </a:solidFill>
                <a:latin typeface="DM Sans"/>
              </a:rPr>
              <a:t>36 heures</a:t>
            </a:r>
          </a:p>
        </p:txBody>
      </p:sp>
      <p:sp>
        <p:nvSpPr>
          <p:cNvPr id="10" name="Rounded Rectangle 9"/>
          <p:cNvSpPr/>
          <p:nvPr/>
        </p:nvSpPr>
        <p:spPr>
          <a:xfrm>
            <a:off x="10088575" y="457200"/>
            <a:ext cx="1371600" cy="347472"/>
          </a:xfrm>
          <a:prstGeom prst="roundRect">
            <a:avLst>
              <a:gd name="adj" fmla="val 50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88575" y="457200"/>
            <a:ext cx="1371600" cy="347472"/>
          </a:xfrm>
          <a:prstGeom prst="rect">
            <a:avLst/>
          </a:prstGeom>
          <a:noFill/>
        </p:spPr>
        <p:txBody>
          <a:bodyPr wrap="square" anchor="ctr" lIns="0" rIns="0" tIns="0" bIns="0">
            <a:spAutoFit/>
          </a:bodyPr>
          <a:lstStyle/>
          <a:p>
            <a:pPr algn="ctr">
              <a:lnSpc>
                <a:spcPct val="115000"/>
              </a:lnSpc>
            </a:pPr>
            <a:r>
              <a:rPr sz="1000" b="1">
                <a:solidFill>
                  <a:srgbClr val="C7FA70"/>
                </a:solidFill>
                <a:latin typeface="DM Sans"/>
              </a:rPr>
              <a:t>TIMÉO · ROMAIN</a:t>
            </a:r>
          </a:p>
        </p:txBody>
      </p:sp>
      <p:sp>
        <p:nvSpPr>
          <p:cNvPr id="12" name="TextBox 11"/>
          <p:cNvSpPr txBox="1"/>
          <p:nvPr/>
        </p:nvSpPr>
        <p:spPr>
          <a:xfrm>
            <a:off x="731520" y="960120"/>
            <a:ext cx="9357055" cy="1463040"/>
          </a:xfrm>
          <a:prstGeom prst="rect">
            <a:avLst/>
          </a:prstGeom>
          <a:noFill/>
        </p:spPr>
        <p:txBody>
          <a:bodyPr wrap="square" anchor="t" lIns="0" rIns="0" tIns="0" bIns="0">
            <a:spAutoFit/>
          </a:bodyPr>
          <a:lstStyle/>
          <a:p>
            <a:pPr algn="l">
              <a:lnSpc>
                <a:spcPct val="102000"/>
              </a:lnSpc>
            </a:pPr>
            <a:r>
              <a:rPr sz="3600" b="1">
                <a:solidFill>
                  <a:srgbClr val="F6F9FC"/>
                </a:solidFill>
                <a:latin typeface="Manrope"/>
              </a:rPr>
              <a:t>Conçu pour être vérifié, pas pour être cru.</a:t>
            </a:r>
          </a:p>
        </p:txBody>
      </p:sp>
      <p:sp>
        <p:nvSpPr>
          <p:cNvPr id="13" name="TextBox 12"/>
          <p:cNvSpPr txBox="1"/>
          <p:nvPr/>
        </p:nvSpPr>
        <p:spPr>
          <a:xfrm>
            <a:off x="731520" y="2286000"/>
            <a:ext cx="5181447" cy="365760"/>
          </a:xfrm>
          <a:prstGeom prst="rect">
            <a:avLst/>
          </a:prstGeom>
          <a:noFill/>
        </p:spPr>
        <p:txBody>
          <a:bodyPr wrap="square" anchor="t" lIns="0" rIns="0" tIns="0" bIns="0">
            <a:spAutoFit/>
          </a:bodyPr>
          <a:lstStyle/>
          <a:p>
            <a:pPr algn="l">
              <a:lnSpc>
                <a:spcPct val="115000"/>
              </a:lnSpc>
            </a:pPr>
            <a:r>
              <a:rPr sz="1400" b="1">
                <a:solidFill>
                  <a:srgbClr val="FFC481"/>
                </a:solidFill>
                <a:latin typeface="DM Sans"/>
              </a:rPr>
              <a:t>Ce qu'on ne cache pas</a:t>
            </a:r>
          </a:p>
        </p:txBody>
      </p:sp>
      <p:sp>
        <p:nvSpPr>
          <p:cNvPr id="14" name="TextBox 13"/>
          <p:cNvSpPr txBox="1"/>
          <p:nvPr/>
        </p:nvSpPr>
        <p:spPr>
          <a:xfrm>
            <a:off x="731520" y="2697480"/>
            <a:ext cx="5181447" cy="2194560"/>
          </a:xfrm>
          <a:prstGeom prst="rect">
            <a:avLst/>
          </a:prstGeom>
          <a:noFill/>
        </p:spPr>
        <p:txBody>
          <a:bodyPr wrap="square" anchor="t" lIns="0" rIns="0" tIns="0" bIns="0">
            <a:spAutoFit/>
          </a:bodyPr>
          <a:lstStyle/>
          <a:p>
            <a:pPr algn="l">
              <a:lnSpc>
                <a:spcPct val="135000"/>
              </a:lnSpc>
            </a:pPr>
            <a:r>
              <a:rPr sz="1400" b="0">
                <a:solidFill>
                  <a:srgbClr val="E7EDF4"/>
                </a:solidFill>
                <a:latin typeface="DM Sans"/>
              </a:rPr>
              <a:t>•  Données synthétiques : une organisation fictive, trois mois de trafic.</a:t>
            </a:r>
          </a:p>
          <a:p>
            <a:pPr algn="l">
              <a:lnSpc>
                <a:spcPct val="135000"/>
              </a:lnSpc>
            </a:pPr>
            <a:r>
              <a:rPr sz="1400" b="0">
                <a:solidFill>
                  <a:srgbClr val="E7EDF4"/>
                </a:solidFill>
                <a:latin typeface="DM Sans"/>
              </a:rPr>
              <a:t>•  Contrat non audité par un tiers ; réseau de test.</a:t>
            </a:r>
          </a:p>
          <a:p>
            <a:pPr algn="l">
              <a:lnSpc>
                <a:spcPct val="135000"/>
              </a:lnSpc>
            </a:pPr>
            <a:r>
              <a:rPr sz="1400" b="0">
                <a:solidFill>
                  <a:srgbClr val="E7EDF4"/>
                </a:solidFill>
                <a:latin typeface="DM Sans"/>
              </a:rPr>
              <a:t>•  Le coffre de la démo tient lieu du Safe du client : le greffon reste à écrire.</a:t>
            </a:r>
          </a:p>
          <a:p>
            <a:pPr algn="l">
              <a:lnSpc>
                <a:spcPct val="135000"/>
              </a:lnSpc>
            </a:pPr>
            <a:r>
              <a:rPr sz="1400" b="0">
                <a:solidFill>
                  <a:srgbClr val="E7EDF4"/>
                </a:solidFill>
                <a:latin typeface="DM Sans"/>
              </a:rPr>
              <a:t>•  Aucun client interrogé, aucun prix validé par le marché.</a:t>
            </a:r>
          </a:p>
        </p:txBody>
      </p:sp>
      <p:sp>
        <p:nvSpPr>
          <p:cNvPr id="15" name="TextBox 14"/>
          <p:cNvSpPr txBox="1"/>
          <p:nvPr/>
        </p:nvSpPr>
        <p:spPr>
          <a:xfrm>
            <a:off x="6278727" y="2286000"/>
            <a:ext cx="5181447" cy="365760"/>
          </a:xfrm>
          <a:prstGeom prst="rect">
            <a:avLst/>
          </a:prstGeom>
          <a:noFill/>
        </p:spPr>
        <p:txBody>
          <a:bodyPr wrap="square" anchor="t" lIns="0" rIns="0" tIns="0" bIns="0">
            <a:spAutoFit/>
          </a:bodyPr>
          <a:lstStyle/>
          <a:p>
            <a:pPr algn="l">
              <a:lnSpc>
                <a:spcPct val="115000"/>
              </a:lnSpc>
            </a:pPr>
            <a:r>
              <a:rPr sz="1400" b="1">
                <a:solidFill>
                  <a:srgbClr val="C7FA70"/>
                </a:solidFill>
                <a:latin typeface="DM Sans"/>
              </a:rPr>
              <a:t>Les 90 prochains jours</a:t>
            </a:r>
          </a:p>
        </p:txBody>
      </p:sp>
      <p:sp>
        <p:nvSpPr>
          <p:cNvPr id="16" name="TextBox 15"/>
          <p:cNvSpPr txBox="1"/>
          <p:nvPr/>
        </p:nvSpPr>
        <p:spPr>
          <a:xfrm>
            <a:off x="6278727" y="2697480"/>
            <a:ext cx="5181447" cy="2194560"/>
          </a:xfrm>
          <a:prstGeom prst="rect">
            <a:avLst/>
          </a:prstGeom>
          <a:noFill/>
        </p:spPr>
        <p:txBody>
          <a:bodyPr wrap="square" anchor="t" lIns="0" rIns="0" tIns="0" bIns="0">
            <a:spAutoFit/>
          </a:bodyPr>
          <a:lstStyle/>
          <a:p>
            <a:pPr algn="l">
              <a:lnSpc>
                <a:spcPct val="135000"/>
              </a:lnSpc>
            </a:pPr>
            <a:r>
              <a:rPr sz="1400" b="0">
                <a:solidFill>
                  <a:srgbClr val="E7EDF4"/>
                </a:solidFill>
                <a:latin typeface="DM Sans"/>
              </a:rPr>
              <a:t>•  Dès ce mois-ci : 10 organisations en observation gratuite, présentées par l'écosystème Avalanche.</a:t>
            </a:r>
          </a:p>
          <a:p>
            <a:pPr algn="l">
              <a:lnSpc>
                <a:spcPct val="135000"/>
              </a:lnSpc>
            </a:pPr>
            <a:r>
              <a:rPr sz="1400" b="0">
                <a:solidFill>
                  <a:srgbClr val="E7EDF4"/>
                </a:solidFill>
                <a:latin typeface="DM Sans"/>
              </a:rPr>
              <a:t>•  Greffon sur le Safe du client · notifications · rejeu de Bybit et Drift sur données réelles.</a:t>
            </a:r>
          </a:p>
          <a:p>
            <a:pPr algn="l">
              <a:lnSpc>
                <a:spcPct val="135000"/>
              </a:lnSpc>
            </a:pPr>
            <a:r>
              <a:rPr sz="1400" b="0">
                <a:solidFill>
                  <a:srgbClr val="E7EDF4"/>
                </a:solidFill>
                <a:latin typeface="DM Sans"/>
              </a:rPr>
              <a:t>•  Audit externe financé par subvention, avant le premier euro.</a:t>
            </a:r>
          </a:p>
        </p:txBody>
      </p:sp>
      <p:sp>
        <p:nvSpPr>
          <p:cNvPr id="17" name="Rectangle 16"/>
          <p:cNvSpPr/>
          <p:nvPr/>
        </p:nvSpPr>
        <p:spPr>
          <a:xfrm>
            <a:off x="731520" y="4983480"/>
            <a:ext cx="73152" cy="685800"/>
          </a:xfrm>
          <a:prstGeom prst="rect">
            <a:avLst/>
          </a:pr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937760"/>
            <a:ext cx="10728655" cy="822960"/>
          </a:xfrm>
          <a:prstGeom prst="rect">
            <a:avLst/>
          </a:prstGeom>
          <a:noFill/>
        </p:spPr>
        <p:txBody>
          <a:bodyPr wrap="square" anchor="ctr" lIns="0" rIns="0" tIns="0" bIns="0">
            <a:spAutoFit/>
          </a:bodyPr>
          <a:lstStyle/>
          <a:p>
            <a:pPr algn="l">
              <a:lnSpc>
                <a:spcPct val="115000"/>
              </a:lnSpc>
            </a:pPr>
            <a:r>
              <a:rPr sz="2600" b="1">
                <a:solidFill>
                  <a:srgbClr val="F6F9FC"/>
                </a:solidFill>
                <a:latin typeface="Manrope"/>
              </a:rPr>
              <a:t>Vos fonds. Vos signataires. Votre dernier mot.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265615" y="-822960"/>
            <a:ext cx="3291840" cy="3679115"/>
          </a:xfrm>
          <a:custGeom>
            <a:avLst/>
            <a:gdLst/>
            <a:ahLst/>
            <a:cxnLst/>
            <a:rect l="l" t="t" r="r" b="b"/>
            <a:pathLst>
              <a:path w="3291840" h="3679115">
                <a:moveTo>
                  <a:pt x="0" y="0"/>
                </a:moveTo>
                <a:lnTo>
                  <a:pt x="2304288" y="0"/>
                </a:lnTo>
                <a:lnTo>
                  <a:pt x="3291840" y="956569"/>
                </a:lnTo>
                <a:lnTo>
                  <a:pt x="3291840" y="3679115"/>
                </a:lnTo>
                <a:lnTo>
                  <a:pt x="987552" y="3679115"/>
                </a:lnTo>
                <a:lnTo>
                  <a:pt x="0" y="2722545"/>
                </a:lnTo>
                <a:close/>
              </a:path>
            </a:pathLst>
          </a:custGeom>
          <a:solidFill>
            <a:srgbClr val="0B17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65615" y="-528631"/>
            <a:ext cx="3291840" cy="3090456"/>
          </a:xfrm>
          <a:prstGeom prst="rect">
            <a:avLst/>
          </a:prstGeom>
          <a:noFill/>
        </p:spPr>
        <p:txBody>
          <a:bodyPr wrap="square" anchor="ctr" lIns="0" rIns="0" tIns="0" bIns="0">
            <a:spAutoFit/>
          </a:bodyPr>
          <a:lstStyle/>
          <a:p>
            <a:pPr algn="ctr">
              <a:lnSpc>
                <a:spcPct val="115000"/>
              </a:lnSpc>
            </a:pPr>
            <a:r>
              <a:rPr sz="12800" b="1">
                <a:solidFill>
                  <a:srgbClr val="0B1728"/>
                </a:solidFill>
                <a:latin typeface="Manrope"/>
              </a:rPr>
              <a:t>B</a:t>
            </a:r>
          </a:p>
        </p:txBody>
      </p:sp>
      <p:sp>
        <p:nvSpPr>
          <p:cNvPr id="5" name="Freeform 4"/>
          <p:cNvSpPr/>
          <p:nvPr/>
        </p:nvSpPr>
        <p:spPr>
          <a:xfrm>
            <a:off x="731520" y="6291072"/>
            <a:ext cx="237744" cy="265713"/>
          </a:xfrm>
          <a:custGeom>
            <a:avLst/>
            <a:gdLst/>
            <a:ahLst/>
            <a:cxnLst/>
            <a:rect l="l" t="t" r="r" b="b"/>
            <a:pathLst>
              <a:path w="237744" h="265713">
                <a:moveTo>
                  <a:pt x="0" y="0"/>
                </a:moveTo>
                <a:lnTo>
                  <a:pt x="166420" y="0"/>
                </a:lnTo>
                <a:lnTo>
                  <a:pt x="237744" y="69085"/>
                </a:lnTo>
                <a:lnTo>
                  <a:pt x="237744" y="265713"/>
                </a:lnTo>
                <a:lnTo>
                  <a:pt x="71323" y="265713"/>
                </a:lnTo>
                <a:lnTo>
                  <a:pt x="0" y="196627"/>
                </a:lnTo>
                <a:close/>
              </a:path>
            </a:pathLst>
          </a:cu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12329"/>
            <a:ext cx="237744" cy="223198"/>
          </a:xfrm>
          <a:prstGeom prst="rect">
            <a:avLst/>
          </a:prstGeom>
          <a:noFill/>
        </p:spPr>
        <p:txBody>
          <a:bodyPr wrap="square" anchor="ctr" lIns="0" rIns="0" tIns="0" bIns="0">
            <a:spAutoFit/>
          </a:bodyPr>
          <a:lstStyle/>
          <a:p>
            <a:pPr algn="ctr">
              <a:lnSpc>
                <a:spcPct val="115000"/>
              </a:lnSpc>
            </a:pPr>
            <a:r>
              <a:rPr sz="900" b="1">
                <a:solidFill>
                  <a:srgbClr val="142008"/>
                </a:solidFill>
                <a:latin typeface="Manrope"/>
              </a:rPr>
              <a:t>B</a:t>
            </a:r>
          </a:p>
        </p:txBody>
      </p:sp>
      <p:sp>
        <p:nvSpPr>
          <p:cNvPr id="7" name="TextBox 6"/>
          <p:cNvSpPr txBox="1"/>
          <p:nvPr/>
        </p:nvSpPr>
        <p:spPr>
          <a:xfrm>
            <a:off x="1060704" y="6245352"/>
            <a:ext cx="1828800" cy="365760"/>
          </a:xfrm>
          <a:prstGeom prst="rect">
            <a:avLst/>
          </a:prstGeom>
          <a:noFill/>
        </p:spPr>
        <p:txBody>
          <a:bodyPr wrap="square" anchor="t" lIns="0" rIns="0" tIns="0" bIns="0">
            <a:spAutoFit/>
          </a:bodyPr>
          <a:lstStyle/>
          <a:p>
            <a:pPr algn="l">
              <a:lnSpc>
                <a:spcPct val="115000"/>
              </a:lnSpc>
            </a:pPr>
            <a:r>
              <a:rPr sz="1300" b="1">
                <a:solidFill>
                  <a:srgbClr val="F6F9FC"/>
                </a:solidFill>
                <a:latin typeface="Manrope"/>
              </a:rPr>
              <a:t>breaker</a:t>
            </a:r>
            <a:r>
              <a:rPr sz="1300" b="1">
                <a:solidFill>
                  <a:srgbClr val="C7FA70"/>
                </a:solidFill>
                <a:latin typeface="Manrope"/>
              </a:rPr>
              <a:t>.</a:t>
            </a:r>
          </a:p>
        </p:txBody>
      </p:sp>
      <p:sp>
        <p:nvSpPr>
          <p:cNvPr id="8" name="TextBox 7"/>
          <p:cNvSpPr txBox="1"/>
          <p:nvPr/>
        </p:nvSpPr>
        <p:spPr>
          <a:xfrm>
            <a:off x="8716975" y="6254496"/>
            <a:ext cx="2743200" cy="320040"/>
          </a:xfrm>
          <a:prstGeom prst="rect">
            <a:avLst/>
          </a:prstGeom>
          <a:noFill/>
        </p:spPr>
        <p:txBody>
          <a:bodyPr wrap="square" anchor="t" lIns="0" rIns="0" tIns="0" bIns="0">
            <a:spAutoFit/>
          </a:bodyPr>
          <a:lstStyle/>
          <a:p>
            <a:pPr algn="r">
              <a:lnSpc>
                <a:spcPct val="115000"/>
              </a:lnSpc>
            </a:pPr>
            <a:r>
              <a:rPr sz="1100" b="0">
                <a:solidFill>
                  <a:srgbClr val="7F8B9B"/>
                </a:solidFill>
                <a:latin typeface="DM Sans"/>
              </a:rPr>
              <a:t>annexe A1</a:t>
            </a:r>
          </a:p>
        </p:txBody>
      </p:sp>
      <p:sp>
        <p:nvSpPr>
          <p:cNvPr id="9" name="TextBox 8"/>
          <p:cNvSpPr txBox="1"/>
          <p:nvPr/>
        </p:nvSpPr>
        <p:spPr>
          <a:xfrm>
            <a:off x="731520" y="502920"/>
            <a:ext cx="10728655" cy="320040"/>
          </a:xfrm>
          <a:prstGeom prst="rect">
            <a:avLst/>
          </a:prstGeom>
          <a:noFill/>
        </p:spPr>
        <p:txBody>
          <a:bodyPr wrap="square" anchor="t" lIns="0" rIns="0" tIns="0" bIns="0">
            <a:spAutoFit/>
          </a:bodyPr>
          <a:lstStyle/>
          <a:p>
            <a:pPr algn="l">
              <a:lnSpc>
                <a:spcPct val="115000"/>
              </a:lnSpc>
            </a:pPr>
            <a:r>
              <a:rPr sz="1100" b="1">
                <a:solidFill>
                  <a:srgbClr val="FFC481"/>
                </a:solidFill>
                <a:latin typeface="DM Sans"/>
              </a:rPr>
              <a:t>ANNEXE A1 · CONFORMITÉ  </a:t>
            </a:r>
            <a:r>
              <a:rPr sz="1100" b="0">
                <a:solidFill>
                  <a:srgbClr val="A9B4C2"/>
                </a:solidFill>
                <a:latin typeface="DM Sans"/>
              </a:rPr>
              <a:t>DORA, MiCA, LCB-FT, AI Act, et comment un auditeur vérifie</a:t>
            </a:r>
          </a:p>
        </p:txBody>
      </p:sp>
      <p:sp>
        <p:nvSpPr>
          <p:cNvPr id="10" name="Rounded Rectangle 9"/>
          <p:cNvSpPr/>
          <p:nvPr/>
        </p:nvSpPr>
        <p:spPr>
          <a:xfrm>
            <a:off x="10088575" y="457200"/>
            <a:ext cx="1371600" cy="347472"/>
          </a:xfrm>
          <a:prstGeom prst="roundRect">
            <a:avLst>
              <a:gd name="adj" fmla="val 50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88575" y="457200"/>
            <a:ext cx="1371600" cy="347472"/>
          </a:xfrm>
          <a:prstGeom prst="rect">
            <a:avLst/>
          </a:prstGeom>
          <a:noFill/>
        </p:spPr>
        <p:txBody>
          <a:bodyPr wrap="square" anchor="ctr" lIns="0" rIns="0" tIns="0" bIns="0">
            <a:spAutoFit/>
          </a:bodyPr>
          <a:lstStyle/>
          <a:p>
            <a:pPr algn="ctr">
              <a:lnSpc>
                <a:spcPct val="115000"/>
              </a:lnSpc>
            </a:pPr>
            <a:r>
              <a:rPr sz="1000" b="1">
                <a:solidFill>
                  <a:srgbClr val="C7FA70"/>
                </a:solidFill>
                <a:latin typeface="DM Sans"/>
              </a:rPr>
              <a:t>ROMAIN</a:t>
            </a:r>
          </a:p>
        </p:txBody>
      </p:sp>
      <p:sp>
        <p:nvSpPr>
          <p:cNvPr id="12" name="TextBox 11"/>
          <p:cNvSpPr txBox="1"/>
          <p:nvPr/>
        </p:nvSpPr>
        <p:spPr>
          <a:xfrm>
            <a:off x="731520" y="960120"/>
            <a:ext cx="9357055" cy="1463040"/>
          </a:xfrm>
          <a:prstGeom prst="rect">
            <a:avLst/>
          </a:prstGeom>
          <a:noFill/>
        </p:spPr>
        <p:txBody>
          <a:bodyPr wrap="square" anchor="t" lIns="0" rIns="0" tIns="0" bIns="0">
            <a:spAutoFit/>
          </a:bodyPr>
          <a:lstStyle/>
          <a:p>
            <a:pPr algn="l">
              <a:lnSpc>
                <a:spcPct val="102000"/>
              </a:lnSpc>
            </a:pPr>
            <a:r>
              <a:rPr sz="2800" b="1">
                <a:solidFill>
                  <a:srgbClr val="F6F9FC"/>
                </a:solidFill>
                <a:latin typeface="Manrope"/>
              </a:rPr>
              <a:t>Nous ne détenons jamais de fonds. Chaque décision est sur la chaîne, avec ses raisons.</a:t>
            </a:r>
          </a:p>
        </p:txBody>
      </p:sp>
      <p:sp>
        <p:nvSpPr>
          <p:cNvPr id="13" name="TextBox 12"/>
          <p:cNvSpPr txBox="1"/>
          <p:nvPr/>
        </p:nvSpPr>
        <p:spPr>
          <a:xfrm>
            <a:off x="731520" y="2167128"/>
            <a:ext cx="1325880" cy="603504"/>
          </a:xfrm>
          <a:prstGeom prst="rect">
            <a:avLst/>
          </a:prstGeom>
          <a:noFill/>
        </p:spPr>
        <p:txBody>
          <a:bodyPr wrap="square" anchor="t" lIns="0" rIns="0" tIns="0" bIns="0">
            <a:spAutoFit/>
          </a:bodyPr>
          <a:lstStyle/>
          <a:p>
            <a:pPr algn="l">
              <a:lnSpc>
                <a:spcPct val="105000"/>
              </a:lnSpc>
            </a:pPr>
            <a:r>
              <a:rPr sz="1000" b="0">
                <a:solidFill>
                  <a:srgbClr val="7F8B9B"/>
                </a:solidFill>
                <a:latin typeface="DM Sans"/>
              </a:rPr>
              <a:t>Cadre</a:t>
            </a:r>
          </a:p>
        </p:txBody>
      </p:sp>
      <p:sp>
        <p:nvSpPr>
          <p:cNvPr id="14" name="TextBox 13"/>
          <p:cNvSpPr txBox="1"/>
          <p:nvPr/>
        </p:nvSpPr>
        <p:spPr>
          <a:xfrm>
            <a:off x="2194560" y="2167128"/>
            <a:ext cx="6172200" cy="603504"/>
          </a:xfrm>
          <a:prstGeom prst="rect">
            <a:avLst/>
          </a:prstGeom>
          <a:noFill/>
        </p:spPr>
        <p:txBody>
          <a:bodyPr wrap="square" anchor="t" lIns="0" rIns="0" tIns="0" bIns="0">
            <a:spAutoFit/>
          </a:bodyPr>
          <a:lstStyle/>
          <a:p>
            <a:pPr algn="l">
              <a:lnSpc>
                <a:spcPct val="105000"/>
              </a:lnSpc>
            </a:pPr>
            <a:r>
              <a:rPr sz="1000" b="0">
                <a:solidFill>
                  <a:srgbClr val="7F8B9B"/>
                </a:solidFill>
                <a:latin typeface="DM Sans"/>
              </a:rPr>
              <a:t>Ce que ça implique pour Breaker</a:t>
            </a:r>
          </a:p>
        </p:txBody>
      </p:sp>
      <p:sp>
        <p:nvSpPr>
          <p:cNvPr id="15" name="TextBox 14"/>
          <p:cNvSpPr txBox="1"/>
          <p:nvPr/>
        </p:nvSpPr>
        <p:spPr>
          <a:xfrm>
            <a:off x="8503920" y="2167128"/>
            <a:ext cx="2819095" cy="603504"/>
          </a:xfrm>
          <a:prstGeom prst="rect">
            <a:avLst/>
          </a:prstGeom>
          <a:noFill/>
        </p:spPr>
        <p:txBody>
          <a:bodyPr wrap="square" anchor="t" lIns="0" rIns="0" tIns="0" bIns="0">
            <a:spAutoFit/>
          </a:bodyPr>
          <a:lstStyle/>
          <a:p>
            <a:pPr algn="l">
              <a:lnSpc>
                <a:spcPct val="105000"/>
              </a:lnSpc>
            </a:pPr>
            <a:r>
              <a:rPr sz="1000" b="0">
                <a:solidFill>
                  <a:srgbClr val="7F8B9B"/>
                </a:solidFill>
                <a:latin typeface="DM Sans"/>
              </a:rPr>
              <a:t>Preuve</a:t>
            </a:r>
          </a:p>
        </p:txBody>
      </p:sp>
      <p:sp>
        <p:nvSpPr>
          <p:cNvPr id="16" name="Rectangle 15"/>
          <p:cNvSpPr/>
          <p:nvPr/>
        </p:nvSpPr>
        <p:spPr>
          <a:xfrm>
            <a:off x="731520" y="2700624"/>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770632"/>
            <a:ext cx="1325880" cy="603504"/>
          </a:xfrm>
          <a:prstGeom prst="rect">
            <a:avLst/>
          </a:prstGeom>
          <a:noFill/>
        </p:spPr>
        <p:txBody>
          <a:bodyPr wrap="square" anchor="t" lIns="0" rIns="0" tIns="0" bIns="0">
            <a:spAutoFit/>
          </a:bodyPr>
          <a:lstStyle/>
          <a:p>
            <a:pPr algn="l">
              <a:lnSpc>
                <a:spcPct val="105000"/>
              </a:lnSpc>
            </a:pPr>
            <a:r>
              <a:rPr sz="1100" b="1">
                <a:solidFill>
                  <a:srgbClr val="F6F9FC"/>
                </a:solidFill>
                <a:latin typeface="DM Sans"/>
              </a:rPr>
              <a:t>MiCA</a:t>
            </a:r>
          </a:p>
        </p:txBody>
      </p:sp>
      <p:sp>
        <p:nvSpPr>
          <p:cNvPr id="18" name="TextBox 17"/>
          <p:cNvSpPr txBox="1"/>
          <p:nvPr/>
        </p:nvSpPr>
        <p:spPr>
          <a:xfrm>
            <a:off x="2194560" y="2770632"/>
            <a:ext cx="6172200" cy="603504"/>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Aucune fonction ne peut transférer sans les signatures humaines du client : hors garde d'actifs. Nous sommes éditeur d'un outil, pas dépositaire.</a:t>
            </a:r>
          </a:p>
        </p:txBody>
      </p:sp>
      <p:sp>
        <p:nvSpPr>
          <p:cNvPr id="19" name="TextBox 18"/>
          <p:cNvSpPr txBox="1"/>
          <p:nvPr/>
        </p:nvSpPr>
        <p:spPr>
          <a:xfrm>
            <a:off x="8503920" y="2770632"/>
            <a:ext cx="2819095" cy="603504"/>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seul safeTransfer dans execute, quorum requis ; invariant I1</a:t>
            </a:r>
          </a:p>
        </p:txBody>
      </p:sp>
      <p:sp>
        <p:nvSpPr>
          <p:cNvPr id="20" name="Rectangle 19"/>
          <p:cNvSpPr/>
          <p:nvPr/>
        </p:nvSpPr>
        <p:spPr>
          <a:xfrm>
            <a:off x="731520" y="3304128"/>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374136"/>
            <a:ext cx="1325880" cy="603504"/>
          </a:xfrm>
          <a:prstGeom prst="rect">
            <a:avLst/>
          </a:prstGeom>
          <a:noFill/>
        </p:spPr>
        <p:txBody>
          <a:bodyPr wrap="square" anchor="t" lIns="0" rIns="0" tIns="0" bIns="0">
            <a:spAutoFit/>
          </a:bodyPr>
          <a:lstStyle/>
          <a:p>
            <a:pPr algn="l">
              <a:lnSpc>
                <a:spcPct val="105000"/>
              </a:lnSpc>
            </a:pPr>
            <a:r>
              <a:rPr sz="1100" b="1">
                <a:solidFill>
                  <a:srgbClr val="F6F9FC"/>
                </a:solidFill>
                <a:latin typeface="DM Sans"/>
              </a:rPr>
              <a:t>DORA</a:t>
            </a:r>
          </a:p>
        </p:txBody>
      </p:sp>
      <p:sp>
        <p:nvSpPr>
          <p:cNvPr id="22" name="TextBox 21"/>
          <p:cNvSpPr txBox="1"/>
          <p:nvPr/>
        </p:nvSpPr>
        <p:spPr>
          <a:xfrm>
            <a:off x="2194560" y="3374136"/>
            <a:ext cx="6172200" cy="603504"/>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Pour un client régulé, Breaker est un prestataire tiers de services TIC (à confirmer, mentor KPMG). Le rapport d'incident pré-rempli aide à classer et déclarer dans les délais (règl. délégué 2025/301).</a:t>
            </a:r>
          </a:p>
        </p:txBody>
      </p:sp>
      <p:sp>
        <p:nvSpPr>
          <p:cNvPr id="23" name="TextBox 22"/>
          <p:cNvSpPr txBox="1"/>
          <p:nvPr/>
        </p:nvSpPr>
        <p:spPr>
          <a:xfrm>
            <a:off x="8503920" y="3374136"/>
            <a:ext cx="2819095" cy="603504"/>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ia-1/score/rapport.py · shared/dora-notes.md</a:t>
            </a:r>
          </a:p>
        </p:txBody>
      </p:sp>
      <p:sp>
        <p:nvSpPr>
          <p:cNvPr id="24" name="Rectangle 23"/>
          <p:cNvSpPr/>
          <p:nvPr/>
        </p:nvSpPr>
        <p:spPr>
          <a:xfrm>
            <a:off x="731520" y="3907632"/>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977640"/>
            <a:ext cx="1325880" cy="603504"/>
          </a:xfrm>
          <a:prstGeom prst="rect">
            <a:avLst/>
          </a:prstGeom>
          <a:noFill/>
        </p:spPr>
        <p:txBody>
          <a:bodyPr wrap="square" anchor="t" lIns="0" rIns="0" tIns="0" bIns="0">
            <a:spAutoFit/>
          </a:bodyPr>
          <a:lstStyle/>
          <a:p>
            <a:pPr algn="l">
              <a:lnSpc>
                <a:spcPct val="105000"/>
              </a:lnSpc>
            </a:pPr>
            <a:r>
              <a:rPr sz="1100" b="1">
                <a:solidFill>
                  <a:srgbClr val="F6F9FC"/>
                </a:solidFill>
                <a:latin typeface="DM Sans"/>
              </a:rPr>
              <a:t>LCB-FT</a:t>
            </a:r>
          </a:p>
        </p:txBody>
      </p:sp>
      <p:sp>
        <p:nvSpPr>
          <p:cNvPr id="26" name="TextBox 25"/>
          <p:cNvSpPr txBox="1"/>
          <p:nvPr/>
        </p:nvSpPr>
        <p:spPr>
          <a:xfrm>
            <a:off x="2194560" y="3977640"/>
            <a:ext cx="6172200" cy="603504"/>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Listes OFAC et ScamSniffer consultées ; refus pur des adresses sanctionnées activable par le client dans son contrat : ce n'est pas nous qui bloquons.</a:t>
            </a:r>
          </a:p>
        </p:txBody>
      </p:sp>
      <p:sp>
        <p:nvSpPr>
          <p:cNvPr id="27" name="TextBox 26"/>
          <p:cNvSpPr txBox="1"/>
          <p:nvPr/>
        </p:nvSpPr>
        <p:spPr>
          <a:xfrm>
            <a:off x="8503920" y="3977640"/>
            <a:ext cx="2819095" cy="603504"/>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ia-1/oracle/sources_publiques.py · code FLAGGED_ADDRESS</a:t>
            </a:r>
          </a:p>
        </p:txBody>
      </p:sp>
      <p:sp>
        <p:nvSpPr>
          <p:cNvPr id="28" name="Rectangle 27"/>
          <p:cNvSpPr/>
          <p:nvPr/>
        </p:nvSpPr>
        <p:spPr>
          <a:xfrm>
            <a:off x="731520" y="4511136"/>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581144"/>
            <a:ext cx="1325880" cy="603504"/>
          </a:xfrm>
          <a:prstGeom prst="rect">
            <a:avLst/>
          </a:prstGeom>
          <a:noFill/>
        </p:spPr>
        <p:txBody>
          <a:bodyPr wrap="square" anchor="t" lIns="0" rIns="0" tIns="0" bIns="0">
            <a:spAutoFit/>
          </a:bodyPr>
          <a:lstStyle/>
          <a:p>
            <a:pPr algn="l">
              <a:lnSpc>
                <a:spcPct val="105000"/>
              </a:lnSpc>
            </a:pPr>
            <a:r>
              <a:rPr sz="1100" b="1">
                <a:solidFill>
                  <a:srgbClr val="F6F9FC"/>
                </a:solidFill>
                <a:latin typeface="DM Sans"/>
              </a:rPr>
              <a:t>AI Act</a:t>
            </a:r>
          </a:p>
        </p:txBody>
      </p:sp>
      <p:sp>
        <p:nvSpPr>
          <p:cNvPr id="30" name="TextBox 29"/>
          <p:cNvSpPr txBox="1"/>
          <p:nvPr/>
        </p:nvSpPr>
        <p:spPr>
          <a:xfrm>
            <a:off x="2194560" y="4581144"/>
            <a:ext cx="6172200" cy="603504"/>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Le modèle de langage n'explique que : il ne décide rien. Règles lisibles, chaque alerte cite ses codes ; garde-fous contre l'injection ; validation humaine toujours.</a:t>
            </a:r>
          </a:p>
        </p:txBody>
      </p:sp>
      <p:sp>
        <p:nvSpPr>
          <p:cNvPr id="31" name="TextBox 30"/>
          <p:cNvSpPr txBox="1"/>
          <p:nvPr/>
        </p:nvSpPr>
        <p:spPr>
          <a:xfrm>
            <a:off x="8503920" y="4581144"/>
            <a:ext cx="2819095" cy="603504"/>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ia-1/score/explication.py · regles.py</a:t>
            </a:r>
          </a:p>
        </p:txBody>
      </p:sp>
      <p:sp>
        <p:nvSpPr>
          <p:cNvPr id="32" name="Rectangle 31"/>
          <p:cNvSpPr/>
          <p:nvPr/>
        </p:nvSpPr>
        <p:spPr>
          <a:xfrm>
            <a:off x="731520" y="5114640"/>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184648"/>
            <a:ext cx="1325880" cy="603504"/>
          </a:xfrm>
          <a:prstGeom prst="rect">
            <a:avLst/>
          </a:prstGeom>
          <a:noFill/>
        </p:spPr>
        <p:txBody>
          <a:bodyPr wrap="square" anchor="t" lIns="0" rIns="0" tIns="0" bIns="0">
            <a:spAutoFit/>
          </a:bodyPr>
          <a:lstStyle/>
          <a:p>
            <a:pPr algn="l">
              <a:lnSpc>
                <a:spcPct val="105000"/>
              </a:lnSpc>
            </a:pPr>
            <a:r>
              <a:rPr sz="1100" b="1">
                <a:solidFill>
                  <a:srgbClr val="F6F9FC"/>
                </a:solidFill>
                <a:latin typeface="DM Sans"/>
              </a:rPr>
              <a:t>Auditabilité</a:t>
            </a:r>
          </a:p>
        </p:txBody>
      </p:sp>
      <p:sp>
        <p:nvSpPr>
          <p:cNvPr id="34" name="TextBox 33"/>
          <p:cNvSpPr txBox="1"/>
          <p:nvPr/>
        </p:nvSpPr>
        <p:spPr>
          <a:xfrm>
            <a:off x="2194560" y="5184648"/>
            <a:ext cx="6172200" cy="603504"/>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Chaque signalement est un événement on-chain avec ses raisons ; l'oracle ne retient une accusation que s'il retrouve la citation exacte et en inscrit le hash. Tout se rejoue depuis le dépôt.</a:t>
            </a:r>
          </a:p>
        </p:txBody>
      </p:sp>
      <p:sp>
        <p:nvSpPr>
          <p:cNvPr id="35" name="TextBox 34"/>
          <p:cNvSpPr txBox="1"/>
          <p:nvPr/>
        </p:nvSpPr>
        <p:spPr>
          <a:xfrm>
            <a:off x="8503920" y="5184648"/>
            <a:ext cx="2819095" cy="603504"/>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RiskRegistry · evidence_hash · scenario_*.js</a:t>
            </a:r>
          </a:p>
        </p:txBody>
      </p:sp>
      <p:sp>
        <p:nvSpPr>
          <p:cNvPr id="36" name="Rectangle 35"/>
          <p:cNvSpPr/>
          <p:nvPr/>
        </p:nvSpPr>
        <p:spPr>
          <a:xfrm>
            <a:off x="731520" y="5718144"/>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265615" y="-822960"/>
            <a:ext cx="3291840" cy="3679115"/>
          </a:xfrm>
          <a:custGeom>
            <a:avLst/>
            <a:gdLst/>
            <a:ahLst/>
            <a:cxnLst/>
            <a:rect l="l" t="t" r="r" b="b"/>
            <a:pathLst>
              <a:path w="3291840" h="3679115">
                <a:moveTo>
                  <a:pt x="0" y="0"/>
                </a:moveTo>
                <a:lnTo>
                  <a:pt x="2304288" y="0"/>
                </a:lnTo>
                <a:lnTo>
                  <a:pt x="3291840" y="956569"/>
                </a:lnTo>
                <a:lnTo>
                  <a:pt x="3291840" y="3679115"/>
                </a:lnTo>
                <a:lnTo>
                  <a:pt x="987552" y="3679115"/>
                </a:lnTo>
                <a:lnTo>
                  <a:pt x="0" y="2722545"/>
                </a:lnTo>
                <a:close/>
              </a:path>
            </a:pathLst>
          </a:custGeom>
          <a:solidFill>
            <a:srgbClr val="0B17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65615" y="-528631"/>
            <a:ext cx="3291840" cy="3090456"/>
          </a:xfrm>
          <a:prstGeom prst="rect">
            <a:avLst/>
          </a:prstGeom>
          <a:noFill/>
        </p:spPr>
        <p:txBody>
          <a:bodyPr wrap="square" anchor="ctr" lIns="0" rIns="0" tIns="0" bIns="0">
            <a:spAutoFit/>
          </a:bodyPr>
          <a:lstStyle/>
          <a:p>
            <a:pPr algn="ctr">
              <a:lnSpc>
                <a:spcPct val="115000"/>
              </a:lnSpc>
            </a:pPr>
            <a:r>
              <a:rPr sz="12800" b="1">
                <a:solidFill>
                  <a:srgbClr val="0B1728"/>
                </a:solidFill>
                <a:latin typeface="Manrope"/>
              </a:rPr>
              <a:t>B</a:t>
            </a:r>
          </a:p>
        </p:txBody>
      </p:sp>
      <p:sp>
        <p:nvSpPr>
          <p:cNvPr id="5" name="Freeform 4"/>
          <p:cNvSpPr/>
          <p:nvPr/>
        </p:nvSpPr>
        <p:spPr>
          <a:xfrm>
            <a:off x="731520" y="6291072"/>
            <a:ext cx="237744" cy="265713"/>
          </a:xfrm>
          <a:custGeom>
            <a:avLst/>
            <a:gdLst/>
            <a:ahLst/>
            <a:cxnLst/>
            <a:rect l="l" t="t" r="r" b="b"/>
            <a:pathLst>
              <a:path w="237744" h="265713">
                <a:moveTo>
                  <a:pt x="0" y="0"/>
                </a:moveTo>
                <a:lnTo>
                  <a:pt x="166420" y="0"/>
                </a:lnTo>
                <a:lnTo>
                  <a:pt x="237744" y="69085"/>
                </a:lnTo>
                <a:lnTo>
                  <a:pt x="237744" y="265713"/>
                </a:lnTo>
                <a:lnTo>
                  <a:pt x="71323" y="265713"/>
                </a:lnTo>
                <a:lnTo>
                  <a:pt x="0" y="196627"/>
                </a:lnTo>
                <a:close/>
              </a:path>
            </a:pathLst>
          </a:cu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12329"/>
            <a:ext cx="237744" cy="223198"/>
          </a:xfrm>
          <a:prstGeom prst="rect">
            <a:avLst/>
          </a:prstGeom>
          <a:noFill/>
        </p:spPr>
        <p:txBody>
          <a:bodyPr wrap="square" anchor="ctr" lIns="0" rIns="0" tIns="0" bIns="0">
            <a:spAutoFit/>
          </a:bodyPr>
          <a:lstStyle/>
          <a:p>
            <a:pPr algn="ctr">
              <a:lnSpc>
                <a:spcPct val="115000"/>
              </a:lnSpc>
            </a:pPr>
            <a:r>
              <a:rPr sz="900" b="1">
                <a:solidFill>
                  <a:srgbClr val="142008"/>
                </a:solidFill>
                <a:latin typeface="Manrope"/>
              </a:rPr>
              <a:t>B</a:t>
            </a:r>
          </a:p>
        </p:txBody>
      </p:sp>
      <p:sp>
        <p:nvSpPr>
          <p:cNvPr id="7" name="TextBox 6"/>
          <p:cNvSpPr txBox="1"/>
          <p:nvPr/>
        </p:nvSpPr>
        <p:spPr>
          <a:xfrm>
            <a:off x="1060704" y="6245352"/>
            <a:ext cx="1828800" cy="365760"/>
          </a:xfrm>
          <a:prstGeom prst="rect">
            <a:avLst/>
          </a:prstGeom>
          <a:noFill/>
        </p:spPr>
        <p:txBody>
          <a:bodyPr wrap="square" anchor="t" lIns="0" rIns="0" tIns="0" bIns="0">
            <a:spAutoFit/>
          </a:bodyPr>
          <a:lstStyle/>
          <a:p>
            <a:pPr algn="l">
              <a:lnSpc>
                <a:spcPct val="115000"/>
              </a:lnSpc>
            </a:pPr>
            <a:r>
              <a:rPr sz="1300" b="1">
                <a:solidFill>
                  <a:srgbClr val="F6F9FC"/>
                </a:solidFill>
                <a:latin typeface="Manrope"/>
              </a:rPr>
              <a:t>breaker</a:t>
            </a:r>
            <a:r>
              <a:rPr sz="1300" b="1">
                <a:solidFill>
                  <a:srgbClr val="C7FA70"/>
                </a:solidFill>
                <a:latin typeface="Manrope"/>
              </a:rPr>
              <a:t>.</a:t>
            </a:r>
          </a:p>
        </p:txBody>
      </p:sp>
      <p:sp>
        <p:nvSpPr>
          <p:cNvPr id="8" name="TextBox 7"/>
          <p:cNvSpPr txBox="1"/>
          <p:nvPr/>
        </p:nvSpPr>
        <p:spPr>
          <a:xfrm>
            <a:off x="8716975" y="6254496"/>
            <a:ext cx="2743200" cy="320040"/>
          </a:xfrm>
          <a:prstGeom prst="rect">
            <a:avLst/>
          </a:prstGeom>
          <a:noFill/>
        </p:spPr>
        <p:txBody>
          <a:bodyPr wrap="square" anchor="t" lIns="0" rIns="0" tIns="0" bIns="0">
            <a:spAutoFit/>
          </a:bodyPr>
          <a:lstStyle/>
          <a:p>
            <a:pPr algn="r">
              <a:lnSpc>
                <a:spcPct val="115000"/>
              </a:lnSpc>
            </a:pPr>
            <a:r>
              <a:rPr sz="1100" b="0">
                <a:solidFill>
                  <a:srgbClr val="7F8B9B"/>
                </a:solidFill>
                <a:latin typeface="DM Sans"/>
              </a:rPr>
              <a:t>annexe A2</a:t>
            </a:r>
          </a:p>
        </p:txBody>
      </p:sp>
      <p:sp>
        <p:nvSpPr>
          <p:cNvPr id="9" name="TextBox 8"/>
          <p:cNvSpPr txBox="1"/>
          <p:nvPr/>
        </p:nvSpPr>
        <p:spPr>
          <a:xfrm>
            <a:off x="731520" y="502920"/>
            <a:ext cx="10728655" cy="320040"/>
          </a:xfrm>
          <a:prstGeom prst="rect">
            <a:avLst/>
          </a:prstGeom>
          <a:noFill/>
        </p:spPr>
        <p:txBody>
          <a:bodyPr wrap="square" anchor="t" lIns="0" rIns="0" tIns="0" bIns="0">
            <a:spAutoFit/>
          </a:bodyPr>
          <a:lstStyle/>
          <a:p>
            <a:pPr algn="l">
              <a:lnSpc>
                <a:spcPct val="115000"/>
              </a:lnSpc>
            </a:pPr>
            <a:r>
              <a:rPr sz="1100" b="1">
                <a:solidFill>
                  <a:srgbClr val="FFC481"/>
                </a:solidFill>
                <a:latin typeface="DM Sans"/>
              </a:rPr>
              <a:t>ANNEXE A2 · PLAYBOOK DE RÉPONSE  </a:t>
            </a:r>
            <a:r>
              <a:rPr sz="1100" b="0">
                <a:solidFill>
                  <a:srgbClr val="A9B4C2"/>
                </a:solidFill>
                <a:latin typeface="DM Sans"/>
              </a:rPr>
              <a:t>qui est alerté, ce qui est automatique, ce qui reste humain</a:t>
            </a:r>
          </a:p>
        </p:txBody>
      </p:sp>
      <p:sp>
        <p:nvSpPr>
          <p:cNvPr id="10" name="Rounded Rectangle 9"/>
          <p:cNvSpPr/>
          <p:nvPr/>
        </p:nvSpPr>
        <p:spPr>
          <a:xfrm>
            <a:off x="10088575" y="457200"/>
            <a:ext cx="1371600" cy="347472"/>
          </a:xfrm>
          <a:prstGeom prst="roundRect">
            <a:avLst>
              <a:gd name="adj" fmla="val 50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88575" y="457200"/>
            <a:ext cx="1371600" cy="347472"/>
          </a:xfrm>
          <a:prstGeom prst="rect">
            <a:avLst/>
          </a:prstGeom>
          <a:noFill/>
        </p:spPr>
        <p:txBody>
          <a:bodyPr wrap="square" anchor="ctr" lIns="0" rIns="0" tIns="0" bIns="0">
            <a:spAutoFit/>
          </a:bodyPr>
          <a:lstStyle/>
          <a:p>
            <a:pPr algn="ctr">
              <a:lnSpc>
                <a:spcPct val="115000"/>
              </a:lnSpc>
            </a:pPr>
            <a:r>
              <a:rPr sz="1000" b="1">
                <a:solidFill>
                  <a:srgbClr val="C7FA70"/>
                </a:solidFill>
                <a:latin typeface="DM Sans"/>
              </a:rPr>
              <a:t>TIMÉO</a:t>
            </a:r>
          </a:p>
        </p:txBody>
      </p:sp>
      <p:sp>
        <p:nvSpPr>
          <p:cNvPr id="12" name="TextBox 11"/>
          <p:cNvSpPr txBox="1"/>
          <p:nvPr/>
        </p:nvSpPr>
        <p:spPr>
          <a:xfrm>
            <a:off x="731520" y="960120"/>
            <a:ext cx="9357055" cy="1463040"/>
          </a:xfrm>
          <a:prstGeom prst="rect">
            <a:avLst/>
          </a:prstGeom>
          <a:noFill/>
        </p:spPr>
        <p:txBody>
          <a:bodyPr wrap="square" anchor="t" lIns="0" rIns="0" tIns="0" bIns="0">
            <a:spAutoFit/>
          </a:bodyPr>
          <a:lstStyle/>
          <a:p>
            <a:pPr algn="l">
              <a:lnSpc>
                <a:spcPct val="102000"/>
              </a:lnSpc>
            </a:pPr>
            <a:r>
              <a:rPr sz="2800" b="1">
                <a:solidFill>
                  <a:srgbClr val="F6F9FC"/>
                </a:solidFill>
                <a:latin typeface="Manrope"/>
              </a:rPr>
              <a:t>Trois réponses graduées : une paire d'yeux en plus, du temps, un refus.</a:t>
            </a:r>
          </a:p>
        </p:txBody>
      </p:sp>
      <p:sp>
        <p:nvSpPr>
          <p:cNvPr id="13" name="TextBox 12"/>
          <p:cNvSpPr txBox="1"/>
          <p:nvPr/>
        </p:nvSpPr>
        <p:spPr>
          <a:xfrm>
            <a:off x="731520" y="2121408"/>
            <a:ext cx="1463040" cy="822960"/>
          </a:xfrm>
          <a:prstGeom prst="rect">
            <a:avLst/>
          </a:prstGeom>
          <a:noFill/>
        </p:spPr>
        <p:txBody>
          <a:bodyPr wrap="square" anchor="t" lIns="0" rIns="0" tIns="0" bIns="0">
            <a:spAutoFit/>
          </a:bodyPr>
          <a:lstStyle/>
          <a:p>
            <a:pPr algn="l">
              <a:lnSpc>
                <a:spcPct val="105000"/>
              </a:lnSpc>
            </a:pPr>
            <a:r>
              <a:rPr sz="1000" b="0">
                <a:solidFill>
                  <a:srgbClr val="7F8B9B"/>
                </a:solidFill>
                <a:latin typeface="DM Sans"/>
              </a:rPr>
              <a:t>Niveau</a:t>
            </a:r>
          </a:p>
        </p:txBody>
      </p:sp>
      <p:sp>
        <p:nvSpPr>
          <p:cNvPr id="14" name="TextBox 13"/>
          <p:cNvSpPr txBox="1"/>
          <p:nvPr/>
        </p:nvSpPr>
        <p:spPr>
          <a:xfrm>
            <a:off x="2331720" y="2121408"/>
            <a:ext cx="1965960" cy="822960"/>
          </a:xfrm>
          <a:prstGeom prst="rect">
            <a:avLst/>
          </a:prstGeom>
          <a:noFill/>
        </p:spPr>
        <p:txBody>
          <a:bodyPr wrap="square" anchor="t" lIns="0" rIns="0" tIns="0" bIns="0">
            <a:spAutoFit/>
          </a:bodyPr>
          <a:lstStyle/>
          <a:p>
            <a:pPr algn="l">
              <a:lnSpc>
                <a:spcPct val="105000"/>
              </a:lnSpc>
            </a:pPr>
            <a:r>
              <a:rPr sz="1000" b="0">
                <a:solidFill>
                  <a:srgbClr val="7F8B9B"/>
                </a:solidFill>
                <a:latin typeface="DM Sans"/>
              </a:rPr>
              <a:t>Déclencheur</a:t>
            </a:r>
          </a:p>
        </p:txBody>
      </p:sp>
      <p:sp>
        <p:nvSpPr>
          <p:cNvPr id="15" name="TextBox 14"/>
          <p:cNvSpPr txBox="1"/>
          <p:nvPr/>
        </p:nvSpPr>
        <p:spPr>
          <a:xfrm>
            <a:off x="4434840" y="2121408"/>
            <a:ext cx="2880360" cy="822960"/>
          </a:xfrm>
          <a:prstGeom prst="rect">
            <a:avLst/>
          </a:prstGeom>
          <a:noFill/>
        </p:spPr>
        <p:txBody>
          <a:bodyPr wrap="square" anchor="t" lIns="0" rIns="0" tIns="0" bIns="0">
            <a:spAutoFit/>
          </a:bodyPr>
          <a:lstStyle/>
          <a:p>
            <a:pPr algn="l">
              <a:lnSpc>
                <a:spcPct val="105000"/>
              </a:lnSpc>
            </a:pPr>
            <a:r>
              <a:rPr sz="1000" b="0">
                <a:solidFill>
                  <a:srgbClr val="7F8B9B"/>
                </a:solidFill>
                <a:latin typeface="DM Sans"/>
              </a:rPr>
              <a:t>Ce qui se passe, automatiquement</a:t>
            </a:r>
          </a:p>
        </p:txBody>
      </p:sp>
      <p:sp>
        <p:nvSpPr>
          <p:cNvPr id="16" name="TextBox 15"/>
          <p:cNvSpPr txBox="1"/>
          <p:nvPr/>
        </p:nvSpPr>
        <p:spPr>
          <a:xfrm>
            <a:off x="7452360" y="2121408"/>
            <a:ext cx="2240280" cy="822960"/>
          </a:xfrm>
          <a:prstGeom prst="rect">
            <a:avLst/>
          </a:prstGeom>
          <a:noFill/>
        </p:spPr>
        <p:txBody>
          <a:bodyPr wrap="square" anchor="t" lIns="0" rIns="0" tIns="0" bIns="0">
            <a:spAutoFit/>
          </a:bodyPr>
          <a:lstStyle/>
          <a:p>
            <a:pPr algn="l">
              <a:lnSpc>
                <a:spcPct val="105000"/>
              </a:lnSpc>
            </a:pPr>
            <a:r>
              <a:rPr sz="1000" b="0">
                <a:solidFill>
                  <a:srgbClr val="7F8B9B"/>
                </a:solidFill>
                <a:latin typeface="DM Sans"/>
              </a:rPr>
              <a:t>Ce que ça protège vraiment</a:t>
            </a:r>
          </a:p>
        </p:txBody>
      </p:sp>
      <p:sp>
        <p:nvSpPr>
          <p:cNvPr id="17" name="TextBox 16"/>
          <p:cNvSpPr txBox="1"/>
          <p:nvPr/>
        </p:nvSpPr>
        <p:spPr>
          <a:xfrm>
            <a:off x="9829800" y="2121408"/>
            <a:ext cx="1493215" cy="822960"/>
          </a:xfrm>
          <a:prstGeom prst="rect">
            <a:avLst/>
          </a:prstGeom>
          <a:noFill/>
        </p:spPr>
        <p:txBody>
          <a:bodyPr wrap="square" anchor="t" lIns="0" rIns="0" tIns="0" bIns="0">
            <a:spAutoFit/>
          </a:bodyPr>
          <a:lstStyle/>
          <a:p>
            <a:pPr algn="l">
              <a:lnSpc>
                <a:spcPct val="105000"/>
              </a:lnSpc>
            </a:pPr>
            <a:r>
              <a:rPr sz="1000" b="0">
                <a:solidFill>
                  <a:srgbClr val="7F8B9B"/>
                </a:solidFill>
                <a:latin typeface="DM Sans"/>
              </a:rPr>
              <a:t>Humain</a:t>
            </a:r>
          </a:p>
        </p:txBody>
      </p:sp>
      <p:sp>
        <p:nvSpPr>
          <p:cNvPr id="18" name="Rectangle 17"/>
          <p:cNvSpPr/>
          <p:nvPr/>
        </p:nvSpPr>
        <p:spPr>
          <a:xfrm>
            <a:off x="731520" y="2874360"/>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2944368"/>
            <a:ext cx="1463040" cy="822960"/>
          </a:xfrm>
          <a:prstGeom prst="rect">
            <a:avLst/>
          </a:prstGeom>
          <a:noFill/>
        </p:spPr>
        <p:txBody>
          <a:bodyPr wrap="square" anchor="t" lIns="0" rIns="0" tIns="0" bIns="0">
            <a:spAutoFit/>
          </a:bodyPr>
          <a:lstStyle/>
          <a:p>
            <a:pPr algn="l">
              <a:lnSpc>
                <a:spcPct val="105000"/>
              </a:lnSpc>
            </a:pPr>
            <a:r>
              <a:rPr sz="1000" b="1">
                <a:solidFill>
                  <a:srgbClr val="F6F9FC"/>
                </a:solidFill>
                <a:latin typeface="DM Sans"/>
              </a:rPr>
              <a:t>Signature en plus · Essentiel (score ≥ 0,30)</a:t>
            </a:r>
          </a:p>
        </p:txBody>
      </p:sp>
      <p:sp>
        <p:nvSpPr>
          <p:cNvPr id="20" name="TextBox 19"/>
          <p:cNvSpPr txBox="1"/>
          <p:nvPr/>
        </p:nvSpPr>
        <p:spPr>
          <a:xfrm>
            <a:off x="2331720" y="2944368"/>
            <a:ext cx="1965960" cy="822960"/>
          </a:xfrm>
          <a:prstGeom prst="rect">
            <a:avLst/>
          </a:prstGeom>
          <a:noFill/>
        </p:spPr>
        <p:txBody>
          <a:bodyPr wrap="square" anchor="t" lIns="0" rIns="0" tIns="0" bIns="0">
            <a:spAutoFit/>
          </a:bodyPr>
          <a:lstStyle/>
          <a:p>
            <a:pPr algn="l">
              <a:lnSpc>
                <a:spcPct val="105000"/>
              </a:lnSpc>
            </a:pPr>
            <a:r>
              <a:rPr sz="1000" b="0">
                <a:solidFill>
                  <a:srgbClr val="E7EDF4"/>
                </a:solidFill>
                <a:latin typeface="DM Sans"/>
              </a:rPr>
              <a:t>nouveau bénéficiaire, montant inhabituel, « urgent », hors heures</a:t>
            </a:r>
          </a:p>
        </p:txBody>
      </p:sp>
      <p:sp>
        <p:nvSpPr>
          <p:cNvPr id="21" name="TextBox 20"/>
          <p:cNvSpPr txBox="1"/>
          <p:nvPr/>
        </p:nvSpPr>
        <p:spPr>
          <a:xfrm>
            <a:off x="4434840" y="2944368"/>
            <a:ext cx="2880360" cy="822960"/>
          </a:xfrm>
          <a:prstGeom prst="rect">
            <a:avLst/>
          </a:prstGeom>
          <a:noFill/>
        </p:spPr>
        <p:txBody>
          <a:bodyPr wrap="square" anchor="t" lIns="0" rIns="0" tIns="0" bIns="0">
            <a:spAutoFit/>
          </a:bodyPr>
          <a:lstStyle/>
          <a:p>
            <a:pPr algn="l">
              <a:lnSpc>
                <a:spcPct val="105000"/>
              </a:lnSpc>
            </a:pPr>
            <a:r>
              <a:rPr sz="1000" b="0">
                <a:solidFill>
                  <a:srgbClr val="E7EDF4"/>
                </a:solidFill>
                <a:latin typeface="DM Sans"/>
              </a:rPr>
              <a:t>le paiement exige une signature humaine de plus que votre seuil ; explication en français à tous les signataires</a:t>
            </a:r>
          </a:p>
        </p:txBody>
      </p:sp>
      <p:sp>
        <p:nvSpPr>
          <p:cNvPr id="22" name="TextBox 21"/>
          <p:cNvSpPr txBox="1"/>
          <p:nvPr/>
        </p:nvSpPr>
        <p:spPr>
          <a:xfrm>
            <a:off x="7452360" y="2944368"/>
            <a:ext cx="2240280" cy="822960"/>
          </a:xfrm>
          <a:prstGeom prst="rect">
            <a:avLst/>
          </a:prstGeom>
          <a:noFill/>
        </p:spPr>
        <p:txBody>
          <a:bodyPr wrap="square" anchor="t" lIns="0" rIns="0" tIns="0" bIns="0">
            <a:spAutoFit/>
          </a:bodyPr>
          <a:lstStyle/>
          <a:p>
            <a:pPr algn="l">
              <a:lnSpc>
                <a:spcPct val="105000"/>
              </a:lnSpc>
            </a:pPr>
            <a:r>
              <a:rPr sz="1000" b="0">
                <a:solidFill>
                  <a:srgbClr val="E7EDF4"/>
                </a:solidFill>
                <a:latin typeface="DM Sans"/>
              </a:rPr>
              <a:t>contre UN signataire trompé ou une clé volée quand le quorum vient d'être atteint : une autre personne relit</a:t>
            </a:r>
          </a:p>
        </p:txBody>
      </p:sp>
      <p:sp>
        <p:nvSpPr>
          <p:cNvPr id="23" name="TextBox 22"/>
          <p:cNvSpPr txBox="1"/>
          <p:nvPr/>
        </p:nvSpPr>
        <p:spPr>
          <a:xfrm>
            <a:off x="9829800" y="2944368"/>
            <a:ext cx="1493215" cy="822960"/>
          </a:xfrm>
          <a:prstGeom prst="rect">
            <a:avLst/>
          </a:prstGeom>
          <a:noFill/>
        </p:spPr>
        <p:txBody>
          <a:bodyPr wrap="square" anchor="t" lIns="0" rIns="0" tIns="0" bIns="0">
            <a:spAutoFit/>
          </a:bodyPr>
          <a:lstStyle/>
          <a:p>
            <a:pPr algn="l">
              <a:lnSpc>
                <a:spcPct val="105000"/>
              </a:lnSpc>
            </a:pPr>
            <a:r>
              <a:rPr sz="1000" b="0">
                <a:solidFill>
                  <a:srgbClr val="E7EDF4"/>
                </a:solidFill>
                <a:latin typeface="DM Sans"/>
              </a:rPr>
              <a:t>un signataire de plus relit « ce que vous signez » et signe, ou non</a:t>
            </a:r>
          </a:p>
        </p:txBody>
      </p:sp>
      <p:sp>
        <p:nvSpPr>
          <p:cNvPr id="24" name="Rectangle 23"/>
          <p:cNvSpPr/>
          <p:nvPr/>
        </p:nvSpPr>
        <p:spPr>
          <a:xfrm>
            <a:off x="731520" y="3697320"/>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767328"/>
            <a:ext cx="1463040" cy="822960"/>
          </a:xfrm>
          <a:prstGeom prst="rect">
            <a:avLst/>
          </a:prstGeom>
          <a:noFill/>
        </p:spPr>
        <p:txBody>
          <a:bodyPr wrap="square" anchor="t" lIns="0" rIns="0" tIns="0" bIns="0">
            <a:spAutoFit/>
          </a:bodyPr>
          <a:lstStyle/>
          <a:p>
            <a:pPr algn="l">
              <a:lnSpc>
                <a:spcPct val="105000"/>
              </a:lnSpc>
            </a:pPr>
            <a:r>
              <a:rPr sz="1000" b="1">
                <a:solidFill>
                  <a:srgbClr val="F6F9FC"/>
                </a:solidFill>
                <a:latin typeface="DM Sans"/>
              </a:rPr>
              <a:t>Mise en attente · Standard (score ≥ 0,75)</a:t>
            </a:r>
          </a:p>
        </p:txBody>
      </p:sp>
      <p:sp>
        <p:nvSpPr>
          <p:cNvPr id="26" name="TextBox 25"/>
          <p:cNvSpPr txBox="1"/>
          <p:nvPr/>
        </p:nvSpPr>
        <p:spPr>
          <a:xfrm>
            <a:off x="2331720" y="3767328"/>
            <a:ext cx="1965960" cy="822960"/>
          </a:xfrm>
          <a:prstGeom prst="rect">
            <a:avLst/>
          </a:prstGeom>
          <a:noFill/>
        </p:spPr>
        <p:txBody>
          <a:bodyPr wrap="square" anchor="t" lIns="0" rIns="0" tIns="0" bIns="0">
            <a:spAutoFit/>
          </a:bodyPr>
          <a:lstStyle/>
          <a:p>
            <a:pPr algn="l">
              <a:lnSpc>
                <a:spcPct val="105000"/>
              </a:lnSpc>
            </a:pPr>
            <a:r>
              <a:rPr sz="1000" b="0">
                <a:solidFill>
                  <a:srgbClr val="E7EDF4"/>
                </a:solidFill>
                <a:latin typeface="DM Sans"/>
              </a:rPr>
              <a:t>rafale, adresse signalée, fonds souillés, sosie, nouveau signataire qui pousse un gros paiement</a:t>
            </a:r>
          </a:p>
        </p:txBody>
      </p:sp>
      <p:sp>
        <p:nvSpPr>
          <p:cNvPr id="27" name="TextBox 26"/>
          <p:cNvSpPr txBox="1"/>
          <p:nvPr/>
        </p:nvSpPr>
        <p:spPr>
          <a:xfrm>
            <a:off x="4434840" y="3767328"/>
            <a:ext cx="2880360" cy="822960"/>
          </a:xfrm>
          <a:prstGeom prst="rect">
            <a:avLst/>
          </a:prstGeom>
          <a:noFill/>
        </p:spPr>
        <p:txBody>
          <a:bodyPr wrap="square" anchor="t" lIns="0" rIns="0" tIns="0" bIns="0">
            <a:spAutoFit/>
          </a:bodyPr>
          <a:lstStyle/>
          <a:p>
            <a:pPr algn="l">
              <a:lnSpc>
                <a:spcPct val="105000"/>
              </a:lnSpc>
            </a:pPr>
            <a:r>
              <a:rPr sz="1000" b="0">
                <a:solidFill>
                  <a:srgbClr val="E7EDF4"/>
                </a:solidFill>
                <a:latin typeface="DM Sans"/>
              </a:rPr>
              <a:t>signature en plus ET un délai (24 h en réel, 180 s en démo) pendant lequel rien ne part, même avec toutes les signatures ; oracle, traçage et rapport d'incident tournent pendant ce temps</a:t>
            </a:r>
          </a:p>
        </p:txBody>
      </p:sp>
      <p:sp>
        <p:nvSpPr>
          <p:cNvPr id="28" name="TextBox 27"/>
          <p:cNvSpPr txBox="1"/>
          <p:nvPr/>
        </p:nvSpPr>
        <p:spPr>
          <a:xfrm>
            <a:off x="7452360" y="3767328"/>
            <a:ext cx="2240280" cy="822960"/>
          </a:xfrm>
          <a:prstGeom prst="rect">
            <a:avLst/>
          </a:prstGeom>
          <a:noFill/>
        </p:spPr>
        <p:txBody>
          <a:bodyPr wrap="square" anchor="t" lIns="0" rIns="0" tIns="0" bIns="0">
            <a:spAutoFit/>
          </a:bodyPr>
          <a:lstStyle/>
          <a:p>
            <a:pPr algn="l">
              <a:lnSpc>
                <a:spcPct val="105000"/>
              </a:lnSpc>
            </a:pPr>
            <a:r>
              <a:rPr sz="1000" b="0">
                <a:solidFill>
                  <a:srgbClr val="E7EDF4"/>
                </a:solidFill>
                <a:latin typeface="DM Sans"/>
              </a:rPr>
              <a:t>contre des attaquants qui tiennent DÉJÀ assez de clés (Bybit : 3 sur 6) : la seule protection qui reste est le temps, pour vérifier, annuler, ou révoquer sa clé</a:t>
            </a:r>
          </a:p>
        </p:txBody>
      </p:sp>
      <p:sp>
        <p:nvSpPr>
          <p:cNvPr id="29" name="TextBox 28"/>
          <p:cNvSpPr txBox="1"/>
          <p:nvPr/>
        </p:nvSpPr>
        <p:spPr>
          <a:xfrm>
            <a:off x="9829800" y="3767328"/>
            <a:ext cx="1493215" cy="822960"/>
          </a:xfrm>
          <a:prstGeom prst="rect">
            <a:avLst/>
          </a:prstGeom>
          <a:noFill/>
        </p:spPr>
        <p:txBody>
          <a:bodyPr wrap="square" anchor="t" lIns="0" rIns="0" tIns="0" bIns="0">
            <a:spAutoFit/>
          </a:bodyPr>
          <a:lstStyle/>
          <a:p>
            <a:pPr algn="l">
              <a:lnSpc>
                <a:spcPct val="105000"/>
              </a:lnSpc>
            </a:pPr>
            <a:r>
              <a:rPr sz="1000" b="0">
                <a:solidFill>
                  <a:srgbClr val="E7EDF4"/>
                </a:solidFill>
                <a:latin typeface="DM Sans"/>
              </a:rPr>
              <a:t>vérifier, annuler, ou lever l'attente à l'unanimité ; juger vraie / fausse alerte</a:t>
            </a:r>
          </a:p>
        </p:txBody>
      </p:sp>
      <p:sp>
        <p:nvSpPr>
          <p:cNvPr id="30" name="Rectangle 29"/>
          <p:cNvSpPr/>
          <p:nvPr/>
        </p:nvSpPr>
        <p:spPr>
          <a:xfrm>
            <a:off x="731520" y="4520280"/>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90288"/>
            <a:ext cx="1463040" cy="822960"/>
          </a:xfrm>
          <a:prstGeom prst="rect">
            <a:avLst/>
          </a:prstGeom>
          <a:noFill/>
        </p:spPr>
        <p:txBody>
          <a:bodyPr wrap="square" anchor="t" lIns="0" rIns="0" tIns="0" bIns="0">
            <a:spAutoFit/>
          </a:bodyPr>
          <a:lstStyle/>
          <a:p>
            <a:pPr algn="l">
              <a:lnSpc>
                <a:spcPct val="105000"/>
              </a:lnSpc>
            </a:pPr>
            <a:r>
              <a:rPr sz="1000" b="1">
                <a:solidFill>
                  <a:srgbClr val="F6F9FC"/>
                </a:solidFill>
                <a:latin typeface="DM Sans"/>
              </a:rPr>
              <a:t>Cosignataire · Premium</a:t>
            </a:r>
          </a:p>
        </p:txBody>
      </p:sp>
      <p:sp>
        <p:nvSpPr>
          <p:cNvPr id="32" name="TextBox 31"/>
          <p:cNvSpPr txBox="1"/>
          <p:nvPr/>
        </p:nvSpPr>
        <p:spPr>
          <a:xfrm>
            <a:off x="2331720" y="4590288"/>
            <a:ext cx="1965960" cy="822960"/>
          </a:xfrm>
          <a:prstGeom prst="rect">
            <a:avLst/>
          </a:prstGeom>
          <a:noFill/>
        </p:spPr>
        <p:txBody>
          <a:bodyPr wrap="square" anchor="t" lIns="0" rIns="0" tIns="0" bIns="0">
            <a:spAutoFit/>
          </a:bodyPr>
          <a:lstStyle/>
          <a:p>
            <a:pPr algn="l">
              <a:lnSpc>
                <a:spcPct val="105000"/>
              </a:lnSpc>
            </a:pPr>
            <a:r>
              <a:rPr sz="1000" b="0">
                <a:solidFill>
                  <a:srgbClr val="E7EDF4"/>
                </a:solidFill>
                <a:latin typeface="DM Sans"/>
              </a:rPr>
              <a:t>mêmes signaux ; le client a choisi ce niveau</a:t>
            </a:r>
          </a:p>
        </p:txBody>
      </p:sp>
      <p:sp>
        <p:nvSpPr>
          <p:cNvPr id="33" name="TextBox 32"/>
          <p:cNvSpPr txBox="1"/>
          <p:nvPr/>
        </p:nvSpPr>
        <p:spPr>
          <a:xfrm>
            <a:off x="4434840" y="4590288"/>
            <a:ext cx="2880360" cy="822960"/>
          </a:xfrm>
          <a:prstGeom prst="rect">
            <a:avLst/>
          </a:prstGeom>
          <a:noFill/>
        </p:spPr>
        <p:txBody>
          <a:bodyPr wrap="square" anchor="t" lIns="0" rIns="0" tIns="0" bIns="0">
            <a:spAutoFit/>
          </a:bodyPr>
          <a:lstStyle/>
          <a:p>
            <a:pPr algn="l">
              <a:lnSpc>
                <a:spcPct val="105000"/>
              </a:lnSpc>
            </a:pPr>
            <a:r>
              <a:rPr sz="1000" b="0">
                <a:solidFill>
                  <a:srgbClr val="E7EDF4"/>
                </a:solidFill>
                <a:latin typeface="DM Sans"/>
              </a:rPr>
              <a:t>l'agent occupe un siège de signataire : il REFUSE de signer un paiement à risque, donc le quorum n'est pas atteint ; c'est le seul niveau qui bloque</a:t>
            </a:r>
          </a:p>
        </p:txBody>
      </p:sp>
      <p:sp>
        <p:nvSpPr>
          <p:cNvPr id="34" name="TextBox 33"/>
          <p:cNvSpPr txBox="1"/>
          <p:nvPr/>
        </p:nvSpPr>
        <p:spPr>
          <a:xfrm>
            <a:off x="7452360" y="4590288"/>
            <a:ext cx="2240280" cy="822960"/>
          </a:xfrm>
          <a:prstGeom prst="rect">
            <a:avLst/>
          </a:prstGeom>
          <a:noFill/>
        </p:spPr>
        <p:txBody>
          <a:bodyPr wrap="square" anchor="t" lIns="0" rIns="0" tIns="0" bIns="0">
            <a:spAutoFit/>
          </a:bodyPr>
          <a:lstStyle/>
          <a:p>
            <a:pPr algn="l">
              <a:lnSpc>
                <a:spcPct val="105000"/>
              </a:lnSpc>
            </a:pPr>
            <a:r>
              <a:rPr sz="1000" b="0">
                <a:solidFill>
                  <a:srgbClr val="E7EDF4"/>
                </a:solidFill>
                <a:latin typeface="DM Sans"/>
              </a:rPr>
              <a:t>contre une équipe qui, sous pression, signerait quand même : le non est posé par l'agent, pas par un collègue</a:t>
            </a:r>
          </a:p>
        </p:txBody>
      </p:sp>
      <p:sp>
        <p:nvSpPr>
          <p:cNvPr id="35" name="TextBox 34"/>
          <p:cNvSpPr txBox="1"/>
          <p:nvPr/>
        </p:nvSpPr>
        <p:spPr>
          <a:xfrm>
            <a:off x="9829800" y="4590288"/>
            <a:ext cx="1493215" cy="822960"/>
          </a:xfrm>
          <a:prstGeom prst="rect">
            <a:avLst/>
          </a:prstGeom>
          <a:noFill/>
        </p:spPr>
        <p:txBody>
          <a:bodyPr wrap="square" anchor="t" lIns="0" rIns="0" tIns="0" bIns="0">
            <a:spAutoFit/>
          </a:bodyPr>
          <a:lstStyle/>
          <a:p>
            <a:pPr algn="l">
              <a:lnSpc>
                <a:spcPct val="105000"/>
              </a:lnSpc>
            </a:pPr>
            <a:r>
              <a:rPr sz="1000" b="0">
                <a:solidFill>
                  <a:srgbClr val="E7EDF4"/>
                </a:solidFill>
                <a:latin typeface="DM Sans"/>
              </a:rPr>
              <a:t>dérogation renforcée après délai : les signataires humains peuvent passer outre, à plusieurs</a:t>
            </a:r>
          </a:p>
        </p:txBody>
      </p:sp>
      <p:sp>
        <p:nvSpPr>
          <p:cNvPr id="36" name="Rectangle 35"/>
          <p:cNvSpPr/>
          <p:nvPr/>
        </p:nvSpPr>
        <p:spPr>
          <a:xfrm>
            <a:off x="731520" y="5343240"/>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413248"/>
            <a:ext cx="1463040" cy="822960"/>
          </a:xfrm>
          <a:prstGeom prst="rect">
            <a:avLst/>
          </a:prstGeom>
          <a:noFill/>
        </p:spPr>
        <p:txBody>
          <a:bodyPr wrap="square" anchor="t" lIns="0" rIns="0" tIns="0" bIns="0">
            <a:spAutoFit/>
          </a:bodyPr>
          <a:lstStyle/>
          <a:p>
            <a:pPr algn="l">
              <a:lnSpc>
                <a:spcPct val="105000"/>
              </a:lnSpc>
            </a:pPr>
            <a:r>
              <a:rPr sz="1000" b="1">
                <a:solidFill>
                  <a:srgbClr val="F6F9FC"/>
                </a:solidFill>
                <a:latin typeface="DM Sans"/>
              </a:rPr>
              <a:t>Gel · Standard</a:t>
            </a:r>
          </a:p>
        </p:txBody>
      </p:sp>
      <p:sp>
        <p:nvSpPr>
          <p:cNvPr id="38" name="TextBox 37"/>
          <p:cNvSpPr txBox="1"/>
          <p:nvPr/>
        </p:nvSpPr>
        <p:spPr>
          <a:xfrm>
            <a:off x="2331720" y="5413248"/>
            <a:ext cx="1965960" cy="822960"/>
          </a:xfrm>
          <a:prstGeom prst="rect">
            <a:avLst/>
          </a:prstGeom>
          <a:noFill/>
        </p:spPr>
        <p:txBody>
          <a:bodyPr wrap="square" anchor="t" lIns="0" rIns="0" tIns="0" bIns="0">
            <a:spAutoFit/>
          </a:bodyPr>
          <a:lstStyle/>
          <a:p>
            <a:pPr algn="l">
              <a:lnSpc>
                <a:spcPct val="105000"/>
              </a:lnSpc>
            </a:pPr>
            <a:r>
              <a:rPr sz="1000" b="0">
                <a:solidFill>
                  <a:srgbClr val="E7EDF4"/>
                </a:solidFill>
                <a:latin typeface="DM Sans"/>
              </a:rPr>
              <a:t>clé compromise, signature sous contrainte</a:t>
            </a:r>
          </a:p>
        </p:txBody>
      </p:sp>
      <p:sp>
        <p:nvSpPr>
          <p:cNvPr id="39" name="TextBox 38"/>
          <p:cNvSpPr txBox="1"/>
          <p:nvPr/>
        </p:nvSpPr>
        <p:spPr>
          <a:xfrm>
            <a:off x="4434840" y="5413248"/>
            <a:ext cx="2880360" cy="822960"/>
          </a:xfrm>
          <a:prstGeom prst="rect">
            <a:avLst/>
          </a:prstGeom>
          <a:noFill/>
        </p:spPr>
        <p:txBody>
          <a:bodyPr wrap="square" anchor="t" lIns="0" rIns="0" tIns="0" bIns="0">
            <a:spAutoFit/>
          </a:bodyPr>
          <a:lstStyle/>
          <a:p>
            <a:pPr algn="l">
              <a:lnSpc>
                <a:spcPct val="105000"/>
              </a:lnSpc>
            </a:pPr>
            <a:r>
              <a:rPr sz="1000" b="0">
                <a:solidFill>
                  <a:srgbClr val="E7EDF4"/>
                </a:solidFill>
                <a:latin typeface="DM Sans"/>
              </a:rPr>
              <a:t>clé d'identité : révocation immédiate par la victime seule ; clé de contrainte : gel silencieux et alerte privée</a:t>
            </a:r>
          </a:p>
        </p:txBody>
      </p:sp>
      <p:sp>
        <p:nvSpPr>
          <p:cNvPr id="40" name="TextBox 39"/>
          <p:cNvSpPr txBox="1"/>
          <p:nvPr/>
        </p:nvSpPr>
        <p:spPr>
          <a:xfrm>
            <a:off x="7452360" y="5413248"/>
            <a:ext cx="2240280" cy="822960"/>
          </a:xfrm>
          <a:prstGeom prst="rect">
            <a:avLst/>
          </a:prstGeom>
          <a:noFill/>
        </p:spPr>
        <p:txBody>
          <a:bodyPr wrap="square" anchor="t" lIns="0" rIns="0" tIns="0" bIns="0">
            <a:spAutoFit/>
          </a:bodyPr>
          <a:lstStyle/>
          <a:p>
            <a:pPr algn="l">
              <a:lnSpc>
                <a:spcPct val="105000"/>
              </a:lnSpc>
            </a:pPr>
            <a:r>
              <a:rPr sz="1000" b="0">
                <a:solidFill>
                  <a:srgbClr val="E7EDF4"/>
                </a:solidFill>
                <a:latin typeface="DM Sans"/>
              </a:rPr>
              <a:t>contre la perte d'une clé ou la menace physique sur une personne</a:t>
            </a:r>
          </a:p>
        </p:txBody>
      </p:sp>
      <p:sp>
        <p:nvSpPr>
          <p:cNvPr id="41" name="TextBox 40"/>
          <p:cNvSpPr txBox="1"/>
          <p:nvPr/>
        </p:nvSpPr>
        <p:spPr>
          <a:xfrm>
            <a:off x="9829800" y="5413248"/>
            <a:ext cx="1493215" cy="822960"/>
          </a:xfrm>
          <a:prstGeom prst="rect">
            <a:avLst/>
          </a:prstGeom>
          <a:noFill/>
        </p:spPr>
        <p:txBody>
          <a:bodyPr wrap="square" anchor="t" lIns="0" rIns="0" tIns="0" bIns="0">
            <a:spAutoFit/>
          </a:bodyPr>
          <a:lstStyle/>
          <a:p>
            <a:pPr algn="l">
              <a:lnSpc>
                <a:spcPct val="105000"/>
              </a:lnSpc>
            </a:pPr>
            <a:r>
              <a:rPr sz="1000" b="0">
                <a:solidFill>
                  <a:srgbClr val="E7EDF4"/>
                </a:solidFill>
                <a:latin typeface="DM Sans"/>
              </a:rPr>
              <a:t>remplacer la clé ; dégeler à la majorité des clés saines</a:t>
            </a:r>
          </a:p>
        </p:txBody>
      </p:sp>
      <p:sp>
        <p:nvSpPr>
          <p:cNvPr id="42" name="Rectangle 41"/>
          <p:cNvSpPr/>
          <p:nvPr/>
        </p:nvSpPr>
        <p:spPr>
          <a:xfrm>
            <a:off x="731520" y="6166200"/>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265615" y="-822960"/>
            <a:ext cx="3291840" cy="3679115"/>
          </a:xfrm>
          <a:custGeom>
            <a:avLst/>
            <a:gdLst/>
            <a:ahLst/>
            <a:cxnLst/>
            <a:rect l="l" t="t" r="r" b="b"/>
            <a:pathLst>
              <a:path w="3291840" h="3679115">
                <a:moveTo>
                  <a:pt x="0" y="0"/>
                </a:moveTo>
                <a:lnTo>
                  <a:pt x="2304288" y="0"/>
                </a:lnTo>
                <a:lnTo>
                  <a:pt x="3291840" y="956569"/>
                </a:lnTo>
                <a:lnTo>
                  <a:pt x="3291840" y="3679115"/>
                </a:lnTo>
                <a:lnTo>
                  <a:pt x="987552" y="3679115"/>
                </a:lnTo>
                <a:lnTo>
                  <a:pt x="0" y="2722545"/>
                </a:lnTo>
                <a:close/>
              </a:path>
            </a:pathLst>
          </a:custGeom>
          <a:solidFill>
            <a:srgbClr val="0B17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65615" y="-528631"/>
            <a:ext cx="3291840" cy="3090456"/>
          </a:xfrm>
          <a:prstGeom prst="rect">
            <a:avLst/>
          </a:prstGeom>
          <a:noFill/>
        </p:spPr>
        <p:txBody>
          <a:bodyPr wrap="square" anchor="ctr" lIns="0" rIns="0" tIns="0" bIns="0">
            <a:spAutoFit/>
          </a:bodyPr>
          <a:lstStyle/>
          <a:p>
            <a:pPr algn="ctr">
              <a:lnSpc>
                <a:spcPct val="115000"/>
              </a:lnSpc>
            </a:pPr>
            <a:r>
              <a:rPr sz="12800" b="1">
                <a:solidFill>
                  <a:srgbClr val="0B1728"/>
                </a:solidFill>
                <a:latin typeface="Manrope"/>
              </a:rPr>
              <a:t>B</a:t>
            </a:r>
          </a:p>
        </p:txBody>
      </p:sp>
      <p:sp>
        <p:nvSpPr>
          <p:cNvPr id="5" name="Freeform 4"/>
          <p:cNvSpPr/>
          <p:nvPr/>
        </p:nvSpPr>
        <p:spPr>
          <a:xfrm>
            <a:off x="731520" y="6291072"/>
            <a:ext cx="237744" cy="265713"/>
          </a:xfrm>
          <a:custGeom>
            <a:avLst/>
            <a:gdLst/>
            <a:ahLst/>
            <a:cxnLst/>
            <a:rect l="l" t="t" r="r" b="b"/>
            <a:pathLst>
              <a:path w="237744" h="265713">
                <a:moveTo>
                  <a:pt x="0" y="0"/>
                </a:moveTo>
                <a:lnTo>
                  <a:pt x="166420" y="0"/>
                </a:lnTo>
                <a:lnTo>
                  <a:pt x="237744" y="69085"/>
                </a:lnTo>
                <a:lnTo>
                  <a:pt x="237744" y="265713"/>
                </a:lnTo>
                <a:lnTo>
                  <a:pt x="71323" y="265713"/>
                </a:lnTo>
                <a:lnTo>
                  <a:pt x="0" y="196627"/>
                </a:lnTo>
                <a:close/>
              </a:path>
            </a:pathLst>
          </a:cu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12329"/>
            <a:ext cx="237744" cy="223198"/>
          </a:xfrm>
          <a:prstGeom prst="rect">
            <a:avLst/>
          </a:prstGeom>
          <a:noFill/>
        </p:spPr>
        <p:txBody>
          <a:bodyPr wrap="square" anchor="ctr" lIns="0" rIns="0" tIns="0" bIns="0">
            <a:spAutoFit/>
          </a:bodyPr>
          <a:lstStyle/>
          <a:p>
            <a:pPr algn="ctr">
              <a:lnSpc>
                <a:spcPct val="115000"/>
              </a:lnSpc>
            </a:pPr>
            <a:r>
              <a:rPr sz="900" b="1">
                <a:solidFill>
                  <a:srgbClr val="142008"/>
                </a:solidFill>
                <a:latin typeface="Manrope"/>
              </a:rPr>
              <a:t>B</a:t>
            </a:r>
          </a:p>
        </p:txBody>
      </p:sp>
      <p:sp>
        <p:nvSpPr>
          <p:cNvPr id="7" name="TextBox 6"/>
          <p:cNvSpPr txBox="1"/>
          <p:nvPr/>
        </p:nvSpPr>
        <p:spPr>
          <a:xfrm>
            <a:off x="1060704" y="6245352"/>
            <a:ext cx="1828800" cy="365760"/>
          </a:xfrm>
          <a:prstGeom prst="rect">
            <a:avLst/>
          </a:prstGeom>
          <a:noFill/>
        </p:spPr>
        <p:txBody>
          <a:bodyPr wrap="square" anchor="t" lIns="0" rIns="0" tIns="0" bIns="0">
            <a:spAutoFit/>
          </a:bodyPr>
          <a:lstStyle/>
          <a:p>
            <a:pPr algn="l">
              <a:lnSpc>
                <a:spcPct val="115000"/>
              </a:lnSpc>
            </a:pPr>
            <a:r>
              <a:rPr sz="1300" b="1">
                <a:solidFill>
                  <a:srgbClr val="F6F9FC"/>
                </a:solidFill>
                <a:latin typeface="Manrope"/>
              </a:rPr>
              <a:t>breaker</a:t>
            </a:r>
            <a:r>
              <a:rPr sz="1300" b="1">
                <a:solidFill>
                  <a:srgbClr val="C7FA70"/>
                </a:solidFill>
                <a:latin typeface="Manrope"/>
              </a:rPr>
              <a:t>.</a:t>
            </a:r>
          </a:p>
        </p:txBody>
      </p:sp>
      <p:sp>
        <p:nvSpPr>
          <p:cNvPr id="8" name="TextBox 7"/>
          <p:cNvSpPr txBox="1"/>
          <p:nvPr/>
        </p:nvSpPr>
        <p:spPr>
          <a:xfrm>
            <a:off x="8716975" y="6254496"/>
            <a:ext cx="2743200" cy="320040"/>
          </a:xfrm>
          <a:prstGeom prst="rect">
            <a:avLst/>
          </a:prstGeom>
          <a:noFill/>
        </p:spPr>
        <p:txBody>
          <a:bodyPr wrap="square" anchor="t" lIns="0" rIns="0" tIns="0" bIns="0">
            <a:spAutoFit/>
          </a:bodyPr>
          <a:lstStyle/>
          <a:p>
            <a:pPr algn="r">
              <a:lnSpc>
                <a:spcPct val="115000"/>
              </a:lnSpc>
            </a:pPr>
            <a:r>
              <a:rPr sz="1100" b="0">
                <a:solidFill>
                  <a:srgbClr val="7F8B9B"/>
                </a:solidFill>
                <a:latin typeface="DM Sans"/>
              </a:rPr>
              <a:t>annexe A3</a:t>
            </a:r>
          </a:p>
        </p:txBody>
      </p:sp>
      <p:sp>
        <p:nvSpPr>
          <p:cNvPr id="9" name="TextBox 8"/>
          <p:cNvSpPr txBox="1"/>
          <p:nvPr/>
        </p:nvSpPr>
        <p:spPr>
          <a:xfrm>
            <a:off x="731520" y="502920"/>
            <a:ext cx="10728655" cy="320040"/>
          </a:xfrm>
          <a:prstGeom prst="rect">
            <a:avLst/>
          </a:prstGeom>
          <a:noFill/>
        </p:spPr>
        <p:txBody>
          <a:bodyPr wrap="square" anchor="t" lIns="0" rIns="0" tIns="0" bIns="0">
            <a:spAutoFit/>
          </a:bodyPr>
          <a:lstStyle/>
          <a:p>
            <a:pPr algn="l">
              <a:lnSpc>
                <a:spcPct val="115000"/>
              </a:lnSpc>
            </a:pPr>
            <a:r>
              <a:rPr sz="1100" b="1">
                <a:solidFill>
                  <a:srgbClr val="FFC481"/>
                </a:solidFill>
                <a:latin typeface="DM Sans"/>
              </a:rPr>
              <a:t>ANNEXE A3 · SÉCURITÉ DU CONTRAT  </a:t>
            </a:r>
            <a:r>
              <a:rPr sz="1100" b="0">
                <a:solidFill>
                  <a:srgbClr val="A9B4C2"/>
                </a:solidFill>
                <a:latin typeface="DM Sans"/>
              </a:rPr>
              <a:t>chaque phrase est vérifiable en une commande</a:t>
            </a:r>
          </a:p>
        </p:txBody>
      </p:sp>
      <p:sp>
        <p:nvSpPr>
          <p:cNvPr id="10" name="Rounded Rectangle 9"/>
          <p:cNvSpPr/>
          <p:nvPr/>
        </p:nvSpPr>
        <p:spPr>
          <a:xfrm>
            <a:off x="10088575" y="457200"/>
            <a:ext cx="1371600" cy="347472"/>
          </a:xfrm>
          <a:prstGeom prst="roundRect">
            <a:avLst>
              <a:gd name="adj" fmla="val 50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88575" y="457200"/>
            <a:ext cx="1371600" cy="347472"/>
          </a:xfrm>
          <a:prstGeom prst="rect">
            <a:avLst/>
          </a:prstGeom>
          <a:noFill/>
        </p:spPr>
        <p:txBody>
          <a:bodyPr wrap="square" anchor="ctr" lIns="0" rIns="0" tIns="0" bIns="0">
            <a:spAutoFit/>
          </a:bodyPr>
          <a:lstStyle/>
          <a:p>
            <a:pPr algn="ctr">
              <a:lnSpc>
                <a:spcPct val="115000"/>
              </a:lnSpc>
            </a:pPr>
            <a:r>
              <a:rPr sz="1000" b="1">
                <a:solidFill>
                  <a:srgbClr val="C7FA70"/>
                </a:solidFill>
                <a:latin typeface="DM Sans"/>
              </a:rPr>
              <a:t>TIMÉO</a:t>
            </a:r>
          </a:p>
        </p:txBody>
      </p:sp>
      <p:sp>
        <p:nvSpPr>
          <p:cNvPr id="12" name="TextBox 11"/>
          <p:cNvSpPr txBox="1"/>
          <p:nvPr/>
        </p:nvSpPr>
        <p:spPr>
          <a:xfrm>
            <a:off x="731520" y="960120"/>
            <a:ext cx="9357055" cy="1463040"/>
          </a:xfrm>
          <a:prstGeom prst="rect">
            <a:avLst/>
          </a:prstGeom>
          <a:noFill/>
        </p:spPr>
        <p:txBody>
          <a:bodyPr wrap="square" anchor="t" lIns="0" rIns="0" tIns="0" bIns="0">
            <a:spAutoFit/>
          </a:bodyPr>
          <a:lstStyle/>
          <a:p>
            <a:pPr algn="l">
              <a:lnSpc>
                <a:spcPct val="102000"/>
              </a:lnSpc>
            </a:pPr>
            <a:r>
              <a:rPr sz="2800" b="1">
                <a:solidFill>
                  <a:srgbClr val="F6F9FC"/>
                </a:solidFill>
                <a:latin typeface="Manrope"/>
              </a:rPr>
              <a:t>Pas encore audité par un tiers. Voici ce qu'on a fait à la place, et ce que ça vaut.</a:t>
            </a:r>
          </a:p>
        </p:txBody>
      </p:sp>
      <p:sp>
        <p:nvSpPr>
          <p:cNvPr id="13" name="Rounded Rectangle 12"/>
          <p:cNvSpPr/>
          <p:nvPr/>
        </p:nvSpPr>
        <p:spPr>
          <a:xfrm>
            <a:off x="731520" y="2194560"/>
            <a:ext cx="2531287" cy="146304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194560"/>
            <a:ext cx="54864" cy="1463040"/>
          </a:xfrm>
          <a:prstGeom prst="rect">
            <a:avLst/>
          </a:pr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395728"/>
            <a:ext cx="2074087" cy="640080"/>
          </a:xfrm>
          <a:prstGeom prst="rect">
            <a:avLst/>
          </a:prstGeom>
          <a:noFill/>
        </p:spPr>
        <p:txBody>
          <a:bodyPr wrap="square" anchor="t" lIns="0" rIns="0" tIns="0" bIns="0">
            <a:spAutoFit/>
          </a:bodyPr>
          <a:lstStyle/>
          <a:p>
            <a:pPr algn="l">
              <a:lnSpc>
                <a:spcPct val="115000"/>
              </a:lnSpc>
            </a:pPr>
            <a:r>
              <a:rPr sz="3400" b="1">
                <a:solidFill>
                  <a:srgbClr val="C7FA70"/>
                </a:solidFill>
                <a:latin typeface="Manrope"/>
              </a:rPr>
              <a:t>0</a:t>
            </a:r>
          </a:p>
        </p:txBody>
      </p:sp>
      <p:sp>
        <p:nvSpPr>
          <p:cNvPr id="16" name="TextBox 15"/>
          <p:cNvSpPr txBox="1"/>
          <p:nvPr/>
        </p:nvSpPr>
        <p:spPr>
          <a:xfrm>
            <a:off x="1005840" y="3054096"/>
            <a:ext cx="2074087" cy="594360"/>
          </a:xfrm>
          <a:prstGeom prst="rect">
            <a:avLst/>
          </a:prstGeom>
          <a:noFill/>
        </p:spPr>
        <p:txBody>
          <a:bodyPr wrap="square" anchor="t" lIns="0" rIns="0" tIns="0" bIns="0">
            <a:spAutoFit/>
          </a:bodyPr>
          <a:lstStyle/>
          <a:p>
            <a:pPr algn="l">
              <a:lnSpc>
                <a:spcPct val="112000"/>
              </a:lnSpc>
            </a:pPr>
            <a:r>
              <a:rPr sz="1150" b="0">
                <a:solidFill>
                  <a:srgbClr val="A9B4C2"/>
                </a:solidFill>
                <a:latin typeface="DM Sans"/>
              </a:rPr>
              <a:t>détection haute ou moyenne (Slither 0.11, solc 0.8.24)</a:t>
            </a:r>
          </a:p>
        </p:txBody>
      </p:sp>
      <p:sp>
        <p:nvSpPr>
          <p:cNvPr id="17" name="Rounded Rectangle 16"/>
          <p:cNvSpPr/>
          <p:nvPr/>
        </p:nvSpPr>
        <p:spPr>
          <a:xfrm>
            <a:off x="3463975" y="2194560"/>
            <a:ext cx="2531287" cy="146304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63975" y="2194560"/>
            <a:ext cx="54864" cy="1463040"/>
          </a:xfrm>
          <a:prstGeom prst="rect">
            <a:avLst/>
          </a:prstGeom>
          <a:solidFill>
            <a:srgbClr val="F6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38295" y="2395728"/>
            <a:ext cx="2074087" cy="640080"/>
          </a:xfrm>
          <a:prstGeom prst="rect">
            <a:avLst/>
          </a:prstGeom>
          <a:noFill/>
        </p:spPr>
        <p:txBody>
          <a:bodyPr wrap="square" anchor="t" lIns="0" rIns="0" tIns="0" bIns="0">
            <a:spAutoFit/>
          </a:bodyPr>
          <a:lstStyle/>
          <a:p>
            <a:pPr algn="l">
              <a:lnSpc>
                <a:spcPct val="115000"/>
              </a:lnSpc>
            </a:pPr>
            <a:r>
              <a:rPr sz="3400" b="1">
                <a:solidFill>
                  <a:srgbClr val="F6F9FC"/>
                </a:solidFill>
                <a:latin typeface="Manrope"/>
              </a:rPr>
              <a:t>50</a:t>
            </a:r>
          </a:p>
        </p:txBody>
      </p:sp>
      <p:sp>
        <p:nvSpPr>
          <p:cNvPr id="20" name="TextBox 19"/>
          <p:cNvSpPr txBox="1"/>
          <p:nvPr/>
        </p:nvSpPr>
        <p:spPr>
          <a:xfrm>
            <a:off x="3738295" y="3054096"/>
            <a:ext cx="2074087" cy="594360"/>
          </a:xfrm>
          <a:prstGeom prst="rect">
            <a:avLst/>
          </a:prstGeom>
          <a:noFill/>
        </p:spPr>
        <p:txBody>
          <a:bodyPr wrap="square" anchor="t" lIns="0" rIns="0" tIns="0" bIns="0">
            <a:spAutoFit/>
          </a:bodyPr>
          <a:lstStyle/>
          <a:p>
            <a:pPr algn="l">
              <a:lnSpc>
                <a:spcPct val="112000"/>
              </a:lnSpc>
            </a:pPr>
            <a:r>
              <a:rPr sz="1150" b="0">
                <a:solidFill>
                  <a:srgbClr val="A9B4C2"/>
                </a:solidFill>
                <a:latin typeface="DM Sans"/>
              </a:rPr>
              <a:t>tests unitaires (npx hardhat test)</a:t>
            </a:r>
          </a:p>
        </p:txBody>
      </p:sp>
      <p:sp>
        <p:nvSpPr>
          <p:cNvPr id="21" name="Rounded Rectangle 20"/>
          <p:cNvSpPr/>
          <p:nvPr/>
        </p:nvSpPr>
        <p:spPr>
          <a:xfrm>
            <a:off x="6196430" y="2194560"/>
            <a:ext cx="2531287" cy="146304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6430" y="2194560"/>
            <a:ext cx="54864" cy="1463040"/>
          </a:xfrm>
          <a:prstGeom prst="rect">
            <a:avLst/>
          </a:prstGeom>
          <a:solidFill>
            <a:srgbClr val="F6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0750" y="2395728"/>
            <a:ext cx="2074087" cy="640080"/>
          </a:xfrm>
          <a:prstGeom prst="rect">
            <a:avLst/>
          </a:prstGeom>
          <a:noFill/>
        </p:spPr>
        <p:txBody>
          <a:bodyPr wrap="square" anchor="t" lIns="0" rIns="0" tIns="0" bIns="0">
            <a:spAutoFit/>
          </a:bodyPr>
          <a:lstStyle/>
          <a:p>
            <a:pPr algn="l">
              <a:lnSpc>
                <a:spcPct val="115000"/>
              </a:lnSpc>
            </a:pPr>
            <a:r>
              <a:rPr sz="3400" b="1">
                <a:solidFill>
                  <a:srgbClr val="F6F9FC"/>
                </a:solidFill>
                <a:latin typeface="Manrope"/>
              </a:rPr>
              <a:t>6 926</a:t>
            </a:r>
          </a:p>
        </p:txBody>
      </p:sp>
      <p:sp>
        <p:nvSpPr>
          <p:cNvPr id="24" name="TextBox 23"/>
          <p:cNvSpPr txBox="1"/>
          <p:nvPr/>
        </p:nvSpPr>
        <p:spPr>
          <a:xfrm>
            <a:off x="6470750" y="3054096"/>
            <a:ext cx="2074087" cy="594360"/>
          </a:xfrm>
          <a:prstGeom prst="rect">
            <a:avLst/>
          </a:prstGeom>
          <a:noFill/>
        </p:spPr>
        <p:txBody>
          <a:bodyPr wrap="square" anchor="t" lIns="0" rIns="0" tIns="0" bIns="0">
            <a:spAutoFit/>
          </a:bodyPr>
          <a:lstStyle/>
          <a:p>
            <a:pPr algn="l">
              <a:lnSpc>
                <a:spcPct val="112000"/>
              </a:lnSpc>
            </a:pPr>
            <a:r>
              <a:rPr sz="1150" b="0">
                <a:solidFill>
                  <a:srgbClr val="A9B4C2"/>
                </a:solidFill>
                <a:latin typeface="DM Sans"/>
              </a:rPr>
              <a:t>appels aléatoires, 300 séquences, 8 types d'acteurs</a:t>
            </a:r>
          </a:p>
        </p:txBody>
      </p:sp>
      <p:sp>
        <p:nvSpPr>
          <p:cNvPr id="25" name="Rounded Rectangle 24"/>
          <p:cNvSpPr/>
          <p:nvPr/>
        </p:nvSpPr>
        <p:spPr>
          <a:xfrm>
            <a:off x="8928885" y="2194560"/>
            <a:ext cx="2531287" cy="1463040"/>
          </a:xfrm>
          <a:prstGeom prst="roundRect">
            <a:avLst>
              <a:gd name="adj" fmla="val 8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28885" y="2194560"/>
            <a:ext cx="54864" cy="1463040"/>
          </a:xfrm>
          <a:prstGeom prst="rect">
            <a:avLst/>
          </a:pr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03205" y="2395728"/>
            <a:ext cx="2074087" cy="640080"/>
          </a:xfrm>
          <a:prstGeom prst="rect">
            <a:avLst/>
          </a:prstGeom>
          <a:noFill/>
        </p:spPr>
        <p:txBody>
          <a:bodyPr wrap="square" anchor="t" lIns="0" rIns="0" tIns="0" bIns="0">
            <a:spAutoFit/>
          </a:bodyPr>
          <a:lstStyle/>
          <a:p>
            <a:pPr algn="l">
              <a:lnSpc>
                <a:spcPct val="115000"/>
              </a:lnSpc>
            </a:pPr>
            <a:r>
              <a:rPr sz="3400" b="1">
                <a:solidFill>
                  <a:srgbClr val="C7FA70"/>
                </a:solidFill>
                <a:latin typeface="Manrope"/>
              </a:rPr>
              <a:t>0</a:t>
            </a:r>
          </a:p>
        </p:txBody>
      </p:sp>
      <p:sp>
        <p:nvSpPr>
          <p:cNvPr id="28" name="TextBox 27"/>
          <p:cNvSpPr txBox="1"/>
          <p:nvPr/>
        </p:nvSpPr>
        <p:spPr>
          <a:xfrm>
            <a:off x="9203205" y="3054096"/>
            <a:ext cx="2074087" cy="594360"/>
          </a:xfrm>
          <a:prstGeom prst="rect">
            <a:avLst/>
          </a:prstGeom>
          <a:noFill/>
        </p:spPr>
        <p:txBody>
          <a:bodyPr wrap="square" anchor="t" lIns="0" rIns="0" tIns="0" bIns="0">
            <a:spAutoFit/>
          </a:bodyPr>
          <a:lstStyle/>
          <a:p>
            <a:pPr algn="l">
              <a:lnSpc>
                <a:spcPct val="112000"/>
              </a:lnSpc>
            </a:pPr>
            <a:r>
              <a:rPr sz="1150" b="0">
                <a:solidFill>
                  <a:srgbClr val="A9B4C2"/>
                </a:solidFill>
                <a:latin typeface="DM Sans"/>
              </a:rPr>
              <a:t>invariant violé sur les 6 promesses du contrat (I1–I6)</a:t>
            </a:r>
          </a:p>
        </p:txBody>
      </p:sp>
      <p:sp>
        <p:nvSpPr>
          <p:cNvPr id="29" name="TextBox 28"/>
          <p:cNvSpPr txBox="1"/>
          <p:nvPr/>
        </p:nvSpPr>
        <p:spPr>
          <a:xfrm>
            <a:off x="731520" y="3931920"/>
            <a:ext cx="10728655" cy="1645920"/>
          </a:xfrm>
          <a:prstGeom prst="rect">
            <a:avLst/>
          </a:prstGeom>
          <a:noFill/>
        </p:spPr>
        <p:txBody>
          <a:bodyPr wrap="square" anchor="t" lIns="0" rIns="0" tIns="0" bIns="0">
            <a:spAutoFit/>
          </a:bodyPr>
          <a:lstStyle/>
          <a:p>
            <a:pPr algn="l">
              <a:lnSpc>
                <a:spcPct val="135000"/>
              </a:lnSpc>
            </a:pPr>
            <a:r>
              <a:rPr sz="1400" b="0">
                <a:solidFill>
                  <a:srgbClr val="E7EDF4"/>
                </a:solidFill>
                <a:latin typeface="DM Sans"/>
              </a:rPr>
              <a:t>•  L'architecture borne le risque : aucune fonction, pas même la nôtre, ne transfère sans les signatures du client. Le pire bug possible est un faux ralentissement.</a:t>
            </a:r>
          </a:p>
          <a:p>
            <a:pPr algn="l">
              <a:lnSpc>
                <a:spcPct val="135000"/>
              </a:lnSpc>
            </a:pPr>
            <a:r>
              <a:rPr sz="1400" b="0">
                <a:solidFill>
                  <a:srgbClr val="E7EDF4"/>
                </a:solidFill>
                <a:latin typeface="DM Sans"/>
              </a:rPr>
              <a:t>•  Code public, licence MIT, commandes dans shared/audit-contrat.md.</a:t>
            </a:r>
          </a:p>
          <a:p>
            <a:pPr algn="l">
              <a:lnSpc>
                <a:spcPct val="135000"/>
              </a:lnSpc>
            </a:pPr>
            <a:r>
              <a:rPr sz="1400" b="0">
                <a:solidFill>
                  <a:srgbClr val="E7EDF4"/>
                </a:solidFill>
                <a:latin typeface="DM Sans"/>
              </a:rPr>
              <a:t>•  Audit externe avant le premier client payant ; surface d'environ 500 lignes, sans garde de fonds.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265615" y="-822960"/>
            <a:ext cx="3291840" cy="3679115"/>
          </a:xfrm>
          <a:custGeom>
            <a:avLst/>
            <a:gdLst/>
            <a:ahLst/>
            <a:cxnLst/>
            <a:rect l="l" t="t" r="r" b="b"/>
            <a:pathLst>
              <a:path w="3291840" h="3679115">
                <a:moveTo>
                  <a:pt x="0" y="0"/>
                </a:moveTo>
                <a:lnTo>
                  <a:pt x="2304288" y="0"/>
                </a:lnTo>
                <a:lnTo>
                  <a:pt x="3291840" y="956569"/>
                </a:lnTo>
                <a:lnTo>
                  <a:pt x="3291840" y="3679115"/>
                </a:lnTo>
                <a:lnTo>
                  <a:pt x="987552" y="3679115"/>
                </a:lnTo>
                <a:lnTo>
                  <a:pt x="0" y="2722545"/>
                </a:lnTo>
                <a:close/>
              </a:path>
            </a:pathLst>
          </a:custGeom>
          <a:solidFill>
            <a:srgbClr val="0B17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65615" y="-528631"/>
            <a:ext cx="3291840" cy="3090456"/>
          </a:xfrm>
          <a:prstGeom prst="rect">
            <a:avLst/>
          </a:prstGeom>
          <a:noFill/>
        </p:spPr>
        <p:txBody>
          <a:bodyPr wrap="square" anchor="ctr" lIns="0" rIns="0" tIns="0" bIns="0">
            <a:spAutoFit/>
          </a:bodyPr>
          <a:lstStyle/>
          <a:p>
            <a:pPr algn="ctr">
              <a:lnSpc>
                <a:spcPct val="115000"/>
              </a:lnSpc>
            </a:pPr>
            <a:r>
              <a:rPr sz="12800" b="1">
                <a:solidFill>
                  <a:srgbClr val="0B1728"/>
                </a:solidFill>
                <a:latin typeface="Manrope"/>
              </a:rPr>
              <a:t>B</a:t>
            </a:r>
          </a:p>
        </p:txBody>
      </p:sp>
      <p:sp>
        <p:nvSpPr>
          <p:cNvPr id="5" name="Freeform 4"/>
          <p:cNvSpPr/>
          <p:nvPr/>
        </p:nvSpPr>
        <p:spPr>
          <a:xfrm>
            <a:off x="731520" y="6291072"/>
            <a:ext cx="237744" cy="265713"/>
          </a:xfrm>
          <a:custGeom>
            <a:avLst/>
            <a:gdLst/>
            <a:ahLst/>
            <a:cxnLst/>
            <a:rect l="l" t="t" r="r" b="b"/>
            <a:pathLst>
              <a:path w="237744" h="265713">
                <a:moveTo>
                  <a:pt x="0" y="0"/>
                </a:moveTo>
                <a:lnTo>
                  <a:pt x="166420" y="0"/>
                </a:lnTo>
                <a:lnTo>
                  <a:pt x="237744" y="69085"/>
                </a:lnTo>
                <a:lnTo>
                  <a:pt x="237744" y="265713"/>
                </a:lnTo>
                <a:lnTo>
                  <a:pt x="71323" y="265713"/>
                </a:lnTo>
                <a:lnTo>
                  <a:pt x="0" y="196627"/>
                </a:lnTo>
                <a:close/>
              </a:path>
            </a:pathLst>
          </a:custGeom>
          <a:solidFill>
            <a:srgbClr val="C7F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12329"/>
            <a:ext cx="237744" cy="223198"/>
          </a:xfrm>
          <a:prstGeom prst="rect">
            <a:avLst/>
          </a:prstGeom>
          <a:noFill/>
        </p:spPr>
        <p:txBody>
          <a:bodyPr wrap="square" anchor="ctr" lIns="0" rIns="0" tIns="0" bIns="0">
            <a:spAutoFit/>
          </a:bodyPr>
          <a:lstStyle/>
          <a:p>
            <a:pPr algn="ctr">
              <a:lnSpc>
                <a:spcPct val="115000"/>
              </a:lnSpc>
            </a:pPr>
            <a:r>
              <a:rPr sz="900" b="1">
                <a:solidFill>
                  <a:srgbClr val="142008"/>
                </a:solidFill>
                <a:latin typeface="Manrope"/>
              </a:rPr>
              <a:t>B</a:t>
            </a:r>
          </a:p>
        </p:txBody>
      </p:sp>
      <p:sp>
        <p:nvSpPr>
          <p:cNvPr id="7" name="TextBox 6"/>
          <p:cNvSpPr txBox="1"/>
          <p:nvPr/>
        </p:nvSpPr>
        <p:spPr>
          <a:xfrm>
            <a:off x="1060704" y="6245352"/>
            <a:ext cx="1828800" cy="365760"/>
          </a:xfrm>
          <a:prstGeom prst="rect">
            <a:avLst/>
          </a:prstGeom>
          <a:noFill/>
        </p:spPr>
        <p:txBody>
          <a:bodyPr wrap="square" anchor="t" lIns="0" rIns="0" tIns="0" bIns="0">
            <a:spAutoFit/>
          </a:bodyPr>
          <a:lstStyle/>
          <a:p>
            <a:pPr algn="l">
              <a:lnSpc>
                <a:spcPct val="115000"/>
              </a:lnSpc>
            </a:pPr>
            <a:r>
              <a:rPr sz="1300" b="1">
                <a:solidFill>
                  <a:srgbClr val="F6F9FC"/>
                </a:solidFill>
                <a:latin typeface="Manrope"/>
              </a:rPr>
              <a:t>breaker</a:t>
            </a:r>
            <a:r>
              <a:rPr sz="1300" b="1">
                <a:solidFill>
                  <a:srgbClr val="C7FA70"/>
                </a:solidFill>
                <a:latin typeface="Manrope"/>
              </a:rPr>
              <a:t>.</a:t>
            </a:r>
          </a:p>
        </p:txBody>
      </p:sp>
      <p:sp>
        <p:nvSpPr>
          <p:cNvPr id="8" name="TextBox 7"/>
          <p:cNvSpPr txBox="1"/>
          <p:nvPr/>
        </p:nvSpPr>
        <p:spPr>
          <a:xfrm>
            <a:off x="8716975" y="6254496"/>
            <a:ext cx="2743200" cy="320040"/>
          </a:xfrm>
          <a:prstGeom prst="rect">
            <a:avLst/>
          </a:prstGeom>
          <a:noFill/>
        </p:spPr>
        <p:txBody>
          <a:bodyPr wrap="square" anchor="t" lIns="0" rIns="0" tIns="0" bIns="0">
            <a:spAutoFit/>
          </a:bodyPr>
          <a:lstStyle/>
          <a:p>
            <a:pPr algn="r">
              <a:lnSpc>
                <a:spcPct val="115000"/>
              </a:lnSpc>
            </a:pPr>
            <a:r>
              <a:rPr sz="1100" b="0">
                <a:solidFill>
                  <a:srgbClr val="7F8B9B"/>
                </a:solidFill>
                <a:latin typeface="DM Sans"/>
              </a:rPr>
              <a:t>annexe A4</a:t>
            </a:r>
          </a:p>
        </p:txBody>
      </p:sp>
      <p:sp>
        <p:nvSpPr>
          <p:cNvPr id="9" name="TextBox 8"/>
          <p:cNvSpPr txBox="1"/>
          <p:nvPr/>
        </p:nvSpPr>
        <p:spPr>
          <a:xfrm>
            <a:off x="731520" y="502920"/>
            <a:ext cx="10728655" cy="320040"/>
          </a:xfrm>
          <a:prstGeom prst="rect">
            <a:avLst/>
          </a:prstGeom>
          <a:noFill/>
        </p:spPr>
        <p:txBody>
          <a:bodyPr wrap="square" anchor="t" lIns="0" rIns="0" tIns="0" bIns="0">
            <a:spAutoFit/>
          </a:bodyPr>
          <a:lstStyle/>
          <a:p>
            <a:pPr algn="l">
              <a:lnSpc>
                <a:spcPct val="115000"/>
              </a:lnSpc>
            </a:pPr>
            <a:r>
              <a:rPr sz="1100" b="1">
                <a:solidFill>
                  <a:srgbClr val="FFC481"/>
                </a:solidFill>
                <a:latin typeface="DM Sans"/>
              </a:rPr>
              <a:t>ANNEXE A4 · LES CHIFFRES ET LEURS SOURCES  </a:t>
            </a:r>
            <a:r>
              <a:rPr sz="1100" b="0">
                <a:solidFill>
                  <a:srgbClr val="A9B4C2"/>
                </a:solidFill>
                <a:latin typeface="DM Sans"/>
              </a:rPr>
              <a:t>rien d'arbitraire</a:t>
            </a:r>
          </a:p>
        </p:txBody>
      </p:sp>
      <p:sp>
        <p:nvSpPr>
          <p:cNvPr id="10" name="Rounded Rectangle 9"/>
          <p:cNvSpPr/>
          <p:nvPr/>
        </p:nvSpPr>
        <p:spPr>
          <a:xfrm>
            <a:off x="10088575" y="457200"/>
            <a:ext cx="1371600" cy="347472"/>
          </a:xfrm>
          <a:prstGeom prst="roundRect">
            <a:avLst>
              <a:gd name="adj" fmla="val 50000"/>
            </a:avLst>
          </a:prstGeom>
          <a:solidFill>
            <a:srgbClr val="101C2E"/>
          </a:solidFill>
          <a:ln w="9525">
            <a:solidFill>
              <a:srgbClr val="263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88575" y="457200"/>
            <a:ext cx="1371600" cy="347472"/>
          </a:xfrm>
          <a:prstGeom prst="rect">
            <a:avLst/>
          </a:prstGeom>
          <a:noFill/>
        </p:spPr>
        <p:txBody>
          <a:bodyPr wrap="square" anchor="ctr" lIns="0" rIns="0" tIns="0" bIns="0">
            <a:spAutoFit/>
          </a:bodyPr>
          <a:lstStyle/>
          <a:p>
            <a:pPr algn="ctr">
              <a:lnSpc>
                <a:spcPct val="115000"/>
              </a:lnSpc>
            </a:pPr>
            <a:r>
              <a:rPr sz="1000" b="1">
                <a:solidFill>
                  <a:srgbClr val="C7FA70"/>
                </a:solidFill>
                <a:latin typeface="DM Sans"/>
              </a:rPr>
              <a:t>ROMAIN</a:t>
            </a:r>
          </a:p>
        </p:txBody>
      </p:sp>
      <p:sp>
        <p:nvSpPr>
          <p:cNvPr id="12" name="TextBox 11"/>
          <p:cNvSpPr txBox="1"/>
          <p:nvPr/>
        </p:nvSpPr>
        <p:spPr>
          <a:xfrm>
            <a:off x="731520" y="960120"/>
            <a:ext cx="9357055" cy="1463040"/>
          </a:xfrm>
          <a:prstGeom prst="rect">
            <a:avLst/>
          </a:prstGeom>
          <a:noFill/>
        </p:spPr>
        <p:txBody>
          <a:bodyPr wrap="square" anchor="t" lIns="0" rIns="0" tIns="0" bIns="0">
            <a:spAutoFit/>
          </a:bodyPr>
          <a:lstStyle/>
          <a:p>
            <a:pPr algn="l">
              <a:lnSpc>
                <a:spcPct val="102000"/>
              </a:lnSpc>
            </a:pPr>
            <a:r>
              <a:rPr sz="2800" b="1">
                <a:solidFill>
                  <a:srgbClr val="F6F9FC"/>
                </a:solidFill>
                <a:latin typeface="Manrope"/>
              </a:rPr>
              <a:t>Chaque nombre dit à l'oral a une source externe ou un calcul explicite.</a:t>
            </a:r>
          </a:p>
        </p:txBody>
      </p:sp>
      <p:sp>
        <p:nvSpPr>
          <p:cNvPr id="13" name="TextBox 12"/>
          <p:cNvSpPr txBox="1"/>
          <p:nvPr/>
        </p:nvSpPr>
        <p:spPr>
          <a:xfrm>
            <a:off x="731520" y="2167128"/>
            <a:ext cx="2971800" cy="338328"/>
          </a:xfrm>
          <a:prstGeom prst="rect">
            <a:avLst/>
          </a:prstGeom>
          <a:noFill/>
        </p:spPr>
        <p:txBody>
          <a:bodyPr wrap="square" anchor="t" lIns="0" rIns="0" tIns="0" bIns="0">
            <a:spAutoFit/>
          </a:bodyPr>
          <a:lstStyle/>
          <a:p>
            <a:pPr algn="l">
              <a:lnSpc>
                <a:spcPct val="105000"/>
              </a:lnSpc>
            </a:pPr>
            <a:r>
              <a:rPr sz="1000" b="0">
                <a:solidFill>
                  <a:srgbClr val="7F8B9B"/>
                </a:solidFill>
                <a:latin typeface="DM Sans"/>
              </a:rPr>
              <a:t>Chiffre</a:t>
            </a:r>
          </a:p>
        </p:txBody>
      </p:sp>
      <p:sp>
        <p:nvSpPr>
          <p:cNvPr id="14" name="TextBox 13"/>
          <p:cNvSpPr txBox="1"/>
          <p:nvPr/>
        </p:nvSpPr>
        <p:spPr>
          <a:xfrm>
            <a:off x="3840480" y="2167128"/>
            <a:ext cx="7482535" cy="338328"/>
          </a:xfrm>
          <a:prstGeom prst="rect">
            <a:avLst/>
          </a:prstGeom>
          <a:noFill/>
        </p:spPr>
        <p:txBody>
          <a:bodyPr wrap="square" anchor="t" lIns="0" rIns="0" tIns="0" bIns="0">
            <a:spAutoFit/>
          </a:bodyPr>
          <a:lstStyle/>
          <a:p>
            <a:pPr algn="l">
              <a:lnSpc>
                <a:spcPct val="105000"/>
              </a:lnSpc>
            </a:pPr>
            <a:r>
              <a:rPr sz="1000" b="0">
                <a:solidFill>
                  <a:srgbClr val="7F8B9B"/>
                </a:solidFill>
                <a:latin typeface="DM Sans"/>
              </a:rPr>
              <a:t>Source ou calcul</a:t>
            </a:r>
          </a:p>
        </p:txBody>
      </p:sp>
      <p:sp>
        <p:nvSpPr>
          <p:cNvPr id="15" name="Rectangle 14"/>
          <p:cNvSpPr/>
          <p:nvPr/>
        </p:nvSpPr>
        <p:spPr>
          <a:xfrm>
            <a:off x="731520" y="2435448"/>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505456"/>
            <a:ext cx="2971800" cy="338328"/>
          </a:xfrm>
          <a:prstGeom prst="rect">
            <a:avLst/>
          </a:prstGeom>
          <a:noFill/>
        </p:spPr>
        <p:txBody>
          <a:bodyPr wrap="square" anchor="t" lIns="0" rIns="0" tIns="0" bIns="0">
            <a:spAutoFit/>
          </a:bodyPr>
          <a:lstStyle/>
          <a:p>
            <a:pPr algn="l">
              <a:lnSpc>
                <a:spcPct val="105000"/>
              </a:lnSpc>
            </a:pPr>
            <a:r>
              <a:rPr sz="1100" b="1">
                <a:solidFill>
                  <a:srgbClr val="F6F9FC"/>
                </a:solidFill>
                <a:latin typeface="DM Sans"/>
              </a:rPr>
              <a:t>8 694 · 1 359 · 675 protocoles</a:t>
            </a:r>
          </a:p>
        </p:txBody>
      </p:sp>
      <p:sp>
        <p:nvSpPr>
          <p:cNvPr id="17" name="TextBox 16"/>
          <p:cNvSpPr txBox="1"/>
          <p:nvPr/>
        </p:nvSpPr>
        <p:spPr>
          <a:xfrm>
            <a:off x="3840480" y="2505456"/>
            <a:ext cx="7482535" cy="338328"/>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API DeFiLlama api.llama.fi/protocols, lue le 11/10/2026 ; seuils TVL &gt; 0, &gt; 1 M$, &gt; 10 M$</a:t>
            </a:r>
          </a:p>
        </p:txBody>
      </p:sp>
      <p:sp>
        <p:nvSpPr>
          <p:cNvPr id="18" name="Rectangle 17"/>
          <p:cNvSpPr/>
          <p:nvPr/>
        </p:nvSpPr>
        <p:spPr>
          <a:xfrm>
            <a:off x="731520" y="2773776"/>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2843784"/>
            <a:ext cx="2971800" cy="338328"/>
          </a:xfrm>
          <a:prstGeom prst="rect">
            <a:avLst/>
          </a:prstGeom>
          <a:noFill/>
        </p:spPr>
        <p:txBody>
          <a:bodyPr wrap="square" anchor="t" lIns="0" rIns="0" tIns="0" bIns="0">
            <a:spAutoFit/>
          </a:bodyPr>
          <a:lstStyle/>
          <a:p>
            <a:pPr algn="l">
              <a:lnSpc>
                <a:spcPct val="105000"/>
              </a:lnSpc>
            </a:pPr>
            <a:r>
              <a:rPr sz="1100" b="1">
                <a:solidFill>
                  <a:srgbClr val="F6F9FC"/>
                </a:solidFill>
                <a:latin typeface="DM Sans"/>
              </a:rPr>
              <a:t>561 · 71 · 22 sur Avalanche</a:t>
            </a:r>
          </a:p>
        </p:txBody>
      </p:sp>
      <p:sp>
        <p:nvSpPr>
          <p:cNvPr id="20" name="TextBox 19"/>
          <p:cNvSpPr txBox="1"/>
          <p:nvPr/>
        </p:nvSpPr>
        <p:spPr>
          <a:xfrm>
            <a:off x="3840480" y="2843784"/>
            <a:ext cx="7482535" cy="338328"/>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même API, champ chainTvls.Avalanche</a:t>
            </a:r>
          </a:p>
        </p:txBody>
      </p:sp>
      <p:sp>
        <p:nvSpPr>
          <p:cNvPr id="21" name="Rectangle 20"/>
          <p:cNvSpPr/>
          <p:nvPr/>
        </p:nvSpPr>
        <p:spPr>
          <a:xfrm>
            <a:off x="731520" y="3112104"/>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182112"/>
            <a:ext cx="2971800" cy="338328"/>
          </a:xfrm>
          <a:prstGeom prst="rect">
            <a:avLst/>
          </a:prstGeom>
          <a:noFill/>
        </p:spPr>
        <p:txBody>
          <a:bodyPr wrap="square" anchor="t" lIns="0" rIns="0" tIns="0" bIns="0">
            <a:spAutoFit/>
          </a:bodyPr>
          <a:lstStyle/>
          <a:p>
            <a:pPr algn="l">
              <a:lnSpc>
                <a:spcPct val="105000"/>
              </a:lnSpc>
            </a:pPr>
            <a:r>
              <a:rPr sz="1100" b="1">
                <a:solidFill>
                  <a:srgbClr val="F6F9FC"/>
                </a:solidFill>
                <a:latin typeface="DM Sans"/>
              </a:rPr>
              <a:t>≈ 220 DAO &gt; 1 M$</a:t>
            </a:r>
          </a:p>
        </p:txBody>
      </p:sp>
      <p:sp>
        <p:nvSpPr>
          <p:cNvPr id="23" name="TextBox 22"/>
          <p:cNvSpPr txBox="1"/>
          <p:nvPr/>
        </p:nvSpPr>
        <p:spPr>
          <a:xfrm>
            <a:off x="3840480" y="3182112"/>
            <a:ext cx="7482535" cy="338328"/>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DeepDAO (T1 2026), via DAO Times / eco.com ; à confirmer sur deepdao.io</a:t>
            </a:r>
          </a:p>
        </p:txBody>
      </p:sp>
      <p:sp>
        <p:nvSpPr>
          <p:cNvPr id="24" name="Rectangle 23"/>
          <p:cNvSpPr/>
          <p:nvPr/>
        </p:nvSpPr>
        <p:spPr>
          <a:xfrm>
            <a:off x="731520" y="3450432"/>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520440"/>
            <a:ext cx="2971800" cy="338328"/>
          </a:xfrm>
          <a:prstGeom prst="rect">
            <a:avLst/>
          </a:prstGeom>
          <a:noFill/>
        </p:spPr>
        <p:txBody>
          <a:bodyPr wrap="square" anchor="t" lIns="0" rIns="0" tIns="0" bIns="0">
            <a:spAutoFit/>
          </a:bodyPr>
          <a:lstStyle/>
          <a:p>
            <a:pPr algn="l">
              <a:lnSpc>
                <a:spcPct val="105000"/>
              </a:lnSpc>
            </a:pPr>
            <a:r>
              <a:rPr sz="1100" b="1">
                <a:solidFill>
                  <a:srgbClr val="F6F9FC"/>
                </a:solidFill>
                <a:latin typeface="DM Sans"/>
              </a:rPr>
              <a:t>35,25 Md$ · 61 M comptes</a:t>
            </a:r>
          </a:p>
        </p:txBody>
      </p:sp>
      <p:sp>
        <p:nvSpPr>
          <p:cNvPr id="26" name="TextBox 25"/>
          <p:cNvSpPr txBox="1"/>
          <p:nvPr/>
        </p:nvSpPr>
        <p:spPr>
          <a:xfrm>
            <a:off x="3840480" y="3520440"/>
            <a:ext cx="7482535" cy="338328"/>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Safe Foundation, rapport T1 2026 (23/04/2026)</a:t>
            </a:r>
          </a:p>
        </p:txBody>
      </p:sp>
      <p:sp>
        <p:nvSpPr>
          <p:cNvPr id="27" name="Rectangle 26"/>
          <p:cNvSpPr/>
          <p:nvPr/>
        </p:nvSpPr>
        <p:spPr>
          <a:xfrm>
            <a:off x="731520" y="3788760"/>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3858768"/>
            <a:ext cx="2971800" cy="338328"/>
          </a:xfrm>
          <a:prstGeom prst="rect">
            <a:avLst/>
          </a:prstGeom>
          <a:noFill/>
        </p:spPr>
        <p:txBody>
          <a:bodyPr wrap="square" anchor="t" lIns="0" rIns="0" tIns="0" bIns="0">
            <a:spAutoFit/>
          </a:bodyPr>
          <a:lstStyle/>
          <a:p>
            <a:pPr algn="l">
              <a:lnSpc>
                <a:spcPct val="105000"/>
              </a:lnSpc>
            </a:pPr>
            <a:r>
              <a:rPr sz="1100" b="1">
                <a:solidFill>
                  <a:srgbClr val="F6F9FC"/>
                </a:solidFill>
                <a:latin typeface="DM Sans"/>
              </a:rPr>
              <a:t>189 € · 669 € · 999 $</a:t>
            </a:r>
          </a:p>
        </p:txBody>
      </p:sp>
      <p:sp>
        <p:nvSpPr>
          <p:cNvPr id="29" name="TextBox 28"/>
          <p:cNvSpPr txBox="1"/>
          <p:nvPr/>
        </p:nvSpPr>
        <p:spPr>
          <a:xfrm>
            <a:off x="3840480" y="3858768"/>
            <a:ext cx="7482535" cy="338328"/>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safe.global/pricing (Safe Pro, 8/10/2026) · fireblocks.com/pricing</a:t>
            </a:r>
          </a:p>
        </p:txBody>
      </p:sp>
      <p:sp>
        <p:nvSpPr>
          <p:cNvPr id="30" name="Rectangle 29"/>
          <p:cNvSpPr/>
          <p:nvPr/>
        </p:nvSpPr>
        <p:spPr>
          <a:xfrm>
            <a:off x="731520" y="4127088"/>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197096"/>
            <a:ext cx="2971800" cy="338328"/>
          </a:xfrm>
          <a:prstGeom prst="rect">
            <a:avLst/>
          </a:prstGeom>
          <a:noFill/>
        </p:spPr>
        <p:txBody>
          <a:bodyPr wrap="square" anchor="t" lIns="0" rIns="0" tIns="0" bIns="0">
            <a:spAutoFit/>
          </a:bodyPr>
          <a:lstStyle/>
          <a:p>
            <a:pPr algn="l">
              <a:lnSpc>
                <a:spcPct val="105000"/>
              </a:lnSpc>
            </a:pPr>
            <a:r>
              <a:rPr sz="1100" b="1">
                <a:solidFill>
                  <a:srgbClr val="F6F9FC"/>
                </a:solidFill>
                <a:latin typeface="DM Sans"/>
              </a:rPr>
              <a:t>≈ 150 incidents · 1,3 M$ médiane</a:t>
            </a:r>
          </a:p>
        </p:txBody>
      </p:sp>
      <p:sp>
        <p:nvSpPr>
          <p:cNvPr id="32" name="TextBox 31"/>
          <p:cNvSpPr txBox="1"/>
          <p:nvPr/>
        </p:nvSpPr>
        <p:spPr>
          <a:xfrm>
            <a:off x="3840480" y="4197096"/>
            <a:ext cx="7482535" cy="338328"/>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TRM Labs 2025 ; CertiK : &gt; 700 incidents, médiane 104 k$ (périmètre plus large)</a:t>
            </a:r>
          </a:p>
        </p:txBody>
      </p:sp>
      <p:sp>
        <p:nvSpPr>
          <p:cNvPr id="33" name="Rectangle 32"/>
          <p:cNvSpPr/>
          <p:nvPr/>
        </p:nvSpPr>
        <p:spPr>
          <a:xfrm>
            <a:off x="731520" y="4465416"/>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4535424"/>
            <a:ext cx="2971800" cy="338328"/>
          </a:xfrm>
          <a:prstGeom prst="rect">
            <a:avLst/>
          </a:prstGeom>
          <a:noFill/>
        </p:spPr>
        <p:txBody>
          <a:bodyPr wrap="square" anchor="t" lIns="0" rIns="0" tIns="0" bIns="0">
            <a:spAutoFit/>
          </a:bodyPr>
          <a:lstStyle/>
          <a:p>
            <a:pPr algn="l">
              <a:lnSpc>
                <a:spcPct val="105000"/>
              </a:lnSpc>
            </a:pPr>
            <a:r>
              <a:rPr sz="1100" b="1">
                <a:solidFill>
                  <a:srgbClr val="F6F9FC"/>
                </a:solidFill>
                <a:latin typeface="DM Sans"/>
              </a:rPr>
              <a:t>8,9 % – 18,5 %</a:t>
            </a:r>
          </a:p>
        </p:txBody>
      </p:sp>
      <p:sp>
        <p:nvSpPr>
          <p:cNvPr id="35" name="TextBox 34"/>
          <p:cNvSpPr txBox="1"/>
          <p:nvPr/>
        </p:nvSpPr>
        <p:spPr>
          <a:xfrm>
            <a:off x="3840480" y="4535424"/>
            <a:ext cx="7482535" cy="338328"/>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conversion essai → payant SaaS B2B sans carte : ChartMogul (200 produits), First Page Sage (86 entreprises)</a:t>
            </a:r>
          </a:p>
        </p:txBody>
      </p:sp>
      <p:sp>
        <p:nvSpPr>
          <p:cNvPr id="36" name="Rectangle 35"/>
          <p:cNvSpPr/>
          <p:nvPr/>
        </p:nvSpPr>
        <p:spPr>
          <a:xfrm>
            <a:off x="731520" y="4803744"/>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4873752"/>
            <a:ext cx="2971800" cy="338328"/>
          </a:xfrm>
          <a:prstGeom prst="rect">
            <a:avLst/>
          </a:prstGeom>
          <a:noFill/>
        </p:spPr>
        <p:txBody>
          <a:bodyPr wrap="square" anchor="t" lIns="0" rIns="0" tIns="0" bIns="0">
            <a:spAutoFit/>
          </a:bodyPr>
          <a:lstStyle/>
          <a:p>
            <a:pPr algn="l">
              <a:lnSpc>
                <a:spcPct val="105000"/>
              </a:lnSpc>
            </a:pPr>
            <a:r>
              <a:rPr sz="1100" b="1">
                <a:solidFill>
                  <a:srgbClr val="F6F9FC"/>
                </a:solidFill>
                <a:latin typeface="DM Sans"/>
              </a:rPr>
              <a:t>95 % · 91 % · 5,1 %</a:t>
            </a:r>
          </a:p>
        </p:txBody>
      </p:sp>
      <p:sp>
        <p:nvSpPr>
          <p:cNvPr id="38" name="TextBox 37"/>
          <p:cNvSpPr txBox="1"/>
          <p:nvPr/>
        </p:nvSpPr>
        <p:spPr>
          <a:xfrm>
            <a:off x="3840480" y="4873752"/>
            <a:ext cx="7482535" cy="338328"/>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jeu final préparé à l'aveugle, 40 fraudes, 234 paiements légitimes (shared/mesures.md)</a:t>
            </a:r>
          </a:p>
        </p:txBody>
      </p:sp>
      <p:sp>
        <p:nvSpPr>
          <p:cNvPr id="39" name="Rectangle 38"/>
          <p:cNvSpPr/>
          <p:nvPr/>
        </p:nvSpPr>
        <p:spPr>
          <a:xfrm>
            <a:off x="731520" y="5142072"/>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212080"/>
            <a:ext cx="2971800" cy="338328"/>
          </a:xfrm>
          <a:prstGeom prst="rect">
            <a:avLst/>
          </a:prstGeom>
          <a:noFill/>
        </p:spPr>
        <p:txBody>
          <a:bodyPr wrap="square" anchor="t" lIns="0" rIns="0" tIns="0" bIns="0">
            <a:spAutoFit/>
          </a:bodyPr>
          <a:lstStyle/>
          <a:p>
            <a:pPr algn="l">
              <a:lnSpc>
                <a:spcPct val="105000"/>
              </a:lnSpc>
            </a:pPr>
            <a:r>
              <a:rPr sz="1100" b="1">
                <a:solidFill>
                  <a:srgbClr val="F6F9FC"/>
                </a:solidFill>
                <a:latin typeface="DM Sans"/>
              </a:rPr>
              <a:t>0,002 $ · 1,2 $</a:t>
            </a:r>
          </a:p>
        </p:txBody>
      </p:sp>
      <p:sp>
        <p:nvSpPr>
          <p:cNvPr id="41" name="TextBox 40"/>
          <p:cNvSpPr txBox="1"/>
          <p:nvPr/>
        </p:nvSpPr>
        <p:spPr>
          <a:xfrm>
            <a:off x="3840480" y="5212080"/>
            <a:ext cx="7482535" cy="338328"/>
          </a:xfrm>
          <a:prstGeom prst="rect">
            <a:avLst/>
          </a:prstGeom>
          <a:noFill/>
        </p:spPr>
        <p:txBody>
          <a:bodyPr wrap="square" anchor="t" lIns="0" rIns="0" tIns="0" bIns="0">
            <a:spAutoFit/>
          </a:bodyPr>
          <a:lstStyle/>
          <a:p>
            <a:pPr algn="l">
              <a:lnSpc>
                <a:spcPct val="105000"/>
              </a:lnSpc>
            </a:pPr>
            <a:r>
              <a:rPr sz="1100" b="0">
                <a:solidFill>
                  <a:srgbClr val="E7EDF4"/>
                </a:solidFill>
                <a:latin typeface="DM Sans"/>
              </a:rPr>
              <a:t>gas mesuré sur Fuji (shared/frais-gas.md) · Bedrock Opus 4.8 à 5 $ / 25 $ par million de tokens</a:t>
            </a:r>
          </a:p>
        </p:txBody>
      </p:sp>
      <p:sp>
        <p:nvSpPr>
          <p:cNvPr id="42" name="Rectangle 41"/>
          <p:cNvSpPr/>
          <p:nvPr/>
        </p:nvSpPr>
        <p:spPr>
          <a:xfrm>
            <a:off x="731520" y="5480400"/>
            <a:ext cx="10728655" cy="6000"/>
          </a:xfrm>
          <a:prstGeom prst="rect">
            <a:avLst/>
          </a:prstGeom>
          <a:solidFill>
            <a:srgbClr val="263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